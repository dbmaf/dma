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7" r:id="rId2"/>
    <p:sldId id="433" r:id="rId3"/>
    <p:sldId id="427" r:id="rId4"/>
    <p:sldId id="432" r:id="rId5"/>
    <p:sldId id="434" r:id="rId6"/>
    <p:sldId id="292" r:id="rId7"/>
    <p:sldId id="294" r:id="rId8"/>
    <p:sldId id="295" r:id="rId9"/>
    <p:sldId id="296" r:id="rId10"/>
    <p:sldId id="444" r:id="rId11"/>
    <p:sldId id="297" r:id="rId12"/>
    <p:sldId id="299" r:id="rId13"/>
    <p:sldId id="300" r:id="rId14"/>
    <p:sldId id="445" r:id="rId15"/>
    <p:sldId id="301" r:id="rId16"/>
    <p:sldId id="302" r:id="rId17"/>
    <p:sldId id="303" r:id="rId18"/>
    <p:sldId id="304" r:id="rId19"/>
    <p:sldId id="306" r:id="rId20"/>
    <p:sldId id="308" r:id="rId21"/>
    <p:sldId id="332" r:id="rId22"/>
    <p:sldId id="307" r:id="rId23"/>
    <p:sldId id="447" r:id="rId24"/>
    <p:sldId id="446" r:id="rId25"/>
    <p:sldId id="309" r:id="rId26"/>
    <p:sldId id="310" r:id="rId27"/>
    <p:sldId id="311" r:id="rId28"/>
    <p:sldId id="312" r:id="rId29"/>
    <p:sldId id="313" r:id="rId30"/>
    <p:sldId id="314" r:id="rId31"/>
    <p:sldId id="315" r:id="rId32"/>
    <p:sldId id="316" r:id="rId33"/>
    <p:sldId id="317" r:id="rId34"/>
    <p:sldId id="318" r:id="rId35"/>
    <p:sldId id="436" r:id="rId36"/>
    <p:sldId id="320" r:id="rId37"/>
    <p:sldId id="324" r:id="rId38"/>
    <p:sldId id="326" r:id="rId39"/>
    <p:sldId id="328" r:id="rId40"/>
    <p:sldId id="334" r:id="rId41"/>
    <p:sldId id="437" r:id="rId42"/>
    <p:sldId id="438" r:id="rId43"/>
    <p:sldId id="319" r:id="rId44"/>
    <p:sldId id="340" r:id="rId45"/>
    <p:sldId id="439" r:id="rId46"/>
    <p:sldId id="448" r:id="rId47"/>
    <p:sldId id="440" r:id="rId48"/>
    <p:sldId id="329" r:id="rId49"/>
    <p:sldId id="336" r:id="rId50"/>
    <p:sldId id="337" r:id="rId51"/>
    <p:sldId id="338" r:id="rId52"/>
    <p:sldId id="341" r:id="rId53"/>
    <p:sldId id="441" r:id="rId54"/>
    <p:sldId id="348" r:id="rId55"/>
    <p:sldId id="349" r:id="rId56"/>
    <p:sldId id="351" r:id="rId57"/>
    <p:sldId id="350" r:id="rId58"/>
    <p:sldId id="352" r:id="rId59"/>
    <p:sldId id="354" r:id="rId60"/>
    <p:sldId id="346" r:id="rId61"/>
    <p:sldId id="450" r:id="rId62"/>
    <p:sldId id="355" r:id="rId63"/>
    <p:sldId id="359" r:id="rId64"/>
    <p:sldId id="360" r:id="rId65"/>
    <p:sldId id="361" r:id="rId66"/>
    <p:sldId id="357" r:id="rId67"/>
    <p:sldId id="362" r:id="rId68"/>
    <p:sldId id="363" r:id="rId69"/>
    <p:sldId id="364" r:id="rId70"/>
    <p:sldId id="365" r:id="rId71"/>
    <p:sldId id="366" r:id="rId72"/>
    <p:sldId id="368" r:id="rId73"/>
    <p:sldId id="369" r:id="rId74"/>
    <p:sldId id="373" r:id="rId75"/>
    <p:sldId id="377" r:id="rId76"/>
    <p:sldId id="370" r:id="rId77"/>
    <p:sldId id="371" r:id="rId78"/>
    <p:sldId id="374" r:id="rId79"/>
    <p:sldId id="378" r:id="rId80"/>
    <p:sldId id="375" r:id="rId81"/>
    <p:sldId id="376" r:id="rId82"/>
    <p:sldId id="381" r:id="rId83"/>
    <p:sldId id="382" r:id="rId84"/>
    <p:sldId id="384" r:id="rId85"/>
    <p:sldId id="380" r:id="rId86"/>
    <p:sldId id="391" r:id="rId87"/>
    <p:sldId id="383" r:id="rId88"/>
    <p:sldId id="385" r:id="rId89"/>
    <p:sldId id="390" r:id="rId90"/>
    <p:sldId id="387" r:id="rId91"/>
    <p:sldId id="389" r:id="rId92"/>
    <p:sldId id="386" r:id="rId93"/>
    <p:sldId id="388" r:id="rId94"/>
    <p:sldId id="395" r:id="rId95"/>
    <p:sldId id="396" r:id="rId96"/>
    <p:sldId id="397" r:id="rId97"/>
    <p:sldId id="398" r:id="rId98"/>
    <p:sldId id="399" r:id="rId99"/>
    <p:sldId id="402" r:id="rId100"/>
    <p:sldId id="403" r:id="rId101"/>
    <p:sldId id="404" r:id="rId102"/>
    <p:sldId id="407" r:id="rId103"/>
    <p:sldId id="408" r:id="rId104"/>
    <p:sldId id="409" r:id="rId105"/>
    <p:sldId id="424" r:id="rId106"/>
    <p:sldId id="410" r:id="rId107"/>
    <p:sldId id="406" r:id="rId108"/>
    <p:sldId id="412" r:id="rId109"/>
    <p:sldId id="411" r:id="rId110"/>
    <p:sldId id="379" r:id="rId111"/>
    <p:sldId id="414" r:id="rId112"/>
    <p:sldId id="415" r:id="rId113"/>
    <p:sldId id="416" r:id="rId114"/>
    <p:sldId id="417" r:id="rId115"/>
    <p:sldId id="418" r:id="rId116"/>
    <p:sldId id="419" r:id="rId117"/>
    <p:sldId id="420" r:id="rId118"/>
    <p:sldId id="422" r:id="rId119"/>
    <p:sldId id="421" r:id="rId120"/>
    <p:sldId id="423" r:id="rId121"/>
    <p:sldId id="413" r:id="rId122"/>
    <p:sldId id="425" r:id="rId123"/>
    <p:sldId id="426" r:id="rId1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452" autoAdjust="0"/>
  </p:normalViewPr>
  <p:slideViewPr>
    <p:cSldViewPr snapToGrid="0">
      <p:cViewPr varScale="1">
        <p:scale>
          <a:sx n="59" d="100"/>
          <a:sy n="59" d="100"/>
        </p:scale>
        <p:origin x="16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9F592E-7A79-43C2-A5F5-8B3AD264A386}" type="datetimeFigureOut">
              <a:rPr lang="fr-FR" smtClean="0"/>
              <a:t>05/03/2025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05646D-DC5F-4DD5-8EBA-E09BD8F67122}" type="slidenum">
              <a:rPr lang="fr-FR" smtClean="0"/>
              <a:t>‹N°›</a:t>
            </a:fld>
            <a:endParaRPr lang="fr-FR"/>
          </a:p>
        </p:txBody>
      </p:sp>
    </p:spTree>
    <p:extLst>
      <p:ext uri="{BB962C8B-B14F-4D97-AF65-F5344CB8AC3E}">
        <p14:creationId xmlns:p14="http://schemas.microsoft.com/office/powerpoint/2010/main" val="1957842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UML a succédé à une série de méthodes d’analyse et de conception orientés objets apparues à la fin des années 80, et début 90.</a:t>
            </a:r>
          </a:p>
          <a:p>
            <a:r>
              <a:rPr lang="fr-FR" dirty="0"/>
              <a:t>Il unifie principalement les méthodes de BOOCH, </a:t>
            </a:r>
            <a:r>
              <a:rPr lang="fr-FR" dirty="0" err="1"/>
              <a:t>Rumbaugh</a:t>
            </a:r>
            <a:r>
              <a:rPr lang="fr-FR" dirty="0"/>
              <a:t> (OMT) et Jacobson.</a:t>
            </a:r>
          </a:p>
        </p:txBody>
      </p:sp>
      <p:sp>
        <p:nvSpPr>
          <p:cNvPr id="4" name="Espace réservé du numéro de diapositive 3"/>
          <p:cNvSpPr>
            <a:spLocks noGrp="1"/>
          </p:cNvSpPr>
          <p:nvPr>
            <p:ph type="sldNum" sz="quarter" idx="5"/>
          </p:nvPr>
        </p:nvSpPr>
        <p:spPr/>
        <p:txBody>
          <a:bodyPr/>
          <a:lstStyle/>
          <a:p>
            <a:fld id="{2205646D-DC5F-4DD5-8EBA-E09BD8F67122}" type="slidenum">
              <a:rPr lang="fr-FR" smtClean="0"/>
              <a:t>11</a:t>
            </a:fld>
            <a:endParaRPr lang="fr-FR"/>
          </a:p>
        </p:txBody>
      </p:sp>
    </p:spTree>
    <p:extLst>
      <p:ext uri="{BB962C8B-B14F-4D97-AF65-F5344CB8AC3E}">
        <p14:creationId xmlns:p14="http://schemas.microsoft.com/office/powerpoint/2010/main" val="185332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Vue d’ensemble d’un processus de développement.</a:t>
            </a:r>
          </a:p>
          <a:p>
            <a:r>
              <a:rPr lang="fr-FR" dirty="0"/>
              <a:t>De manière générale (surtout en ce moment), cela marche par itération/sprint.</a:t>
            </a:r>
          </a:p>
          <a:p>
            <a:r>
              <a:rPr lang="fr-FR" dirty="0"/>
              <a:t>UML permet de découper ce processus.</a:t>
            </a:r>
          </a:p>
        </p:txBody>
      </p:sp>
      <p:sp>
        <p:nvSpPr>
          <p:cNvPr id="4" name="Espace réservé du numéro de diapositive 3"/>
          <p:cNvSpPr>
            <a:spLocks noGrp="1"/>
          </p:cNvSpPr>
          <p:nvPr>
            <p:ph type="sldNum" sz="quarter" idx="5"/>
          </p:nvPr>
        </p:nvSpPr>
        <p:spPr/>
        <p:txBody>
          <a:bodyPr/>
          <a:lstStyle/>
          <a:p>
            <a:fld id="{2205646D-DC5F-4DD5-8EBA-E09BD8F67122}" type="slidenum">
              <a:rPr lang="fr-FR" smtClean="0"/>
              <a:t>13</a:t>
            </a:fld>
            <a:endParaRPr lang="fr-FR"/>
          </a:p>
        </p:txBody>
      </p:sp>
    </p:spTree>
    <p:extLst>
      <p:ext uri="{BB962C8B-B14F-4D97-AF65-F5344CB8AC3E}">
        <p14:creationId xmlns:p14="http://schemas.microsoft.com/office/powerpoint/2010/main" val="861524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205646D-DC5F-4DD5-8EBA-E09BD8F67122}" type="slidenum">
              <a:rPr lang="fr-FR" smtClean="0"/>
              <a:t>25</a:t>
            </a:fld>
            <a:endParaRPr lang="fr-FR"/>
          </a:p>
        </p:txBody>
      </p:sp>
    </p:spTree>
    <p:extLst>
      <p:ext uri="{BB962C8B-B14F-4D97-AF65-F5344CB8AC3E}">
        <p14:creationId xmlns:p14="http://schemas.microsoft.com/office/powerpoint/2010/main" val="4036698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205646D-DC5F-4DD5-8EBA-E09BD8F67122}" type="slidenum">
              <a:rPr lang="fr-FR" smtClean="0"/>
              <a:t>52</a:t>
            </a:fld>
            <a:endParaRPr lang="fr-FR"/>
          </a:p>
        </p:txBody>
      </p:sp>
    </p:spTree>
    <p:extLst>
      <p:ext uri="{BB962C8B-B14F-4D97-AF65-F5344CB8AC3E}">
        <p14:creationId xmlns:p14="http://schemas.microsoft.com/office/powerpoint/2010/main" val="400829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8F86FC-E6E6-4D5F-B64D-133949397CF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A73BA45-A21F-4DF8-95E2-D84D5C12A8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D9E04C6-0E09-40FE-8AE0-AF3F33105A5E}"/>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5" name="Espace réservé du pied de page 4">
            <a:extLst>
              <a:ext uri="{FF2B5EF4-FFF2-40B4-BE49-F238E27FC236}">
                <a16:creationId xmlns:a16="http://schemas.microsoft.com/office/drawing/2014/main" id="{567A8BB4-88F9-4BFA-9FF9-DFF837D4BA3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9EA28D2-E2B8-4EC7-B332-22B4E95EFE9A}"/>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1650082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FFE67-06E6-458D-9273-0CADB388737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0E6296E-E2C5-4BDC-882D-0BAEADC8028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461AF71-3B28-4D7F-961E-832C18C1FE51}"/>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5" name="Espace réservé du pied de page 4">
            <a:extLst>
              <a:ext uri="{FF2B5EF4-FFF2-40B4-BE49-F238E27FC236}">
                <a16:creationId xmlns:a16="http://schemas.microsoft.com/office/drawing/2014/main" id="{D3688BB1-35D3-45D7-81C4-68BEFAAA61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3D41F12-3410-4EA1-9AE2-B459D777DF9A}"/>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652456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339F40-7D34-4BA6-8563-F03904884F3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CFE278A-CB10-4236-8204-C68C626D02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B9FB5FA-B72A-4646-B827-E14054D75398}"/>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5" name="Espace réservé du pied de page 4">
            <a:extLst>
              <a:ext uri="{FF2B5EF4-FFF2-40B4-BE49-F238E27FC236}">
                <a16:creationId xmlns:a16="http://schemas.microsoft.com/office/drawing/2014/main" id="{578E4AAB-FC3D-4789-B0E9-17440073B82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8A08EFF-9F82-412A-8809-8A0448667BE0}"/>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535375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52B245-5EBD-46A8-A9AB-1B37F5921E8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6B1225-8B60-4747-9070-BD382B01A09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A9F257F-1A91-4BE5-8913-FD45E87D6AB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3AEA1CA-6D51-49F4-8347-CDD4D299348A}"/>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6" name="Espace réservé du pied de page 5">
            <a:extLst>
              <a:ext uri="{FF2B5EF4-FFF2-40B4-BE49-F238E27FC236}">
                <a16:creationId xmlns:a16="http://schemas.microsoft.com/office/drawing/2014/main" id="{918EE7E1-8D12-40F9-BE99-AC11BFA2234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6333E62-91F1-4F98-83E3-34831E8F2524}"/>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2943675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290604-CF30-47AC-8A5D-7ABFE77171C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A63A432-A54D-4CD1-82A6-F49577CF4F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5005196-7560-45A0-9400-1FD923B70DC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4690DE7-34FA-47B8-8D0C-C7E0878BEC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2B072C6-614C-4B1C-94CC-AFEA7EA7F94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B7F1A79-73E0-435D-966F-6523EA4E9BC2}"/>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8" name="Espace réservé du pied de page 7">
            <a:extLst>
              <a:ext uri="{FF2B5EF4-FFF2-40B4-BE49-F238E27FC236}">
                <a16:creationId xmlns:a16="http://schemas.microsoft.com/office/drawing/2014/main" id="{09578886-AE5E-4E20-BDA2-70A3932AF0F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AAD8953-C952-44C8-A99C-2F958D336930}"/>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3208238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73DFA3-19E5-4AF4-82E5-46C834FB0DB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E7523FB-11DC-48F0-A459-EB90065C6DE9}"/>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4" name="Espace réservé du pied de page 3">
            <a:extLst>
              <a:ext uri="{FF2B5EF4-FFF2-40B4-BE49-F238E27FC236}">
                <a16:creationId xmlns:a16="http://schemas.microsoft.com/office/drawing/2014/main" id="{45156146-0B77-4CBB-98B9-F61A4379A64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6902E9E-8990-4BF8-A3A1-4569EE243D52}"/>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1365600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A7D56A6-B820-4861-A1B1-15F9D824736B}"/>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3" name="Espace réservé du pied de page 2">
            <a:extLst>
              <a:ext uri="{FF2B5EF4-FFF2-40B4-BE49-F238E27FC236}">
                <a16:creationId xmlns:a16="http://schemas.microsoft.com/office/drawing/2014/main" id="{14E903FA-0B47-4A3B-A112-BD3975A5C81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E789B7E-8069-4582-90B5-ABACD3E35B22}"/>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839062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1D2F77-FFF8-4915-8E93-A8447F405BA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47BBCA5-7D29-4795-A39B-149168630F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47EB417-9027-4F36-82D3-337DD2770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06F21A9-2D79-4A60-8865-95FFD32790B7}"/>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6" name="Espace réservé du pied de page 5">
            <a:extLst>
              <a:ext uri="{FF2B5EF4-FFF2-40B4-BE49-F238E27FC236}">
                <a16:creationId xmlns:a16="http://schemas.microsoft.com/office/drawing/2014/main" id="{94DFD033-89D4-4219-AAB5-49C80D96A1D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CE0E12D-E058-407A-811E-02A9E5861E56}"/>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172737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04D9D0-5F6D-4269-9DA0-E23B9087C60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5738856-4083-4AFA-8D64-586E0DD079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9DF4888-BD42-47CB-9491-03A314828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6AB78FF-0C04-4520-A361-9A3274994FAC}"/>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6" name="Espace réservé du pied de page 5">
            <a:extLst>
              <a:ext uri="{FF2B5EF4-FFF2-40B4-BE49-F238E27FC236}">
                <a16:creationId xmlns:a16="http://schemas.microsoft.com/office/drawing/2014/main" id="{8A207281-07CD-4B3D-B81C-C9E6662684C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EA90455-C70F-409C-8A4D-DA67ADC40CEA}"/>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580450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1D824D-3455-43D3-8E4D-C344A594465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933D8D4-8908-44B5-84A3-4D033224DAC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DE00F3-1AB2-4414-84CE-B5D8F48F826F}"/>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5" name="Espace réservé du pied de page 4">
            <a:extLst>
              <a:ext uri="{FF2B5EF4-FFF2-40B4-BE49-F238E27FC236}">
                <a16:creationId xmlns:a16="http://schemas.microsoft.com/office/drawing/2014/main" id="{2C626AC0-A74A-4B9D-B4AA-FF04E6A72B0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2845353-299B-4A3E-B280-0601200EC09E}"/>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51301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749F1B5-CF92-487D-BBDD-78949FCF63B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65B3BF9-852C-49D4-B33B-D53642A2211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F4BC929-A35A-491B-A477-036593BAE473}"/>
              </a:ext>
            </a:extLst>
          </p:cNvPr>
          <p:cNvSpPr>
            <a:spLocks noGrp="1"/>
          </p:cNvSpPr>
          <p:nvPr>
            <p:ph type="dt" sz="half" idx="10"/>
          </p:nvPr>
        </p:nvSpPr>
        <p:spPr/>
        <p:txBody>
          <a:bodyPr/>
          <a:lstStyle/>
          <a:p>
            <a:fld id="{6D0C1D44-6547-47EE-8E2A-07D284E48020}" type="datetimeFigureOut">
              <a:rPr lang="fr-FR" smtClean="0"/>
              <a:t>05/03/2025</a:t>
            </a:fld>
            <a:endParaRPr lang="fr-FR"/>
          </a:p>
        </p:txBody>
      </p:sp>
      <p:sp>
        <p:nvSpPr>
          <p:cNvPr id="5" name="Espace réservé du pied de page 4">
            <a:extLst>
              <a:ext uri="{FF2B5EF4-FFF2-40B4-BE49-F238E27FC236}">
                <a16:creationId xmlns:a16="http://schemas.microsoft.com/office/drawing/2014/main" id="{817ED781-B204-4A64-A446-9D18A90232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947BEE-D23A-4DF7-8F70-A5517D58A167}"/>
              </a:ext>
            </a:extLst>
          </p:cNvPr>
          <p:cNvSpPr>
            <a:spLocks noGrp="1"/>
          </p:cNvSpPr>
          <p:nvPr>
            <p:ph type="sldNum" sz="quarter" idx="12"/>
          </p:nvPr>
        </p:nvSpPr>
        <p:spPr/>
        <p:txBody>
          <a:bodyPr/>
          <a:lstStyle/>
          <a:p>
            <a:fld id="{56C6EC6E-C12D-4536-9E5F-5EE55C03A2AC}" type="slidenum">
              <a:rPr lang="fr-FR" smtClean="0"/>
              <a:t>‹N°›</a:t>
            </a:fld>
            <a:endParaRPr lang="fr-FR"/>
          </a:p>
        </p:txBody>
      </p:sp>
    </p:spTree>
    <p:extLst>
      <p:ext uri="{BB962C8B-B14F-4D97-AF65-F5344CB8AC3E}">
        <p14:creationId xmlns:p14="http://schemas.microsoft.com/office/powerpoint/2010/main" val="318804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4F98B7F-881A-4773-9B75-FDF5E4AF00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FC2BCFA-A949-459B-8BED-96C825C257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9291411-278E-438D-A3F8-19DB90F5AE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C1D44-6547-47EE-8E2A-07D284E48020}" type="datetimeFigureOut">
              <a:rPr lang="fr-FR" smtClean="0"/>
              <a:t>05/03/2025</a:t>
            </a:fld>
            <a:endParaRPr lang="fr-FR"/>
          </a:p>
        </p:txBody>
      </p:sp>
      <p:sp>
        <p:nvSpPr>
          <p:cNvPr id="5" name="Espace réservé du pied de page 4">
            <a:extLst>
              <a:ext uri="{FF2B5EF4-FFF2-40B4-BE49-F238E27FC236}">
                <a16:creationId xmlns:a16="http://schemas.microsoft.com/office/drawing/2014/main" id="{4A303DB0-4AAC-4BC6-AC54-D9B78C2C77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C6439C9-DABA-4570-9C1B-BFC858F66A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C6EC6E-C12D-4536-9E5F-5EE55C03A2AC}" type="slidenum">
              <a:rPr lang="fr-FR" smtClean="0"/>
              <a:t>‹N°›</a:t>
            </a:fld>
            <a:endParaRPr lang="fr-FR"/>
          </a:p>
        </p:txBody>
      </p:sp>
    </p:spTree>
    <p:extLst>
      <p:ext uri="{BB962C8B-B14F-4D97-AF65-F5344CB8AC3E}">
        <p14:creationId xmlns:p14="http://schemas.microsoft.com/office/powerpoint/2010/main" val="1483385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uml.or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uml.or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ionos.fr/digitalguide/sites-internet/developpement-web/outils-uml/" TargetMode="External"/><Relationship Id="rId4" Type="http://schemas.openxmlformats.org/officeDocument/2006/relationships/image" Target="../media/image16.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BBDC46F5-22B7-4A31-A3F7-217775B0EF2E}"/>
              </a:ext>
            </a:extLst>
          </p:cNvPr>
          <p:cNvSpPr txBox="1"/>
          <p:nvPr/>
        </p:nvSpPr>
        <p:spPr>
          <a:xfrm>
            <a:off x="638882" y="639193"/>
            <a:ext cx="3571810" cy="357351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100" b="1" kern="1200">
                <a:solidFill>
                  <a:schemeClr val="tx1"/>
                </a:solidFill>
                <a:latin typeface="+mj-lt"/>
                <a:ea typeface="+mj-ea"/>
                <a:cs typeface="+mj-cs"/>
              </a:rPr>
              <a:t>Génie Logiciel</a:t>
            </a:r>
          </a:p>
          <a:p>
            <a:pPr>
              <a:lnSpc>
                <a:spcPct val="90000"/>
              </a:lnSpc>
              <a:spcBef>
                <a:spcPct val="0"/>
              </a:spcBef>
              <a:spcAft>
                <a:spcPts val="600"/>
              </a:spcAft>
            </a:pPr>
            <a:r>
              <a:rPr lang="en-US" sz="5100" kern="1200">
                <a:solidFill>
                  <a:schemeClr val="tx1"/>
                </a:solidFill>
                <a:latin typeface="+mj-lt"/>
                <a:ea typeface="+mj-ea"/>
                <a:cs typeface="+mj-cs"/>
              </a:rPr>
              <a:t>Module dédié à UML</a:t>
            </a:r>
            <a:endParaRPr lang="en-US" sz="5100" b="1" kern="1200">
              <a:solidFill>
                <a:schemeClr val="tx1"/>
              </a:solidFill>
              <a:latin typeface="+mj-lt"/>
              <a:ea typeface="+mj-ea"/>
              <a:cs typeface="+mj-cs"/>
            </a:endParaRPr>
          </a:p>
        </p:txBody>
      </p:sp>
      <p:sp>
        <p:nvSpPr>
          <p:cNvPr id="6" name="ZoneTexte 5">
            <a:extLst>
              <a:ext uri="{FF2B5EF4-FFF2-40B4-BE49-F238E27FC236}">
                <a16:creationId xmlns:a16="http://schemas.microsoft.com/office/drawing/2014/main" id="{5602C306-4D7D-4617-B8AA-EACFB684ADEA}"/>
              </a:ext>
            </a:extLst>
          </p:cNvPr>
          <p:cNvSpPr txBox="1"/>
          <p:nvPr/>
        </p:nvSpPr>
        <p:spPr>
          <a:xfrm>
            <a:off x="638882" y="4631161"/>
            <a:ext cx="3571810" cy="1559327"/>
          </a:xfrm>
          <a:prstGeom prst="rect">
            <a:avLst/>
          </a:prstGeom>
        </p:spPr>
        <p:txBody>
          <a:bodyPr vert="horz" lIns="91440" tIns="45720" rIns="91440" bIns="45720" rtlCol="0">
            <a:normAutofit/>
          </a:bodyPr>
          <a:lstStyle/>
          <a:p>
            <a:pPr>
              <a:lnSpc>
                <a:spcPct val="90000"/>
              </a:lnSpc>
              <a:spcBef>
                <a:spcPts val="1000"/>
              </a:spcBef>
            </a:pPr>
            <a:r>
              <a:rPr lang="en-US" sz="2400" kern="1200">
                <a:solidFill>
                  <a:schemeClr val="tx1"/>
                </a:solidFill>
                <a:latin typeface="+mn-lt"/>
                <a:ea typeface="+mn-ea"/>
                <a:cs typeface="+mn-cs"/>
              </a:rPr>
              <a:t>Université de Bourgogne, année scolaire 2024 - 2025</a:t>
            </a:r>
          </a:p>
        </p:txBody>
      </p:sp>
      <p:sp>
        <p:nvSpPr>
          <p:cNvPr id="3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1">
            <a:extLst>
              <a:ext uri="{FF2B5EF4-FFF2-40B4-BE49-F238E27FC236}">
                <a16:creationId xmlns:a16="http://schemas.microsoft.com/office/drawing/2014/main" id="{456EE281-1B2F-8DF8-DD2B-A603621479A3}"/>
              </a:ext>
            </a:extLst>
          </p:cNvPr>
          <p:cNvPicPr>
            <a:picLocks noChangeAspect="1"/>
          </p:cNvPicPr>
          <p:nvPr/>
        </p:nvPicPr>
        <p:blipFill>
          <a:blip r:embed="rId2"/>
          <a:stretch>
            <a:fillRect/>
          </a:stretch>
        </p:blipFill>
        <p:spPr>
          <a:xfrm>
            <a:off x="4654296" y="790967"/>
            <a:ext cx="7214616" cy="5248633"/>
          </a:xfrm>
          <a:prstGeom prst="rect">
            <a:avLst/>
          </a:prstGeom>
        </p:spPr>
      </p:pic>
    </p:spTree>
    <p:extLst>
      <p:ext uri="{BB962C8B-B14F-4D97-AF65-F5344CB8AC3E}">
        <p14:creationId xmlns:p14="http://schemas.microsoft.com/office/powerpoint/2010/main" val="146230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BDC46F5-22B7-4A31-A3F7-217775B0EF2E}"/>
              </a:ext>
            </a:extLst>
          </p:cNvPr>
          <p:cNvSpPr txBox="1"/>
          <p:nvPr/>
        </p:nvSpPr>
        <p:spPr>
          <a:xfrm>
            <a:off x="698377" y="2367171"/>
            <a:ext cx="10795246" cy="2123658"/>
          </a:xfrm>
          <a:prstGeom prst="rect">
            <a:avLst/>
          </a:prstGeom>
          <a:noFill/>
        </p:spPr>
        <p:txBody>
          <a:bodyPr wrap="square">
            <a:spAutoFit/>
          </a:bodyPr>
          <a:lstStyle/>
          <a:p>
            <a:pPr algn="ctr"/>
            <a:r>
              <a:rPr lang="fr-FR" sz="9600" b="1" dirty="0">
                <a:latin typeface="Candara" panose="020E0502030303020204" pitchFamily="34" charset="0"/>
              </a:rPr>
              <a:t>Présentation </a:t>
            </a:r>
          </a:p>
          <a:p>
            <a:pPr algn="ctr"/>
            <a:r>
              <a:rPr lang="fr-FR" sz="3600" dirty="0">
                <a:latin typeface="Candara" panose="020E0502030303020204" pitchFamily="34" charset="0"/>
              </a:rPr>
              <a:t>Promotion LPMI 2024 – 2025</a:t>
            </a:r>
            <a:endParaRPr lang="fr-FR" sz="3600" b="1" dirty="0">
              <a:latin typeface="Candara" panose="020E0502030303020204" pitchFamily="34" charset="0"/>
            </a:endParaRPr>
          </a:p>
        </p:txBody>
      </p:sp>
    </p:spTree>
    <p:extLst>
      <p:ext uri="{BB962C8B-B14F-4D97-AF65-F5344CB8AC3E}">
        <p14:creationId xmlns:p14="http://schemas.microsoft.com/office/powerpoint/2010/main" val="1377713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352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a:extLst>
              <a:ext uri="{FF2B5EF4-FFF2-40B4-BE49-F238E27FC236}">
                <a16:creationId xmlns:a16="http://schemas.microsoft.com/office/drawing/2014/main" id="{D1F66363-29B8-58E2-7D4F-380F4688B077}"/>
              </a:ext>
            </a:extLst>
          </p:cNvPr>
          <p:cNvPicPr>
            <a:picLocks noChangeAspect="1"/>
          </p:cNvPicPr>
          <p:nvPr/>
        </p:nvPicPr>
        <p:blipFill>
          <a:blip r:embed="rId2"/>
          <a:stretch>
            <a:fillRect/>
          </a:stretch>
        </p:blipFill>
        <p:spPr>
          <a:xfrm>
            <a:off x="643467" y="1070780"/>
            <a:ext cx="10905066" cy="4716440"/>
          </a:xfrm>
          <a:prstGeom prst="rect">
            <a:avLst/>
          </a:prstGeom>
        </p:spPr>
      </p:pic>
    </p:spTree>
    <p:extLst>
      <p:ext uri="{BB962C8B-B14F-4D97-AF65-F5344CB8AC3E}">
        <p14:creationId xmlns:p14="http://schemas.microsoft.com/office/powerpoint/2010/main" val="423104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1">
            <a:extLst>
              <a:ext uri="{FF2B5EF4-FFF2-40B4-BE49-F238E27FC236}">
                <a16:creationId xmlns:a16="http://schemas.microsoft.com/office/drawing/2014/main" id="{230328D4-6CF8-9A05-3EB5-D17BE6FE9483}"/>
              </a:ext>
            </a:extLst>
          </p:cNvPr>
          <p:cNvPicPr>
            <a:picLocks noChangeAspect="1"/>
          </p:cNvPicPr>
          <p:nvPr/>
        </p:nvPicPr>
        <p:blipFill>
          <a:blip r:embed="rId2"/>
          <a:srcRect r="4064" b="-1"/>
          <a:stretch/>
        </p:blipFill>
        <p:spPr>
          <a:xfrm>
            <a:off x="307775" y="261437"/>
            <a:ext cx="11576450" cy="6335126"/>
          </a:xfrm>
          <a:prstGeom prst="rect">
            <a:avLst/>
          </a:prstGeom>
        </p:spPr>
      </p:pic>
    </p:spTree>
    <p:extLst>
      <p:ext uri="{BB962C8B-B14F-4D97-AF65-F5344CB8AC3E}">
        <p14:creationId xmlns:p14="http://schemas.microsoft.com/office/powerpoint/2010/main" val="1003782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BDC46F5-22B7-4A31-A3F7-217775B0EF2E}"/>
              </a:ext>
            </a:extLst>
          </p:cNvPr>
          <p:cNvSpPr txBox="1"/>
          <p:nvPr/>
        </p:nvSpPr>
        <p:spPr>
          <a:xfrm>
            <a:off x="698377" y="2367171"/>
            <a:ext cx="10795246" cy="2123658"/>
          </a:xfrm>
          <a:prstGeom prst="rect">
            <a:avLst/>
          </a:prstGeom>
          <a:noFill/>
        </p:spPr>
        <p:txBody>
          <a:bodyPr wrap="square">
            <a:spAutoFit/>
          </a:bodyPr>
          <a:lstStyle/>
          <a:p>
            <a:pPr algn="ctr"/>
            <a:r>
              <a:rPr lang="fr-FR" sz="9600" b="1" dirty="0">
                <a:latin typeface="Candara" panose="020E0502030303020204" pitchFamily="34" charset="0"/>
              </a:rPr>
              <a:t>Introduction à UML</a:t>
            </a:r>
          </a:p>
          <a:p>
            <a:pPr algn="ctr"/>
            <a:r>
              <a:rPr lang="fr-FR" sz="3600" dirty="0">
                <a:latin typeface="Candara" panose="020E0502030303020204" pitchFamily="34" charset="0"/>
              </a:rPr>
              <a:t>Modélisation d’une base de données relationnelle</a:t>
            </a:r>
            <a:endParaRPr lang="fr-FR" sz="3600" b="1" dirty="0">
              <a:latin typeface="Candara" panose="020E0502030303020204" pitchFamily="34" charset="0"/>
            </a:endParaRPr>
          </a:p>
        </p:txBody>
      </p:sp>
      <p:sp>
        <p:nvSpPr>
          <p:cNvPr id="6" name="ZoneTexte 5">
            <a:extLst>
              <a:ext uri="{FF2B5EF4-FFF2-40B4-BE49-F238E27FC236}">
                <a16:creationId xmlns:a16="http://schemas.microsoft.com/office/drawing/2014/main" id="{5602C306-4D7D-4617-B8AA-EACFB684ADEA}"/>
              </a:ext>
            </a:extLst>
          </p:cNvPr>
          <p:cNvSpPr txBox="1"/>
          <p:nvPr/>
        </p:nvSpPr>
        <p:spPr>
          <a:xfrm>
            <a:off x="5998345" y="6272283"/>
            <a:ext cx="5871100" cy="369332"/>
          </a:xfrm>
          <a:prstGeom prst="rect">
            <a:avLst/>
          </a:prstGeom>
          <a:noFill/>
        </p:spPr>
        <p:txBody>
          <a:bodyPr wrap="square">
            <a:spAutoFit/>
          </a:bodyPr>
          <a:lstStyle/>
          <a:p>
            <a:pPr algn="r"/>
            <a:r>
              <a:rPr lang="fr-FR" dirty="0">
                <a:latin typeface="Candara" panose="020E0502030303020204" pitchFamily="34" charset="0"/>
              </a:rPr>
              <a:t>Université de Bourgogne, année scolaire 2023 - 2024</a:t>
            </a:r>
          </a:p>
        </p:txBody>
      </p:sp>
    </p:spTree>
    <p:extLst>
      <p:ext uri="{BB962C8B-B14F-4D97-AF65-F5344CB8AC3E}">
        <p14:creationId xmlns:p14="http://schemas.microsoft.com/office/powerpoint/2010/main" val="2588563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523784"/>
            <a:ext cx="11505460" cy="914402"/>
          </a:xfrm>
        </p:spPr>
        <p:txBody>
          <a:bodyPr>
            <a:noAutofit/>
          </a:bodyPr>
          <a:lstStyle/>
          <a:p>
            <a:r>
              <a:rPr lang="fr-FR" sz="6000" b="1" dirty="0">
                <a:latin typeface="Candara" panose="020E0502030303020204" pitchFamily="34" charset="0"/>
              </a:rPr>
              <a:t>Le programme de nos rencontres</a:t>
            </a:r>
          </a:p>
        </p:txBody>
      </p:sp>
      <p:sp>
        <p:nvSpPr>
          <p:cNvPr id="4" name="Rectangle 3">
            <a:extLst>
              <a:ext uri="{FF2B5EF4-FFF2-40B4-BE49-F238E27FC236}">
                <a16:creationId xmlns:a16="http://schemas.microsoft.com/office/drawing/2014/main" id="{E9E07D0F-F35B-4208-BFBD-B42411881582}"/>
              </a:ext>
            </a:extLst>
          </p:cNvPr>
          <p:cNvSpPr/>
          <p:nvPr/>
        </p:nvSpPr>
        <p:spPr>
          <a:xfrm>
            <a:off x="946738" y="1998379"/>
            <a:ext cx="10298524" cy="3970318"/>
          </a:xfrm>
          <a:prstGeom prst="rect">
            <a:avLst/>
          </a:prstGeom>
        </p:spPr>
        <p:txBody>
          <a:bodyPr wrap="square">
            <a:spAutoFit/>
          </a:bodyPr>
          <a:lstStyle/>
          <a:p>
            <a:pPr algn="just"/>
            <a:r>
              <a:rPr lang="fr-FR" sz="3600" b="1" dirty="0">
                <a:latin typeface="Candara" panose="020E0502030303020204" pitchFamily="34" charset="0"/>
              </a:rPr>
              <a:t>Introduction : définition et concepts</a:t>
            </a:r>
          </a:p>
          <a:p>
            <a:pPr algn="just"/>
            <a:endParaRPr lang="fr-FR" sz="3600" dirty="0">
              <a:latin typeface="Candara" panose="020E0502030303020204" pitchFamily="34" charset="0"/>
            </a:endParaRPr>
          </a:p>
          <a:p>
            <a:pPr lvl="1" algn="just"/>
            <a:r>
              <a:rPr lang="fr-FR" sz="3600" dirty="0">
                <a:latin typeface="Candara" panose="020E0502030303020204" pitchFamily="34" charset="0"/>
              </a:rPr>
              <a:t>	Définir UML</a:t>
            </a:r>
          </a:p>
          <a:p>
            <a:pPr lvl="1" algn="just"/>
            <a:r>
              <a:rPr lang="fr-FR" sz="3600" dirty="0">
                <a:latin typeface="Candara" panose="020E0502030303020204" pitchFamily="34" charset="0"/>
              </a:rPr>
              <a:t>	Pourquoi utiliser UML</a:t>
            </a:r>
          </a:p>
          <a:p>
            <a:pPr lvl="1" algn="just"/>
            <a:r>
              <a:rPr lang="fr-FR" sz="3600" dirty="0">
                <a:latin typeface="Candara" panose="020E0502030303020204" pitchFamily="34" charset="0"/>
              </a:rPr>
              <a:t>	Concept de modélisation dans UML</a:t>
            </a:r>
          </a:p>
          <a:p>
            <a:pPr lvl="1" algn="just"/>
            <a:r>
              <a:rPr lang="fr-FR" sz="3600" dirty="0">
                <a:latin typeface="Candara" panose="020E0502030303020204" pitchFamily="34" charset="0"/>
              </a:rPr>
              <a:t>	Concept orienté objet dans UML</a:t>
            </a:r>
          </a:p>
          <a:p>
            <a:pPr lvl="1" algn="just"/>
            <a:r>
              <a:rPr lang="fr-FR" sz="3600" dirty="0">
                <a:latin typeface="Candara" panose="020E0502030303020204" pitchFamily="34" charset="0"/>
              </a:rPr>
              <a:t>	Types de diagrammes UML</a:t>
            </a:r>
          </a:p>
        </p:txBody>
      </p:sp>
      <p:pic>
        <p:nvPicPr>
          <p:cNvPr id="5" name="Image 4">
            <a:extLst>
              <a:ext uri="{FF2B5EF4-FFF2-40B4-BE49-F238E27FC236}">
                <a16:creationId xmlns:a16="http://schemas.microsoft.com/office/drawing/2014/main" id="{BF85A904-A626-489E-8064-A6E662FD0253}"/>
              </a:ext>
            </a:extLst>
          </p:cNvPr>
          <p:cNvPicPr>
            <a:picLocks noChangeAspect="1"/>
          </p:cNvPicPr>
          <p:nvPr/>
        </p:nvPicPr>
        <p:blipFill>
          <a:blip r:embed="rId2"/>
          <a:stretch>
            <a:fillRect/>
          </a:stretch>
        </p:blipFill>
        <p:spPr>
          <a:xfrm>
            <a:off x="10510642" y="5221632"/>
            <a:ext cx="1494130" cy="1494130"/>
          </a:xfrm>
          <a:prstGeom prst="rect">
            <a:avLst/>
          </a:prstGeom>
        </p:spPr>
      </p:pic>
      <p:sp>
        <p:nvSpPr>
          <p:cNvPr id="6" name="Rectangle : coins arrondis 5">
            <a:extLst>
              <a:ext uri="{FF2B5EF4-FFF2-40B4-BE49-F238E27FC236}">
                <a16:creationId xmlns:a16="http://schemas.microsoft.com/office/drawing/2014/main" id="{4891AB6B-1286-46AD-B0F7-B0E435FDE1E1}"/>
              </a:ext>
            </a:extLst>
          </p:cNvPr>
          <p:cNvSpPr/>
          <p:nvPr/>
        </p:nvSpPr>
        <p:spPr>
          <a:xfrm>
            <a:off x="346229" y="1379184"/>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B8DDFCAB-2549-4EDD-A0BE-6B55666C74CC}"/>
              </a:ext>
            </a:extLst>
          </p:cNvPr>
          <p:cNvSpPr/>
          <p:nvPr/>
        </p:nvSpPr>
        <p:spPr>
          <a:xfrm>
            <a:off x="1239699" y="3136612"/>
            <a:ext cx="723694" cy="584775"/>
          </a:xfrm>
          <a:prstGeom prst="rect">
            <a:avLst/>
          </a:prstGeom>
        </p:spPr>
        <p:txBody>
          <a:bodyPr wrap="square">
            <a:spAutoFit/>
          </a:bodyPr>
          <a:lstStyle/>
          <a:p>
            <a:r>
              <a:rPr lang="fr-FR" sz="3200" b="1" dirty="0">
                <a:latin typeface="Candara" panose="020E0502030303020204" pitchFamily="34" charset="0"/>
              </a:rPr>
              <a:t>1-</a:t>
            </a:r>
          </a:p>
        </p:txBody>
      </p:sp>
      <p:sp>
        <p:nvSpPr>
          <p:cNvPr id="18" name="Rectangle 17">
            <a:extLst>
              <a:ext uri="{FF2B5EF4-FFF2-40B4-BE49-F238E27FC236}">
                <a16:creationId xmlns:a16="http://schemas.microsoft.com/office/drawing/2014/main" id="{0DEF3067-7FF3-4ED2-8061-6F4A6BB9E015}"/>
              </a:ext>
            </a:extLst>
          </p:cNvPr>
          <p:cNvSpPr/>
          <p:nvPr/>
        </p:nvSpPr>
        <p:spPr>
          <a:xfrm>
            <a:off x="1252144" y="3646221"/>
            <a:ext cx="723694" cy="584775"/>
          </a:xfrm>
          <a:prstGeom prst="rect">
            <a:avLst/>
          </a:prstGeom>
        </p:spPr>
        <p:txBody>
          <a:bodyPr wrap="square">
            <a:spAutoFit/>
          </a:bodyPr>
          <a:lstStyle/>
          <a:p>
            <a:r>
              <a:rPr lang="fr-FR" sz="3200" b="1" dirty="0">
                <a:latin typeface="Candara" panose="020E0502030303020204" pitchFamily="34" charset="0"/>
              </a:rPr>
              <a:t>2-</a:t>
            </a:r>
          </a:p>
        </p:txBody>
      </p:sp>
      <p:sp>
        <p:nvSpPr>
          <p:cNvPr id="19" name="Rectangle 18">
            <a:extLst>
              <a:ext uri="{FF2B5EF4-FFF2-40B4-BE49-F238E27FC236}">
                <a16:creationId xmlns:a16="http://schemas.microsoft.com/office/drawing/2014/main" id="{6C614B53-0B66-4F63-9530-50A792B1B1FF}"/>
              </a:ext>
            </a:extLst>
          </p:cNvPr>
          <p:cNvSpPr/>
          <p:nvPr/>
        </p:nvSpPr>
        <p:spPr>
          <a:xfrm>
            <a:off x="1239699" y="4204362"/>
            <a:ext cx="723694" cy="584775"/>
          </a:xfrm>
          <a:prstGeom prst="rect">
            <a:avLst/>
          </a:prstGeom>
        </p:spPr>
        <p:txBody>
          <a:bodyPr wrap="square">
            <a:spAutoFit/>
          </a:bodyPr>
          <a:lstStyle/>
          <a:p>
            <a:r>
              <a:rPr lang="fr-FR" sz="3200" b="1" dirty="0">
                <a:latin typeface="Candara" panose="020E0502030303020204" pitchFamily="34" charset="0"/>
              </a:rPr>
              <a:t>3-</a:t>
            </a:r>
          </a:p>
        </p:txBody>
      </p:sp>
      <p:sp>
        <p:nvSpPr>
          <p:cNvPr id="20" name="Rectangle 19">
            <a:extLst>
              <a:ext uri="{FF2B5EF4-FFF2-40B4-BE49-F238E27FC236}">
                <a16:creationId xmlns:a16="http://schemas.microsoft.com/office/drawing/2014/main" id="{5446A36B-1EB7-48BE-9FB7-FF725FBD3238}"/>
              </a:ext>
            </a:extLst>
          </p:cNvPr>
          <p:cNvSpPr/>
          <p:nvPr/>
        </p:nvSpPr>
        <p:spPr>
          <a:xfrm>
            <a:off x="1252144" y="4737921"/>
            <a:ext cx="723694" cy="584775"/>
          </a:xfrm>
          <a:prstGeom prst="rect">
            <a:avLst/>
          </a:prstGeom>
        </p:spPr>
        <p:txBody>
          <a:bodyPr wrap="square">
            <a:spAutoFit/>
          </a:bodyPr>
          <a:lstStyle/>
          <a:p>
            <a:r>
              <a:rPr lang="fr-FR" sz="3200" b="1" dirty="0">
                <a:latin typeface="Candara" panose="020E0502030303020204" pitchFamily="34" charset="0"/>
              </a:rPr>
              <a:t>4-</a:t>
            </a:r>
          </a:p>
        </p:txBody>
      </p:sp>
      <p:sp>
        <p:nvSpPr>
          <p:cNvPr id="21" name="Rectangle 20">
            <a:extLst>
              <a:ext uri="{FF2B5EF4-FFF2-40B4-BE49-F238E27FC236}">
                <a16:creationId xmlns:a16="http://schemas.microsoft.com/office/drawing/2014/main" id="{3C6CB820-3B2B-462D-BA7B-8708C5B81805}"/>
              </a:ext>
            </a:extLst>
          </p:cNvPr>
          <p:cNvSpPr/>
          <p:nvPr/>
        </p:nvSpPr>
        <p:spPr>
          <a:xfrm>
            <a:off x="1264589" y="5299407"/>
            <a:ext cx="723694" cy="584775"/>
          </a:xfrm>
          <a:prstGeom prst="rect">
            <a:avLst/>
          </a:prstGeom>
        </p:spPr>
        <p:txBody>
          <a:bodyPr wrap="square">
            <a:spAutoFit/>
          </a:bodyPr>
          <a:lstStyle/>
          <a:p>
            <a:r>
              <a:rPr lang="fr-FR" sz="3200" b="1" dirty="0">
                <a:latin typeface="Candara" panose="020E0502030303020204" pitchFamily="34" charset="0"/>
              </a:rPr>
              <a:t>5-</a:t>
            </a:r>
          </a:p>
        </p:txBody>
      </p:sp>
    </p:spTree>
    <p:extLst>
      <p:ext uri="{BB962C8B-B14F-4D97-AF65-F5344CB8AC3E}">
        <p14:creationId xmlns:p14="http://schemas.microsoft.com/office/powerpoint/2010/main" val="2671033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523784"/>
            <a:ext cx="11505460" cy="914402"/>
          </a:xfrm>
        </p:spPr>
        <p:txBody>
          <a:bodyPr>
            <a:noAutofit/>
          </a:bodyPr>
          <a:lstStyle/>
          <a:p>
            <a:r>
              <a:rPr lang="fr-FR" sz="6000" b="1" dirty="0">
                <a:latin typeface="Candara" panose="020E0502030303020204" pitchFamily="34" charset="0"/>
              </a:rPr>
              <a:t>Le programme de nos rencontres</a:t>
            </a:r>
          </a:p>
        </p:txBody>
      </p:sp>
      <p:sp>
        <p:nvSpPr>
          <p:cNvPr id="4" name="Rectangle 3">
            <a:extLst>
              <a:ext uri="{FF2B5EF4-FFF2-40B4-BE49-F238E27FC236}">
                <a16:creationId xmlns:a16="http://schemas.microsoft.com/office/drawing/2014/main" id="{E9E07D0F-F35B-4208-BFBD-B42411881582}"/>
              </a:ext>
            </a:extLst>
          </p:cNvPr>
          <p:cNvSpPr/>
          <p:nvPr/>
        </p:nvSpPr>
        <p:spPr>
          <a:xfrm>
            <a:off x="946738" y="1998379"/>
            <a:ext cx="10017183" cy="3970318"/>
          </a:xfrm>
          <a:prstGeom prst="rect">
            <a:avLst/>
          </a:prstGeom>
        </p:spPr>
        <p:txBody>
          <a:bodyPr wrap="square">
            <a:spAutoFit/>
          </a:bodyPr>
          <a:lstStyle/>
          <a:p>
            <a:pPr algn="just"/>
            <a:r>
              <a:rPr lang="fr-FR" sz="3600" b="1" dirty="0">
                <a:latin typeface="Candara" panose="020E0502030303020204" pitchFamily="34" charset="0"/>
              </a:rPr>
              <a:t>Diagramme de cas d’utilisation</a:t>
            </a:r>
          </a:p>
          <a:p>
            <a:pPr algn="just"/>
            <a:endParaRPr lang="fr-FR" sz="3600" dirty="0">
              <a:latin typeface="Candara" panose="020E0502030303020204" pitchFamily="34" charset="0"/>
            </a:endParaRPr>
          </a:p>
          <a:p>
            <a:pPr lvl="1" algn="just"/>
            <a:r>
              <a:rPr lang="fr-FR" sz="3600" dirty="0">
                <a:latin typeface="Candara" panose="020E0502030303020204" pitchFamily="34" charset="0"/>
              </a:rPr>
              <a:t>	Objectif et cible</a:t>
            </a:r>
          </a:p>
          <a:p>
            <a:pPr lvl="1" algn="just"/>
            <a:r>
              <a:rPr lang="fr-FR" sz="3600" dirty="0">
                <a:latin typeface="Candara" panose="020E0502030303020204" pitchFamily="34" charset="0"/>
              </a:rPr>
              <a:t>	Composants, symboles et notation</a:t>
            </a:r>
          </a:p>
          <a:p>
            <a:pPr lvl="1" algn="just"/>
            <a:r>
              <a:rPr lang="fr-FR" sz="3600" dirty="0">
                <a:latin typeface="Candara" panose="020E0502030303020204" pitchFamily="34" charset="0"/>
              </a:rPr>
              <a:t>	Mieux qu’un discours, des cas pratiques</a:t>
            </a:r>
          </a:p>
          <a:p>
            <a:pPr lvl="1" algn="just"/>
            <a:r>
              <a:rPr lang="fr-FR" sz="3600" dirty="0">
                <a:latin typeface="Candara" panose="020E0502030303020204" pitchFamily="34" charset="0"/>
              </a:rPr>
              <a:t>		=&gt; construction de diagramme</a:t>
            </a:r>
          </a:p>
          <a:p>
            <a:pPr lvl="1" algn="just"/>
            <a:r>
              <a:rPr lang="fr-FR" sz="3600" dirty="0">
                <a:latin typeface="Candara" panose="020E0502030303020204" pitchFamily="34" charset="0"/>
              </a:rPr>
              <a:t>		=&gt; reverse engineering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1379184"/>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D3A1A5AC-4271-44DE-BE65-7D0F0EBD781C}"/>
              </a:ext>
            </a:extLst>
          </p:cNvPr>
          <p:cNvPicPr>
            <a:picLocks noChangeAspect="1"/>
          </p:cNvPicPr>
          <p:nvPr/>
        </p:nvPicPr>
        <p:blipFill>
          <a:blip r:embed="rId2"/>
          <a:stretch>
            <a:fillRect/>
          </a:stretch>
        </p:blipFill>
        <p:spPr>
          <a:xfrm>
            <a:off x="10496878" y="5295707"/>
            <a:ext cx="1589486" cy="1473515"/>
          </a:xfrm>
          <a:prstGeom prst="rect">
            <a:avLst/>
          </a:prstGeom>
        </p:spPr>
      </p:pic>
      <p:sp>
        <p:nvSpPr>
          <p:cNvPr id="9" name="Rectangle 8">
            <a:extLst>
              <a:ext uri="{FF2B5EF4-FFF2-40B4-BE49-F238E27FC236}">
                <a16:creationId xmlns:a16="http://schemas.microsoft.com/office/drawing/2014/main" id="{944FF596-CE81-4FCE-B2B1-2B04CB167677}"/>
              </a:ext>
            </a:extLst>
          </p:cNvPr>
          <p:cNvSpPr/>
          <p:nvPr/>
        </p:nvSpPr>
        <p:spPr>
          <a:xfrm>
            <a:off x="1239699" y="3136612"/>
            <a:ext cx="723694" cy="584775"/>
          </a:xfrm>
          <a:prstGeom prst="rect">
            <a:avLst/>
          </a:prstGeom>
        </p:spPr>
        <p:txBody>
          <a:bodyPr wrap="square">
            <a:spAutoFit/>
          </a:bodyPr>
          <a:lstStyle/>
          <a:p>
            <a:r>
              <a:rPr lang="fr-FR" sz="3200" b="1" dirty="0">
                <a:latin typeface="Candara" panose="020E0502030303020204" pitchFamily="34" charset="0"/>
              </a:rPr>
              <a:t>1-</a:t>
            </a:r>
          </a:p>
        </p:txBody>
      </p:sp>
      <p:sp>
        <p:nvSpPr>
          <p:cNvPr id="10" name="Rectangle 9">
            <a:extLst>
              <a:ext uri="{FF2B5EF4-FFF2-40B4-BE49-F238E27FC236}">
                <a16:creationId xmlns:a16="http://schemas.microsoft.com/office/drawing/2014/main" id="{21CB351A-4EF7-427B-ADAE-21071915244B}"/>
              </a:ext>
            </a:extLst>
          </p:cNvPr>
          <p:cNvSpPr/>
          <p:nvPr/>
        </p:nvSpPr>
        <p:spPr>
          <a:xfrm>
            <a:off x="1252144" y="3646221"/>
            <a:ext cx="723694" cy="584775"/>
          </a:xfrm>
          <a:prstGeom prst="rect">
            <a:avLst/>
          </a:prstGeom>
        </p:spPr>
        <p:txBody>
          <a:bodyPr wrap="square">
            <a:spAutoFit/>
          </a:bodyPr>
          <a:lstStyle/>
          <a:p>
            <a:r>
              <a:rPr lang="fr-FR" sz="3200" b="1" dirty="0">
                <a:latin typeface="Candara" panose="020E0502030303020204" pitchFamily="34" charset="0"/>
              </a:rPr>
              <a:t>2-</a:t>
            </a:r>
          </a:p>
        </p:txBody>
      </p:sp>
      <p:sp>
        <p:nvSpPr>
          <p:cNvPr id="11" name="Rectangle 10">
            <a:extLst>
              <a:ext uri="{FF2B5EF4-FFF2-40B4-BE49-F238E27FC236}">
                <a16:creationId xmlns:a16="http://schemas.microsoft.com/office/drawing/2014/main" id="{CE3720E7-DEC6-4633-8514-72B05780310E}"/>
              </a:ext>
            </a:extLst>
          </p:cNvPr>
          <p:cNvSpPr/>
          <p:nvPr/>
        </p:nvSpPr>
        <p:spPr>
          <a:xfrm>
            <a:off x="1239699" y="4204362"/>
            <a:ext cx="723694" cy="584775"/>
          </a:xfrm>
          <a:prstGeom prst="rect">
            <a:avLst/>
          </a:prstGeom>
        </p:spPr>
        <p:txBody>
          <a:bodyPr wrap="square">
            <a:spAutoFit/>
          </a:bodyPr>
          <a:lstStyle/>
          <a:p>
            <a:r>
              <a:rPr lang="fr-FR" sz="3200" b="1" dirty="0">
                <a:latin typeface="Candara" panose="020E0502030303020204" pitchFamily="34" charset="0"/>
              </a:rPr>
              <a:t>3-</a:t>
            </a:r>
          </a:p>
        </p:txBody>
      </p:sp>
    </p:spTree>
    <p:extLst>
      <p:ext uri="{BB962C8B-B14F-4D97-AF65-F5344CB8AC3E}">
        <p14:creationId xmlns:p14="http://schemas.microsoft.com/office/powerpoint/2010/main" val="576341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523784"/>
            <a:ext cx="11505460" cy="914402"/>
          </a:xfrm>
        </p:spPr>
        <p:txBody>
          <a:bodyPr>
            <a:noAutofit/>
          </a:bodyPr>
          <a:lstStyle/>
          <a:p>
            <a:r>
              <a:rPr lang="fr-FR" sz="6000" b="1" dirty="0">
                <a:latin typeface="Candara" panose="020E0502030303020204" pitchFamily="34" charset="0"/>
              </a:rPr>
              <a:t>Le programme de nos rencontres</a:t>
            </a:r>
          </a:p>
        </p:txBody>
      </p:sp>
      <p:sp>
        <p:nvSpPr>
          <p:cNvPr id="4" name="Rectangle 3">
            <a:extLst>
              <a:ext uri="{FF2B5EF4-FFF2-40B4-BE49-F238E27FC236}">
                <a16:creationId xmlns:a16="http://schemas.microsoft.com/office/drawing/2014/main" id="{E9E07D0F-F35B-4208-BFBD-B42411881582}"/>
              </a:ext>
            </a:extLst>
          </p:cNvPr>
          <p:cNvSpPr/>
          <p:nvPr/>
        </p:nvSpPr>
        <p:spPr>
          <a:xfrm>
            <a:off x="946738" y="1998379"/>
            <a:ext cx="9919530" cy="3970318"/>
          </a:xfrm>
          <a:prstGeom prst="rect">
            <a:avLst/>
          </a:prstGeom>
        </p:spPr>
        <p:txBody>
          <a:bodyPr wrap="square">
            <a:spAutoFit/>
          </a:bodyPr>
          <a:lstStyle/>
          <a:p>
            <a:pPr algn="just"/>
            <a:r>
              <a:rPr lang="fr-FR" sz="3600" b="1" dirty="0">
                <a:latin typeface="Candara" panose="020E0502030303020204" pitchFamily="34" charset="0"/>
              </a:rPr>
              <a:t>Diagramme de classe</a:t>
            </a:r>
          </a:p>
          <a:p>
            <a:pPr algn="just"/>
            <a:endParaRPr lang="fr-FR" sz="3600" dirty="0">
              <a:latin typeface="Candara" panose="020E0502030303020204" pitchFamily="34" charset="0"/>
            </a:endParaRPr>
          </a:p>
          <a:p>
            <a:pPr lvl="1" algn="just"/>
            <a:r>
              <a:rPr lang="fr-FR" sz="3600" dirty="0">
                <a:latin typeface="Candara" panose="020E0502030303020204" pitchFamily="34" charset="0"/>
              </a:rPr>
              <a:t>	Objectif et cible</a:t>
            </a:r>
          </a:p>
          <a:p>
            <a:pPr lvl="1" algn="just"/>
            <a:r>
              <a:rPr lang="fr-FR" sz="3600" dirty="0">
                <a:latin typeface="Candara" panose="020E0502030303020204" pitchFamily="34" charset="0"/>
              </a:rPr>
              <a:t>	Les classes et les associations</a:t>
            </a:r>
          </a:p>
          <a:p>
            <a:pPr lvl="1" algn="just"/>
            <a:r>
              <a:rPr lang="fr-FR" sz="3600" dirty="0">
                <a:latin typeface="Candara" panose="020E0502030303020204" pitchFamily="34" charset="0"/>
              </a:rPr>
              <a:t>	Connaître l’héritage</a:t>
            </a:r>
          </a:p>
          <a:p>
            <a:pPr lvl="1" algn="just"/>
            <a:r>
              <a:rPr lang="fr-FR" sz="3600" dirty="0">
                <a:latin typeface="Candara" panose="020E0502030303020204" pitchFamily="34" charset="0"/>
              </a:rPr>
              <a:t>	Modèle conceptuel vs modèle relationnel</a:t>
            </a:r>
          </a:p>
          <a:p>
            <a:pPr lvl="1" algn="just"/>
            <a:r>
              <a:rPr lang="fr-FR" sz="3600" dirty="0">
                <a:latin typeface="Candara" panose="020E0502030303020204" pitchFamily="34" charset="0"/>
              </a:rPr>
              <a:t>	Passer vers le modèle relationnel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1379184"/>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BC5634D4-41AF-4533-9911-FFB546C6CB5F}"/>
              </a:ext>
            </a:extLst>
          </p:cNvPr>
          <p:cNvSpPr/>
          <p:nvPr/>
        </p:nvSpPr>
        <p:spPr>
          <a:xfrm>
            <a:off x="1239699" y="3136612"/>
            <a:ext cx="723694" cy="584775"/>
          </a:xfrm>
          <a:prstGeom prst="rect">
            <a:avLst/>
          </a:prstGeom>
        </p:spPr>
        <p:txBody>
          <a:bodyPr wrap="square">
            <a:spAutoFit/>
          </a:bodyPr>
          <a:lstStyle/>
          <a:p>
            <a:r>
              <a:rPr lang="fr-FR" sz="3200" b="1" dirty="0">
                <a:latin typeface="Candara" panose="020E0502030303020204" pitchFamily="34" charset="0"/>
              </a:rPr>
              <a:t>1-</a:t>
            </a:r>
          </a:p>
        </p:txBody>
      </p:sp>
      <p:sp>
        <p:nvSpPr>
          <p:cNvPr id="10" name="Rectangle 9">
            <a:extLst>
              <a:ext uri="{FF2B5EF4-FFF2-40B4-BE49-F238E27FC236}">
                <a16:creationId xmlns:a16="http://schemas.microsoft.com/office/drawing/2014/main" id="{4AEA938C-AD07-4380-AC15-99A6CA83C4D0}"/>
              </a:ext>
            </a:extLst>
          </p:cNvPr>
          <p:cNvSpPr/>
          <p:nvPr/>
        </p:nvSpPr>
        <p:spPr>
          <a:xfrm>
            <a:off x="1252144" y="3646221"/>
            <a:ext cx="723694" cy="584775"/>
          </a:xfrm>
          <a:prstGeom prst="rect">
            <a:avLst/>
          </a:prstGeom>
        </p:spPr>
        <p:txBody>
          <a:bodyPr wrap="square">
            <a:spAutoFit/>
          </a:bodyPr>
          <a:lstStyle/>
          <a:p>
            <a:r>
              <a:rPr lang="fr-FR" sz="3200" b="1" dirty="0">
                <a:latin typeface="Candara" panose="020E0502030303020204" pitchFamily="34" charset="0"/>
              </a:rPr>
              <a:t>2-</a:t>
            </a:r>
          </a:p>
        </p:txBody>
      </p:sp>
      <p:sp>
        <p:nvSpPr>
          <p:cNvPr id="11" name="Rectangle 10">
            <a:extLst>
              <a:ext uri="{FF2B5EF4-FFF2-40B4-BE49-F238E27FC236}">
                <a16:creationId xmlns:a16="http://schemas.microsoft.com/office/drawing/2014/main" id="{47E1DA95-832C-4A59-98B2-97395160E7A2}"/>
              </a:ext>
            </a:extLst>
          </p:cNvPr>
          <p:cNvSpPr/>
          <p:nvPr/>
        </p:nvSpPr>
        <p:spPr>
          <a:xfrm>
            <a:off x="1239699" y="4204362"/>
            <a:ext cx="723694" cy="584775"/>
          </a:xfrm>
          <a:prstGeom prst="rect">
            <a:avLst/>
          </a:prstGeom>
        </p:spPr>
        <p:txBody>
          <a:bodyPr wrap="square">
            <a:spAutoFit/>
          </a:bodyPr>
          <a:lstStyle/>
          <a:p>
            <a:r>
              <a:rPr lang="fr-FR" sz="3200" b="1" dirty="0">
                <a:latin typeface="Candara" panose="020E0502030303020204" pitchFamily="34" charset="0"/>
              </a:rPr>
              <a:t>3-</a:t>
            </a:r>
          </a:p>
        </p:txBody>
      </p:sp>
      <p:sp>
        <p:nvSpPr>
          <p:cNvPr id="12" name="Rectangle 11">
            <a:extLst>
              <a:ext uri="{FF2B5EF4-FFF2-40B4-BE49-F238E27FC236}">
                <a16:creationId xmlns:a16="http://schemas.microsoft.com/office/drawing/2014/main" id="{05228859-EB07-4A2C-99E5-AE9AF045AAC6}"/>
              </a:ext>
            </a:extLst>
          </p:cNvPr>
          <p:cNvSpPr/>
          <p:nvPr/>
        </p:nvSpPr>
        <p:spPr>
          <a:xfrm>
            <a:off x="1252144" y="4737921"/>
            <a:ext cx="723694" cy="584775"/>
          </a:xfrm>
          <a:prstGeom prst="rect">
            <a:avLst/>
          </a:prstGeom>
        </p:spPr>
        <p:txBody>
          <a:bodyPr wrap="square">
            <a:spAutoFit/>
          </a:bodyPr>
          <a:lstStyle/>
          <a:p>
            <a:r>
              <a:rPr lang="fr-FR" sz="3200" b="1" dirty="0">
                <a:latin typeface="Candara" panose="020E0502030303020204" pitchFamily="34" charset="0"/>
              </a:rPr>
              <a:t>4-</a:t>
            </a:r>
          </a:p>
        </p:txBody>
      </p:sp>
      <p:sp>
        <p:nvSpPr>
          <p:cNvPr id="13" name="Rectangle 12">
            <a:extLst>
              <a:ext uri="{FF2B5EF4-FFF2-40B4-BE49-F238E27FC236}">
                <a16:creationId xmlns:a16="http://schemas.microsoft.com/office/drawing/2014/main" id="{AECB4CFF-9E6A-437E-91C2-72D5694CF69B}"/>
              </a:ext>
            </a:extLst>
          </p:cNvPr>
          <p:cNvSpPr/>
          <p:nvPr/>
        </p:nvSpPr>
        <p:spPr>
          <a:xfrm>
            <a:off x="1264589" y="5299407"/>
            <a:ext cx="723694" cy="584775"/>
          </a:xfrm>
          <a:prstGeom prst="rect">
            <a:avLst/>
          </a:prstGeom>
        </p:spPr>
        <p:txBody>
          <a:bodyPr wrap="square">
            <a:spAutoFit/>
          </a:bodyPr>
          <a:lstStyle/>
          <a:p>
            <a:r>
              <a:rPr lang="fr-FR" sz="3200" b="1" dirty="0">
                <a:latin typeface="Candara" panose="020E0502030303020204" pitchFamily="34" charset="0"/>
              </a:rPr>
              <a:t>5-</a:t>
            </a:r>
          </a:p>
        </p:txBody>
      </p:sp>
      <p:pic>
        <p:nvPicPr>
          <p:cNvPr id="3" name="Image 2">
            <a:extLst>
              <a:ext uri="{FF2B5EF4-FFF2-40B4-BE49-F238E27FC236}">
                <a16:creationId xmlns:a16="http://schemas.microsoft.com/office/drawing/2014/main" id="{D30E7618-912E-A89F-2FE2-4B3BE3CF575F}"/>
              </a:ext>
            </a:extLst>
          </p:cNvPr>
          <p:cNvPicPr>
            <a:picLocks noChangeAspect="1"/>
          </p:cNvPicPr>
          <p:nvPr/>
        </p:nvPicPr>
        <p:blipFill>
          <a:blip r:embed="rId2"/>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261283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523784"/>
            <a:ext cx="11505460" cy="914402"/>
          </a:xfrm>
        </p:spPr>
        <p:txBody>
          <a:bodyPr>
            <a:noAutofit/>
          </a:bodyPr>
          <a:lstStyle/>
          <a:p>
            <a:r>
              <a:rPr lang="fr-FR" sz="6000" b="1" dirty="0">
                <a:latin typeface="Candara" panose="020E0502030303020204" pitchFamily="34" charset="0"/>
              </a:rPr>
              <a:t>Le programme de nos rencontres</a:t>
            </a:r>
          </a:p>
        </p:txBody>
      </p:sp>
      <p:sp>
        <p:nvSpPr>
          <p:cNvPr id="4" name="Rectangle 3">
            <a:extLst>
              <a:ext uri="{FF2B5EF4-FFF2-40B4-BE49-F238E27FC236}">
                <a16:creationId xmlns:a16="http://schemas.microsoft.com/office/drawing/2014/main" id="{E9E07D0F-F35B-4208-BFBD-B42411881582}"/>
              </a:ext>
            </a:extLst>
          </p:cNvPr>
          <p:cNvSpPr/>
          <p:nvPr/>
        </p:nvSpPr>
        <p:spPr>
          <a:xfrm>
            <a:off x="529700" y="2274838"/>
            <a:ext cx="11132599" cy="2308324"/>
          </a:xfrm>
          <a:prstGeom prst="rect">
            <a:avLst/>
          </a:prstGeom>
        </p:spPr>
        <p:txBody>
          <a:bodyPr wrap="square">
            <a:spAutoFit/>
          </a:bodyPr>
          <a:lstStyle/>
          <a:p>
            <a:pPr algn="just"/>
            <a:r>
              <a:rPr lang="fr-FR" sz="3600" dirty="0">
                <a:latin typeface="Candara" panose="020E0502030303020204" pitchFamily="34" charset="0"/>
              </a:rPr>
              <a:t>Diagramme de cas d’utilisation et diagramme de classe : </a:t>
            </a:r>
          </a:p>
          <a:p>
            <a:pPr algn="just"/>
            <a:endParaRPr lang="fr-FR" sz="3600" dirty="0">
              <a:latin typeface="Candara" panose="020E0502030303020204" pitchFamily="34" charset="0"/>
            </a:endParaRPr>
          </a:p>
          <a:p>
            <a:pPr algn="ctr"/>
            <a:r>
              <a:rPr lang="fr-FR" sz="7200" b="1" dirty="0">
                <a:latin typeface="Candara" panose="020E0502030303020204" pitchFamily="34" charset="0"/>
              </a:rPr>
              <a:t>Point sur les outils</a:t>
            </a:r>
            <a:endParaRPr lang="fr-FR" sz="7200" dirty="0">
              <a:latin typeface="Candara" panose="020E0502030303020204" pitchFamily="34" charset="0"/>
            </a:endParaRP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1379184"/>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EDDE1416-5FAF-4203-8FC5-3F7AE0CC0394}"/>
              </a:ext>
            </a:extLst>
          </p:cNvPr>
          <p:cNvPicPr>
            <a:picLocks noChangeAspect="1"/>
          </p:cNvPicPr>
          <p:nvPr/>
        </p:nvPicPr>
        <p:blipFill>
          <a:blip r:embed="rId2"/>
          <a:stretch>
            <a:fillRect/>
          </a:stretch>
        </p:blipFill>
        <p:spPr>
          <a:xfrm>
            <a:off x="4727775" y="4583162"/>
            <a:ext cx="2736449" cy="2118042"/>
          </a:xfrm>
          <a:prstGeom prst="rect">
            <a:avLst/>
          </a:prstGeom>
        </p:spPr>
      </p:pic>
    </p:spTree>
    <p:extLst>
      <p:ext uri="{BB962C8B-B14F-4D97-AF65-F5344CB8AC3E}">
        <p14:creationId xmlns:p14="http://schemas.microsoft.com/office/powerpoint/2010/main" val="1955891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7E82-C9AB-EAE5-A62A-8A8D7A1977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E5457F-66C3-29AB-C159-8F37CCF065F0}"/>
              </a:ext>
            </a:extLst>
          </p:cNvPr>
          <p:cNvSpPr>
            <a:spLocks noGrp="1"/>
          </p:cNvSpPr>
          <p:nvPr>
            <p:ph type="title"/>
          </p:nvPr>
        </p:nvSpPr>
        <p:spPr>
          <a:xfrm>
            <a:off x="346229" y="523784"/>
            <a:ext cx="11505460" cy="914402"/>
          </a:xfrm>
        </p:spPr>
        <p:txBody>
          <a:bodyPr>
            <a:noAutofit/>
          </a:bodyPr>
          <a:lstStyle/>
          <a:p>
            <a:r>
              <a:rPr lang="fr-FR" sz="6000" b="1" dirty="0">
                <a:latin typeface="Candara" panose="020E0502030303020204" pitchFamily="34" charset="0"/>
              </a:rPr>
              <a:t>Le programme de nos rencontres</a:t>
            </a:r>
          </a:p>
        </p:txBody>
      </p:sp>
      <p:sp>
        <p:nvSpPr>
          <p:cNvPr id="4" name="Rectangle 3">
            <a:extLst>
              <a:ext uri="{FF2B5EF4-FFF2-40B4-BE49-F238E27FC236}">
                <a16:creationId xmlns:a16="http://schemas.microsoft.com/office/drawing/2014/main" id="{8F4B60DB-6A5A-8EFB-8450-D0EC8A9B9F4E}"/>
              </a:ext>
            </a:extLst>
          </p:cNvPr>
          <p:cNvSpPr/>
          <p:nvPr/>
        </p:nvSpPr>
        <p:spPr>
          <a:xfrm>
            <a:off x="946738" y="1998379"/>
            <a:ext cx="9919530" cy="3970318"/>
          </a:xfrm>
          <a:prstGeom prst="rect">
            <a:avLst/>
          </a:prstGeom>
        </p:spPr>
        <p:txBody>
          <a:bodyPr wrap="square">
            <a:spAutoFit/>
          </a:bodyPr>
          <a:lstStyle/>
          <a:p>
            <a:pPr algn="just"/>
            <a:r>
              <a:rPr lang="fr-FR" sz="3600" b="1" dirty="0">
                <a:latin typeface="Candara" panose="020E0502030303020204" pitchFamily="34" charset="0"/>
              </a:rPr>
              <a:t>Autres diagrammes</a:t>
            </a:r>
          </a:p>
          <a:p>
            <a:pPr algn="just"/>
            <a:endParaRPr lang="fr-FR" sz="3600" dirty="0">
              <a:latin typeface="Candara" panose="020E0502030303020204" pitchFamily="34" charset="0"/>
            </a:endParaRPr>
          </a:p>
          <a:p>
            <a:pPr lvl="1" algn="just"/>
            <a:r>
              <a:rPr lang="fr-FR" sz="3600" dirty="0">
                <a:latin typeface="Candara" panose="020E0502030303020204" pitchFamily="34" charset="0"/>
              </a:rPr>
              <a:t>	Diagrammes d’interaction</a:t>
            </a:r>
          </a:p>
          <a:p>
            <a:pPr lvl="1" algn="just"/>
            <a:r>
              <a:rPr lang="fr-FR" sz="3600" dirty="0">
                <a:latin typeface="Candara" panose="020E0502030303020204" pitchFamily="34" charset="0"/>
              </a:rPr>
              <a:t>	Packages et collaborations</a:t>
            </a:r>
          </a:p>
          <a:p>
            <a:pPr lvl="1" algn="just"/>
            <a:r>
              <a:rPr lang="fr-FR" sz="3600" dirty="0">
                <a:latin typeface="Candara" panose="020E0502030303020204" pitchFamily="34" charset="0"/>
              </a:rPr>
              <a:t>	Diagrammes d’états-transitions</a:t>
            </a:r>
          </a:p>
          <a:p>
            <a:pPr lvl="1" algn="just"/>
            <a:r>
              <a:rPr lang="fr-FR" sz="3600" dirty="0">
                <a:latin typeface="Candara" panose="020E0502030303020204" pitchFamily="34" charset="0"/>
              </a:rPr>
              <a:t>	Diagrammes d’activité</a:t>
            </a:r>
          </a:p>
          <a:p>
            <a:pPr lvl="1" algn="just"/>
            <a:r>
              <a:rPr lang="fr-FR" sz="3600" dirty="0">
                <a:latin typeface="Candara" panose="020E0502030303020204" pitchFamily="34" charset="0"/>
              </a:rPr>
              <a:t>	Diagrammes physiques</a:t>
            </a:r>
          </a:p>
        </p:txBody>
      </p:sp>
      <p:sp>
        <p:nvSpPr>
          <p:cNvPr id="6" name="Rectangle : coins arrondis 5">
            <a:extLst>
              <a:ext uri="{FF2B5EF4-FFF2-40B4-BE49-F238E27FC236}">
                <a16:creationId xmlns:a16="http://schemas.microsoft.com/office/drawing/2014/main" id="{2170B7A4-BEA9-1358-928F-E6B255BDB9B9}"/>
              </a:ext>
            </a:extLst>
          </p:cNvPr>
          <p:cNvSpPr/>
          <p:nvPr/>
        </p:nvSpPr>
        <p:spPr>
          <a:xfrm>
            <a:off x="346229" y="1379184"/>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5F8259FE-C267-FD37-19EB-42F7B562FA2A}"/>
              </a:ext>
            </a:extLst>
          </p:cNvPr>
          <p:cNvSpPr/>
          <p:nvPr/>
        </p:nvSpPr>
        <p:spPr>
          <a:xfrm>
            <a:off x="1239699" y="3136612"/>
            <a:ext cx="723694" cy="584775"/>
          </a:xfrm>
          <a:prstGeom prst="rect">
            <a:avLst/>
          </a:prstGeom>
        </p:spPr>
        <p:txBody>
          <a:bodyPr wrap="square">
            <a:spAutoFit/>
          </a:bodyPr>
          <a:lstStyle/>
          <a:p>
            <a:r>
              <a:rPr lang="fr-FR" sz="3200" b="1" dirty="0">
                <a:latin typeface="Candara" panose="020E0502030303020204" pitchFamily="34" charset="0"/>
              </a:rPr>
              <a:t>1-</a:t>
            </a:r>
          </a:p>
        </p:txBody>
      </p:sp>
      <p:sp>
        <p:nvSpPr>
          <p:cNvPr id="10" name="Rectangle 9">
            <a:extLst>
              <a:ext uri="{FF2B5EF4-FFF2-40B4-BE49-F238E27FC236}">
                <a16:creationId xmlns:a16="http://schemas.microsoft.com/office/drawing/2014/main" id="{43048486-FE65-111F-6A6A-02E87694A87F}"/>
              </a:ext>
            </a:extLst>
          </p:cNvPr>
          <p:cNvSpPr/>
          <p:nvPr/>
        </p:nvSpPr>
        <p:spPr>
          <a:xfrm>
            <a:off x="1252144" y="3646221"/>
            <a:ext cx="723694" cy="584775"/>
          </a:xfrm>
          <a:prstGeom prst="rect">
            <a:avLst/>
          </a:prstGeom>
        </p:spPr>
        <p:txBody>
          <a:bodyPr wrap="square">
            <a:spAutoFit/>
          </a:bodyPr>
          <a:lstStyle/>
          <a:p>
            <a:r>
              <a:rPr lang="fr-FR" sz="3200" b="1" dirty="0">
                <a:latin typeface="Candara" panose="020E0502030303020204" pitchFamily="34" charset="0"/>
              </a:rPr>
              <a:t>2-</a:t>
            </a:r>
          </a:p>
        </p:txBody>
      </p:sp>
      <p:sp>
        <p:nvSpPr>
          <p:cNvPr id="11" name="Rectangle 10">
            <a:extLst>
              <a:ext uri="{FF2B5EF4-FFF2-40B4-BE49-F238E27FC236}">
                <a16:creationId xmlns:a16="http://schemas.microsoft.com/office/drawing/2014/main" id="{BFF2AEA4-3319-3A46-18AE-4A9B71EEDDDB}"/>
              </a:ext>
            </a:extLst>
          </p:cNvPr>
          <p:cNvSpPr/>
          <p:nvPr/>
        </p:nvSpPr>
        <p:spPr>
          <a:xfrm>
            <a:off x="1239699" y="4204362"/>
            <a:ext cx="723694" cy="584775"/>
          </a:xfrm>
          <a:prstGeom prst="rect">
            <a:avLst/>
          </a:prstGeom>
        </p:spPr>
        <p:txBody>
          <a:bodyPr wrap="square">
            <a:spAutoFit/>
          </a:bodyPr>
          <a:lstStyle/>
          <a:p>
            <a:r>
              <a:rPr lang="fr-FR" sz="3200" b="1" dirty="0">
                <a:latin typeface="Candara" panose="020E0502030303020204" pitchFamily="34" charset="0"/>
              </a:rPr>
              <a:t>3-</a:t>
            </a:r>
          </a:p>
        </p:txBody>
      </p:sp>
      <p:sp>
        <p:nvSpPr>
          <p:cNvPr id="12" name="Rectangle 11">
            <a:extLst>
              <a:ext uri="{FF2B5EF4-FFF2-40B4-BE49-F238E27FC236}">
                <a16:creationId xmlns:a16="http://schemas.microsoft.com/office/drawing/2014/main" id="{28B5A672-706A-7AD7-3E5F-6961F5A81EE7}"/>
              </a:ext>
            </a:extLst>
          </p:cNvPr>
          <p:cNvSpPr/>
          <p:nvPr/>
        </p:nvSpPr>
        <p:spPr>
          <a:xfrm>
            <a:off x="1252144" y="4737921"/>
            <a:ext cx="723694" cy="584775"/>
          </a:xfrm>
          <a:prstGeom prst="rect">
            <a:avLst/>
          </a:prstGeom>
        </p:spPr>
        <p:txBody>
          <a:bodyPr wrap="square">
            <a:spAutoFit/>
          </a:bodyPr>
          <a:lstStyle/>
          <a:p>
            <a:r>
              <a:rPr lang="fr-FR" sz="3200" b="1" dirty="0">
                <a:latin typeface="Candara" panose="020E0502030303020204" pitchFamily="34" charset="0"/>
              </a:rPr>
              <a:t>4-</a:t>
            </a:r>
          </a:p>
        </p:txBody>
      </p:sp>
      <p:sp>
        <p:nvSpPr>
          <p:cNvPr id="13" name="Rectangle 12">
            <a:extLst>
              <a:ext uri="{FF2B5EF4-FFF2-40B4-BE49-F238E27FC236}">
                <a16:creationId xmlns:a16="http://schemas.microsoft.com/office/drawing/2014/main" id="{0BB1B133-B60A-1CE5-EEAD-15F140A7C510}"/>
              </a:ext>
            </a:extLst>
          </p:cNvPr>
          <p:cNvSpPr/>
          <p:nvPr/>
        </p:nvSpPr>
        <p:spPr>
          <a:xfrm>
            <a:off x="1264589" y="5299407"/>
            <a:ext cx="723694" cy="584775"/>
          </a:xfrm>
          <a:prstGeom prst="rect">
            <a:avLst/>
          </a:prstGeom>
        </p:spPr>
        <p:txBody>
          <a:bodyPr wrap="square">
            <a:spAutoFit/>
          </a:bodyPr>
          <a:lstStyle/>
          <a:p>
            <a:r>
              <a:rPr lang="fr-FR" sz="3200" b="1" dirty="0">
                <a:latin typeface="Candara" panose="020E0502030303020204" pitchFamily="34" charset="0"/>
              </a:rPr>
              <a:t>5-</a:t>
            </a:r>
          </a:p>
        </p:txBody>
      </p:sp>
      <p:pic>
        <p:nvPicPr>
          <p:cNvPr id="3" name="Image 2">
            <a:extLst>
              <a:ext uri="{FF2B5EF4-FFF2-40B4-BE49-F238E27FC236}">
                <a16:creationId xmlns:a16="http://schemas.microsoft.com/office/drawing/2014/main" id="{275973C9-3B7E-EF7B-762C-ADB943EB3B99}"/>
              </a:ext>
            </a:extLst>
          </p:cNvPr>
          <p:cNvPicPr>
            <a:picLocks noChangeAspect="1"/>
          </p:cNvPicPr>
          <p:nvPr/>
        </p:nvPicPr>
        <p:blipFill>
          <a:blip r:embed="rId2"/>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59951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710213" y="1774486"/>
            <a:ext cx="10771573" cy="954107"/>
          </a:xfrm>
          <a:prstGeom prst="rect">
            <a:avLst/>
          </a:prstGeom>
        </p:spPr>
        <p:txBody>
          <a:bodyPr wrap="square">
            <a:spAutoFit/>
          </a:bodyPr>
          <a:lstStyle/>
          <a:p>
            <a:pPr algn="ctr"/>
            <a:r>
              <a:rPr lang="fr-FR" sz="2800" dirty="0">
                <a:latin typeface="Candara" panose="020E0502030303020204" pitchFamily="34" charset="0"/>
              </a:rPr>
              <a:t>« </a:t>
            </a:r>
            <a:r>
              <a:rPr lang="fr-FR" sz="2800" b="1" dirty="0">
                <a:solidFill>
                  <a:schemeClr val="accent1"/>
                </a:solidFill>
                <a:latin typeface="Candara" panose="020E0502030303020204" pitchFamily="34" charset="0"/>
              </a:rPr>
              <a:t>Une image vaut mieux que mille mots</a:t>
            </a:r>
            <a:r>
              <a:rPr lang="fr-FR" sz="2800" b="1" dirty="0">
                <a:solidFill>
                  <a:schemeClr val="accent1">
                    <a:lumMod val="75000"/>
                  </a:schemeClr>
                </a:solidFill>
                <a:latin typeface="Candara" panose="020E0502030303020204" pitchFamily="34" charset="0"/>
              </a:rPr>
              <a:t> </a:t>
            </a:r>
            <a:r>
              <a:rPr lang="fr-FR" sz="2800" dirty="0">
                <a:latin typeface="Candara" panose="020E0502030303020204" pitchFamily="34" charset="0"/>
              </a:rPr>
              <a:t>» !</a:t>
            </a:r>
          </a:p>
          <a:p>
            <a:pPr algn="ctr"/>
            <a:r>
              <a:rPr lang="fr-FR" sz="2800" dirty="0">
                <a:latin typeface="Candara" panose="020E0502030303020204" pitchFamily="34" charset="0"/>
              </a:rPr>
              <a:t>=&gt; Permettre à tous de comprendre un système.</a:t>
            </a:r>
          </a:p>
        </p:txBody>
      </p:sp>
      <p:pic>
        <p:nvPicPr>
          <p:cNvPr id="7" name="Image 6">
            <a:extLst>
              <a:ext uri="{FF2B5EF4-FFF2-40B4-BE49-F238E27FC236}">
                <a16:creationId xmlns:a16="http://schemas.microsoft.com/office/drawing/2014/main" id="{0B2C0616-E052-46A0-B2A6-4B9508A17E18}"/>
              </a:ext>
            </a:extLst>
          </p:cNvPr>
          <p:cNvPicPr>
            <a:picLocks noChangeAspect="1"/>
          </p:cNvPicPr>
          <p:nvPr/>
        </p:nvPicPr>
        <p:blipFill>
          <a:blip r:embed="rId3"/>
          <a:stretch>
            <a:fillRect/>
          </a:stretch>
        </p:blipFill>
        <p:spPr>
          <a:xfrm>
            <a:off x="408373" y="3145209"/>
            <a:ext cx="2812240" cy="2394457"/>
          </a:xfrm>
          <a:prstGeom prst="rect">
            <a:avLst/>
          </a:prstGeom>
        </p:spPr>
      </p:pic>
      <p:sp>
        <p:nvSpPr>
          <p:cNvPr id="14" name="Rectangle 13">
            <a:extLst>
              <a:ext uri="{FF2B5EF4-FFF2-40B4-BE49-F238E27FC236}">
                <a16:creationId xmlns:a16="http://schemas.microsoft.com/office/drawing/2014/main" id="{A85DEAE9-D1B7-4646-89A8-2BDB307B72A6}"/>
              </a:ext>
            </a:extLst>
          </p:cNvPr>
          <p:cNvSpPr/>
          <p:nvPr/>
        </p:nvSpPr>
        <p:spPr>
          <a:xfrm>
            <a:off x="3444536" y="2940287"/>
            <a:ext cx="8401235" cy="3539430"/>
          </a:xfrm>
          <a:prstGeom prst="rect">
            <a:avLst/>
          </a:prstGeom>
        </p:spPr>
        <p:txBody>
          <a:bodyPr wrap="square">
            <a:spAutoFit/>
          </a:bodyPr>
          <a:lstStyle/>
          <a:p>
            <a:pPr algn="just"/>
            <a:r>
              <a:rPr lang="fr-FR" sz="2800" dirty="0">
                <a:latin typeface="Candara" panose="020E0502030303020204" pitchFamily="34" charset="0"/>
              </a:rPr>
              <a:t>Langage de modélisation graphique apparu dans les années 90, conçu pour fournir une méthode normalisée afin de visualiser la conception d’un système.</a:t>
            </a:r>
          </a:p>
          <a:p>
            <a:pPr algn="just"/>
            <a:endParaRPr lang="fr-FR" sz="2800" dirty="0">
              <a:latin typeface="Candara" panose="020E0502030303020204" pitchFamily="34" charset="0"/>
            </a:endParaRPr>
          </a:p>
          <a:p>
            <a:pPr algn="just"/>
            <a:r>
              <a:rPr lang="fr-FR" sz="2800" dirty="0">
                <a:latin typeface="Candara" panose="020E0502030303020204" pitchFamily="34" charset="0"/>
              </a:rPr>
              <a:t>UML est composé de plusieurs types de diagramme qui décrivent la structure, la limite et le comportement d’un système et des objets qui s'y trouvent.</a:t>
            </a:r>
          </a:p>
        </p:txBody>
      </p:sp>
    </p:spTree>
    <p:extLst>
      <p:ext uri="{BB962C8B-B14F-4D97-AF65-F5344CB8AC3E}">
        <p14:creationId xmlns:p14="http://schemas.microsoft.com/office/powerpoint/2010/main" val="4166189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692458" y="1040745"/>
            <a:ext cx="11153313" cy="646331"/>
          </a:xfrm>
          <a:prstGeom prst="rect">
            <a:avLst/>
          </a:prstGeom>
        </p:spPr>
        <p:txBody>
          <a:bodyPr wrap="square">
            <a:spAutoFit/>
          </a:bodyPr>
          <a:lstStyle/>
          <a:p>
            <a:pPr algn="just"/>
            <a:r>
              <a:rPr lang="fr-FR" sz="3600" b="1" dirty="0">
                <a:latin typeface="Candara" panose="020E0502030303020204" pitchFamily="34" charset="0"/>
              </a:rPr>
              <a:t>Définir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4940843" y="1836613"/>
            <a:ext cx="6413819" cy="4216539"/>
          </a:xfrm>
          <a:prstGeom prst="rect">
            <a:avLst/>
          </a:prstGeom>
        </p:spPr>
        <p:txBody>
          <a:bodyPr wrap="square">
            <a:spAutoFit/>
          </a:bodyPr>
          <a:lstStyle/>
          <a:p>
            <a:pPr algn="just"/>
            <a:r>
              <a:rPr lang="fr-FR" sz="2800" dirty="0">
                <a:latin typeface="Candara" panose="020E0502030303020204" pitchFamily="34" charset="0"/>
              </a:rPr>
              <a:t>UML n’est pas un langage de programmation (Platform Independent Model).</a:t>
            </a:r>
          </a:p>
          <a:p>
            <a:pPr algn="just"/>
            <a:endParaRPr lang="fr-FR" sz="2800" dirty="0">
              <a:latin typeface="Candara" panose="020E0502030303020204" pitchFamily="34" charset="0"/>
            </a:endParaRPr>
          </a:p>
          <a:p>
            <a:pPr algn="just"/>
            <a:r>
              <a:rPr lang="fr-FR" sz="2800" dirty="0">
                <a:latin typeface="Candara" panose="020E0502030303020204" pitchFamily="34" charset="0"/>
              </a:rPr>
              <a:t>Mais à partir des diagrammes UML, on peut générer du code (Platform </a:t>
            </a:r>
            <a:r>
              <a:rPr lang="fr-FR" sz="2800" dirty="0" err="1">
                <a:latin typeface="Candara" panose="020E0502030303020204" pitchFamily="34" charset="0"/>
              </a:rPr>
              <a:t>Specific</a:t>
            </a:r>
            <a:r>
              <a:rPr lang="fr-FR" sz="2800" dirty="0">
                <a:latin typeface="Candara" panose="020E0502030303020204" pitchFamily="34" charset="0"/>
              </a:rPr>
              <a:t> Model).</a:t>
            </a:r>
          </a:p>
          <a:p>
            <a:pPr algn="just"/>
            <a:endParaRPr lang="fr-FR" sz="2800" dirty="0">
              <a:latin typeface="Candara" panose="020E0502030303020204" pitchFamily="34" charset="0"/>
            </a:endParaRPr>
          </a:p>
          <a:p>
            <a:pPr algn="ctr"/>
            <a:r>
              <a:rPr lang="fr-FR" sz="4400" b="1" dirty="0">
                <a:latin typeface="Candara" panose="020E0502030303020204" pitchFamily="34" charset="0"/>
              </a:rPr>
              <a:t>Dans notre contexte : SQL</a:t>
            </a:r>
          </a:p>
        </p:txBody>
      </p:sp>
      <p:sp>
        <p:nvSpPr>
          <p:cNvPr id="9" name="Triangle isocèle 8">
            <a:extLst>
              <a:ext uri="{FF2B5EF4-FFF2-40B4-BE49-F238E27FC236}">
                <a16:creationId xmlns:a16="http://schemas.microsoft.com/office/drawing/2014/main" id="{44FA3048-D61D-4D00-B3A7-C3CD771F5893}"/>
              </a:ext>
            </a:extLst>
          </p:cNvPr>
          <p:cNvSpPr/>
          <p:nvPr/>
        </p:nvSpPr>
        <p:spPr>
          <a:xfrm>
            <a:off x="1463754" y="2271442"/>
            <a:ext cx="2867488" cy="3346882"/>
          </a:xfrm>
          <a:prstGeom prst="triangle">
            <a:avLst/>
          </a:prstGeom>
          <a:solidFill>
            <a:srgbClr val="FF0000"/>
          </a:solidFill>
          <a:ln w="571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1">
            <a:extLst>
              <a:ext uri="{FF2B5EF4-FFF2-40B4-BE49-F238E27FC236}">
                <a16:creationId xmlns:a16="http://schemas.microsoft.com/office/drawing/2014/main" id="{B4FD643F-B642-4B5E-9D96-DC20D6790D85}"/>
              </a:ext>
            </a:extLst>
          </p:cNvPr>
          <p:cNvSpPr txBox="1">
            <a:spLocks/>
          </p:cNvSpPr>
          <p:nvPr/>
        </p:nvSpPr>
        <p:spPr>
          <a:xfrm>
            <a:off x="2073355" y="2966690"/>
            <a:ext cx="1420426" cy="292849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5800" b="1" dirty="0">
                <a:solidFill>
                  <a:schemeClr val="bg1"/>
                </a:solidFill>
              </a:rPr>
              <a:t>!</a:t>
            </a:r>
          </a:p>
        </p:txBody>
      </p:sp>
    </p:spTree>
    <p:extLst>
      <p:ext uri="{BB962C8B-B14F-4D97-AF65-F5344CB8AC3E}">
        <p14:creationId xmlns:p14="http://schemas.microsoft.com/office/powerpoint/2010/main" val="2648512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382AF0D1-A844-E6A4-A495-ACBF46FA1CEC}"/>
              </a:ext>
            </a:extLst>
          </p:cNvPr>
          <p:cNvPicPr>
            <a:picLocks noChangeAspect="1"/>
          </p:cNvPicPr>
          <p:nvPr/>
        </p:nvPicPr>
        <p:blipFill>
          <a:blip r:embed="rId3"/>
          <a:stretch>
            <a:fillRect/>
          </a:stretch>
        </p:blipFill>
        <p:spPr>
          <a:xfrm>
            <a:off x="6880017" y="4559462"/>
            <a:ext cx="1848086" cy="1848086"/>
          </a:xfrm>
          <a:prstGeom prst="rect">
            <a:avLst/>
          </a:prstGeom>
        </p:spPr>
      </p:pic>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Pourquoi utiliser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3D4569B-5F94-FE83-AC32-411937D28DF8}"/>
              </a:ext>
            </a:extLst>
          </p:cNvPr>
          <p:cNvSpPr/>
          <p:nvPr/>
        </p:nvSpPr>
        <p:spPr>
          <a:xfrm>
            <a:off x="215599" y="3055980"/>
            <a:ext cx="2018148" cy="74603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r-FR" dirty="0"/>
              <a:t>Initialisation</a:t>
            </a:r>
          </a:p>
        </p:txBody>
      </p:sp>
      <p:sp>
        <p:nvSpPr>
          <p:cNvPr id="5" name="Rectangle 4">
            <a:extLst>
              <a:ext uri="{FF2B5EF4-FFF2-40B4-BE49-F238E27FC236}">
                <a16:creationId xmlns:a16="http://schemas.microsoft.com/office/drawing/2014/main" id="{92F03697-C528-A993-AA04-314CF1D7FA09}"/>
              </a:ext>
            </a:extLst>
          </p:cNvPr>
          <p:cNvSpPr/>
          <p:nvPr/>
        </p:nvSpPr>
        <p:spPr>
          <a:xfrm>
            <a:off x="3463897" y="3055979"/>
            <a:ext cx="2018148" cy="74603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r-FR" dirty="0"/>
              <a:t>Elaboration</a:t>
            </a:r>
          </a:p>
        </p:txBody>
      </p:sp>
      <p:sp>
        <p:nvSpPr>
          <p:cNvPr id="7" name="Rectangle 6">
            <a:extLst>
              <a:ext uri="{FF2B5EF4-FFF2-40B4-BE49-F238E27FC236}">
                <a16:creationId xmlns:a16="http://schemas.microsoft.com/office/drawing/2014/main" id="{B7C81E94-82D0-4900-DE56-D78CEA2E14D6}"/>
              </a:ext>
            </a:extLst>
          </p:cNvPr>
          <p:cNvSpPr/>
          <p:nvPr/>
        </p:nvSpPr>
        <p:spPr>
          <a:xfrm>
            <a:off x="6712195" y="3055978"/>
            <a:ext cx="2018148" cy="74603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r-FR" dirty="0"/>
              <a:t>Construction</a:t>
            </a:r>
          </a:p>
        </p:txBody>
      </p:sp>
      <p:sp>
        <p:nvSpPr>
          <p:cNvPr id="8" name="Rectangle 7">
            <a:extLst>
              <a:ext uri="{FF2B5EF4-FFF2-40B4-BE49-F238E27FC236}">
                <a16:creationId xmlns:a16="http://schemas.microsoft.com/office/drawing/2014/main" id="{F83022E9-617F-5DB5-AEA3-3F75479D0F47}"/>
              </a:ext>
            </a:extLst>
          </p:cNvPr>
          <p:cNvSpPr/>
          <p:nvPr/>
        </p:nvSpPr>
        <p:spPr>
          <a:xfrm>
            <a:off x="9960493" y="3055978"/>
            <a:ext cx="2018148" cy="74603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r-FR" dirty="0"/>
              <a:t>Transition</a:t>
            </a:r>
          </a:p>
        </p:txBody>
      </p:sp>
      <p:sp>
        <p:nvSpPr>
          <p:cNvPr id="9" name="Flèche : droite 8">
            <a:extLst>
              <a:ext uri="{FF2B5EF4-FFF2-40B4-BE49-F238E27FC236}">
                <a16:creationId xmlns:a16="http://schemas.microsoft.com/office/drawing/2014/main" id="{4D75F6A0-6D8D-5BD9-FA7B-B385EDCF9FCC}"/>
              </a:ext>
            </a:extLst>
          </p:cNvPr>
          <p:cNvSpPr/>
          <p:nvPr/>
        </p:nvSpPr>
        <p:spPr>
          <a:xfrm>
            <a:off x="2233747" y="3219991"/>
            <a:ext cx="1230150" cy="41801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10" name="Flèche : droite 9">
            <a:extLst>
              <a:ext uri="{FF2B5EF4-FFF2-40B4-BE49-F238E27FC236}">
                <a16:creationId xmlns:a16="http://schemas.microsoft.com/office/drawing/2014/main" id="{D158D086-78A9-20C3-0889-934E6FB97C1E}"/>
              </a:ext>
            </a:extLst>
          </p:cNvPr>
          <p:cNvSpPr/>
          <p:nvPr/>
        </p:nvSpPr>
        <p:spPr>
          <a:xfrm>
            <a:off x="5479806" y="3219991"/>
            <a:ext cx="1230150" cy="41801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12" name="Flèche : droite 11">
            <a:extLst>
              <a:ext uri="{FF2B5EF4-FFF2-40B4-BE49-F238E27FC236}">
                <a16:creationId xmlns:a16="http://schemas.microsoft.com/office/drawing/2014/main" id="{495F3A7E-3066-1576-0028-AB431A65ACE6}"/>
              </a:ext>
            </a:extLst>
          </p:cNvPr>
          <p:cNvSpPr/>
          <p:nvPr/>
        </p:nvSpPr>
        <p:spPr>
          <a:xfrm>
            <a:off x="8728103" y="3219991"/>
            <a:ext cx="1230150" cy="41801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14" name="Flèche : bas 13">
            <a:extLst>
              <a:ext uri="{FF2B5EF4-FFF2-40B4-BE49-F238E27FC236}">
                <a16:creationId xmlns:a16="http://schemas.microsoft.com/office/drawing/2014/main" id="{DEDDEF2B-0594-DD0C-2B45-FCB3E168B45D}"/>
              </a:ext>
            </a:extLst>
          </p:cNvPr>
          <p:cNvSpPr/>
          <p:nvPr/>
        </p:nvSpPr>
        <p:spPr>
          <a:xfrm>
            <a:off x="7721269" y="3945042"/>
            <a:ext cx="143691" cy="7460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4209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B67F-6AC4-EB2C-BBC6-D66ABDD655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0FB43F-BAAE-CC28-D804-6FF40CB43A54}"/>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40757C47-D8E0-82CC-05D1-55D10CB4A4CD}"/>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Pourquoi utiliser UML</a:t>
            </a:r>
          </a:p>
        </p:txBody>
      </p:sp>
      <p:sp>
        <p:nvSpPr>
          <p:cNvPr id="6" name="Rectangle : coins arrondis 5">
            <a:extLst>
              <a:ext uri="{FF2B5EF4-FFF2-40B4-BE49-F238E27FC236}">
                <a16:creationId xmlns:a16="http://schemas.microsoft.com/office/drawing/2014/main" id="{7F094498-D227-27BD-C51C-590BA4F40FEC}"/>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41591180-A35C-1496-E681-18525D62D3F5}"/>
              </a:ext>
            </a:extLst>
          </p:cNvPr>
          <p:cNvSpPr/>
          <p:nvPr/>
        </p:nvSpPr>
        <p:spPr>
          <a:xfrm>
            <a:off x="710213" y="1863262"/>
            <a:ext cx="10771573" cy="4031873"/>
          </a:xfrm>
          <a:prstGeom prst="rect">
            <a:avLst/>
          </a:prstGeom>
        </p:spPr>
        <p:txBody>
          <a:bodyPr wrap="square">
            <a:spAutoFit/>
          </a:bodyPr>
          <a:lstStyle/>
          <a:p>
            <a:pPr marL="457200" indent="-457200" algn="just">
              <a:buFont typeface="Wingdings" panose="05000000000000000000" pitchFamily="2" charset="2"/>
              <a:buChar char="ü"/>
            </a:pPr>
            <a:r>
              <a:rPr lang="fr-FR" sz="3200" dirty="0">
                <a:latin typeface="Candara" panose="020E0502030303020204" pitchFamily="34" charset="0"/>
              </a:rPr>
              <a:t>Décomposer le process de développement</a:t>
            </a:r>
          </a:p>
          <a:p>
            <a:pPr marL="457200" indent="-457200" algn="just">
              <a:buFont typeface="Wingdings" panose="05000000000000000000" pitchFamily="2" charset="2"/>
              <a:buChar char="ü"/>
            </a:pPr>
            <a:r>
              <a:rPr lang="fr-FR" sz="3200" dirty="0">
                <a:latin typeface="Candara" panose="020E0502030303020204" pitchFamily="34" charset="0"/>
              </a:rPr>
              <a:t>Mettre en relation différents acteurs (experts métiers et analystes)</a:t>
            </a:r>
          </a:p>
          <a:p>
            <a:pPr marL="457200" indent="-457200" algn="just">
              <a:buFont typeface="Wingdings" panose="05000000000000000000" pitchFamily="2" charset="2"/>
              <a:buChar char="ü"/>
            </a:pPr>
            <a:r>
              <a:rPr lang="fr-FR" sz="3200" dirty="0">
                <a:latin typeface="Candara" panose="020E0502030303020204" pitchFamily="34" charset="0"/>
              </a:rPr>
              <a:t>Coordonner les équipes d’analyse et de conception</a:t>
            </a:r>
          </a:p>
          <a:p>
            <a:pPr marL="457200" indent="-457200" algn="just">
              <a:buFont typeface="Wingdings" panose="05000000000000000000" pitchFamily="2" charset="2"/>
              <a:buChar char="ü"/>
            </a:pPr>
            <a:r>
              <a:rPr lang="fr-FR" sz="3200" dirty="0">
                <a:latin typeface="Candara" panose="020E0502030303020204" pitchFamily="34" charset="0"/>
              </a:rPr>
              <a:t>Séparer l’analyse de la réalisation</a:t>
            </a:r>
          </a:p>
          <a:p>
            <a:pPr marL="457200" indent="-457200" algn="just">
              <a:buFont typeface="Wingdings" panose="05000000000000000000" pitchFamily="2" charset="2"/>
              <a:buChar char="ü"/>
            </a:pPr>
            <a:r>
              <a:rPr lang="fr-FR" sz="3200" dirty="0">
                <a:latin typeface="Candara" panose="020E0502030303020204" pitchFamily="34" charset="0"/>
              </a:rPr>
              <a:t>Prendre en compte l’évolution de l’analyse et du développement</a:t>
            </a:r>
          </a:p>
          <a:p>
            <a:pPr marL="457200" indent="-457200" algn="just">
              <a:buFont typeface="Wingdings" panose="05000000000000000000" pitchFamily="2" charset="2"/>
              <a:buChar char="ü"/>
            </a:pPr>
            <a:r>
              <a:rPr lang="fr-FR" sz="3200" dirty="0">
                <a:latin typeface="Candara" panose="020E0502030303020204" pitchFamily="34" charset="0"/>
              </a:rPr>
              <a:t>Migrer vers une architecture objet</a:t>
            </a:r>
          </a:p>
        </p:txBody>
      </p:sp>
    </p:spTree>
    <p:extLst>
      <p:ext uri="{BB962C8B-B14F-4D97-AF65-F5344CB8AC3E}">
        <p14:creationId xmlns:p14="http://schemas.microsoft.com/office/powerpoint/2010/main" val="2496653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Concept de modélisation dans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710212" y="2397948"/>
            <a:ext cx="10771573" cy="3046988"/>
          </a:xfrm>
          <a:prstGeom prst="rect">
            <a:avLst/>
          </a:prstGeom>
        </p:spPr>
        <p:txBody>
          <a:bodyPr wrap="square">
            <a:spAutoFit/>
          </a:bodyPr>
          <a:lstStyle/>
          <a:p>
            <a:pPr algn="just"/>
            <a:r>
              <a:rPr lang="fr-FR" sz="3200" dirty="0">
                <a:latin typeface="Candara" panose="020E0502030303020204" pitchFamily="34" charset="0"/>
              </a:rPr>
              <a:t>Développeurs progiciels vs Développeurs bases de données</a:t>
            </a:r>
          </a:p>
          <a:p>
            <a:pPr algn="just"/>
            <a:endParaRPr lang="fr-FR" sz="3200" dirty="0">
              <a:latin typeface="Candara" panose="020E0502030303020204" pitchFamily="34" charset="0"/>
            </a:endParaRPr>
          </a:p>
          <a:p>
            <a:pPr algn="just"/>
            <a:r>
              <a:rPr lang="fr-FR" sz="3200" dirty="0">
                <a:latin typeface="Candara" panose="020E0502030303020204" pitchFamily="34" charset="0"/>
              </a:rPr>
              <a:t>Au départ, les créateurs de l'UML ne se sont tout simplement pas intéressés aux bases de données.</a:t>
            </a:r>
          </a:p>
          <a:p>
            <a:pPr algn="just"/>
            <a:endParaRPr lang="fr-FR" sz="3200" dirty="0">
              <a:latin typeface="Candara" panose="020E0502030303020204" pitchFamily="34" charset="0"/>
            </a:endParaRPr>
          </a:p>
          <a:p>
            <a:pPr algn="just"/>
            <a:r>
              <a:rPr lang="fr-FR" sz="3200" dirty="0">
                <a:latin typeface="Candara" panose="020E0502030303020204" pitchFamily="34" charset="0"/>
              </a:rPr>
              <a:t>UML est efficace pour la modélisation générale de données.</a:t>
            </a:r>
          </a:p>
        </p:txBody>
      </p:sp>
    </p:spTree>
    <p:extLst>
      <p:ext uri="{BB962C8B-B14F-4D97-AF65-F5344CB8AC3E}">
        <p14:creationId xmlns:p14="http://schemas.microsoft.com/office/powerpoint/2010/main" val="1213862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Concept de modélisation dans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710213" y="1863262"/>
            <a:ext cx="10771573" cy="523220"/>
          </a:xfrm>
          <a:prstGeom prst="rect">
            <a:avLst/>
          </a:prstGeom>
        </p:spPr>
        <p:txBody>
          <a:bodyPr wrap="square">
            <a:spAutoFit/>
          </a:bodyPr>
          <a:lstStyle/>
          <a:p>
            <a:pPr algn="just"/>
            <a:r>
              <a:rPr lang="fr-FR" sz="2800" dirty="0">
                <a:latin typeface="Candara" panose="020E0502030303020204" pitchFamily="34" charset="0"/>
              </a:rPr>
              <a:t>La mise en place d’un système est axée sur trois modèles globaux : </a:t>
            </a:r>
          </a:p>
        </p:txBody>
      </p:sp>
      <p:sp>
        <p:nvSpPr>
          <p:cNvPr id="10" name="Rectangle : coins arrondis 9">
            <a:extLst>
              <a:ext uri="{FF2B5EF4-FFF2-40B4-BE49-F238E27FC236}">
                <a16:creationId xmlns:a16="http://schemas.microsoft.com/office/drawing/2014/main" id="{BF8FB7C4-5FA7-4F86-8FA7-157D8FB11810}"/>
              </a:ext>
            </a:extLst>
          </p:cNvPr>
          <p:cNvSpPr/>
          <p:nvPr/>
        </p:nvSpPr>
        <p:spPr>
          <a:xfrm>
            <a:off x="2883021" y="5404282"/>
            <a:ext cx="6425955" cy="12377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t>Dynamique</a:t>
            </a:r>
            <a:endParaRPr lang="fr-FR" sz="3200" dirty="0"/>
          </a:p>
          <a:p>
            <a:pPr algn="ctr"/>
            <a:r>
              <a:rPr lang="fr-FR" dirty="0"/>
              <a:t>Description du comportement interne du système (interaction, activité)</a:t>
            </a:r>
          </a:p>
        </p:txBody>
      </p:sp>
      <p:sp>
        <p:nvSpPr>
          <p:cNvPr id="12" name="Rectangle : coins arrondis 11">
            <a:extLst>
              <a:ext uri="{FF2B5EF4-FFF2-40B4-BE49-F238E27FC236}">
                <a16:creationId xmlns:a16="http://schemas.microsoft.com/office/drawing/2014/main" id="{8D6AA1BC-575C-42E2-A8D1-A74C4A5E1D3F}"/>
              </a:ext>
            </a:extLst>
          </p:cNvPr>
          <p:cNvSpPr/>
          <p:nvPr/>
        </p:nvSpPr>
        <p:spPr>
          <a:xfrm>
            <a:off x="2883021" y="2481668"/>
            <a:ext cx="6425955" cy="12377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t>Fonctionnel</a:t>
            </a:r>
            <a:endParaRPr lang="fr-FR" sz="3200" dirty="0"/>
          </a:p>
          <a:p>
            <a:pPr algn="ctr"/>
            <a:r>
              <a:rPr lang="fr-FR" dirty="0"/>
              <a:t>Description des fonctionnalités du système d’un point de vue utilisateur</a:t>
            </a:r>
          </a:p>
        </p:txBody>
      </p:sp>
      <p:sp>
        <p:nvSpPr>
          <p:cNvPr id="13" name="Rectangle : coins arrondis 12">
            <a:extLst>
              <a:ext uri="{FF2B5EF4-FFF2-40B4-BE49-F238E27FC236}">
                <a16:creationId xmlns:a16="http://schemas.microsoft.com/office/drawing/2014/main" id="{4BC8B438-CBE9-4DF2-9FEC-C4AB97EBDEFA}"/>
              </a:ext>
            </a:extLst>
          </p:cNvPr>
          <p:cNvSpPr/>
          <p:nvPr/>
        </p:nvSpPr>
        <p:spPr>
          <a:xfrm>
            <a:off x="2883021" y="3942975"/>
            <a:ext cx="6425955" cy="12377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t>Objet</a:t>
            </a:r>
            <a:endParaRPr lang="fr-FR" dirty="0"/>
          </a:p>
          <a:p>
            <a:pPr algn="ctr"/>
            <a:r>
              <a:rPr lang="fr-FR" dirty="0"/>
              <a:t>Description de la structure du système en termes d’objets, attributs, associations… </a:t>
            </a:r>
          </a:p>
        </p:txBody>
      </p:sp>
    </p:spTree>
    <p:extLst>
      <p:ext uri="{BB962C8B-B14F-4D97-AF65-F5344CB8AC3E}">
        <p14:creationId xmlns:p14="http://schemas.microsoft.com/office/powerpoint/2010/main" val="1980805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Concept orienté objet dans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710212" y="1909676"/>
            <a:ext cx="10771573" cy="4524315"/>
          </a:xfrm>
          <a:prstGeom prst="rect">
            <a:avLst/>
          </a:prstGeom>
        </p:spPr>
        <p:txBody>
          <a:bodyPr wrap="square">
            <a:spAutoFit/>
          </a:bodyPr>
          <a:lstStyle/>
          <a:p>
            <a:pPr algn="just"/>
            <a:r>
              <a:rPr lang="fr-FR" sz="3200" b="1" dirty="0">
                <a:solidFill>
                  <a:schemeClr val="accent1"/>
                </a:solidFill>
                <a:latin typeface="Candara" panose="020E0502030303020204" pitchFamily="34" charset="0"/>
              </a:rPr>
              <a:t>Objet</a:t>
            </a:r>
            <a:r>
              <a:rPr lang="fr-FR" sz="3200" dirty="0">
                <a:latin typeface="Candara" panose="020E0502030303020204" pitchFamily="34" charset="0"/>
              </a:rPr>
              <a:t> : une entité et le module de base</a:t>
            </a:r>
          </a:p>
          <a:p>
            <a:pPr algn="just"/>
            <a:r>
              <a:rPr lang="fr-FR" sz="3200" b="1" dirty="0">
                <a:solidFill>
                  <a:schemeClr val="accent1"/>
                </a:solidFill>
                <a:latin typeface="Candara" panose="020E0502030303020204" pitchFamily="34" charset="0"/>
              </a:rPr>
              <a:t>Classe</a:t>
            </a:r>
            <a:r>
              <a:rPr lang="fr-FR" sz="3200" dirty="0">
                <a:latin typeface="Candara" panose="020E0502030303020204" pitchFamily="34" charset="0"/>
              </a:rPr>
              <a:t> : plan d'un objet</a:t>
            </a:r>
          </a:p>
          <a:p>
            <a:pPr algn="just"/>
            <a:r>
              <a:rPr lang="fr-FR" sz="3200" b="1" dirty="0">
                <a:solidFill>
                  <a:schemeClr val="accent1"/>
                </a:solidFill>
                <a:latin typeface="Candara" panose="020E0502030303020204" pitchFamily="34" charset="0"/>
              </a:rPr>
              <a:t>Abstraction</a:t>
            </a:r>
            <a:r>
              <a:rPr lang="fr-FR" sz="3200" dirty="0">
                <a:latin typeface="Candara" panose="020E0502030303020204" pitchFamily="34" charset="0"/>
              </a:rPr>
              <a:t> : comportement d'une entité du monde réel</a:t>
            </a:r>
          </a:p>
          <a:p>
            <a:pPr algn="just"/>
            <a:r>
              <a:rPr lang="fr-FR" sz="3200" b="1" dirty="0">
                <a:solidFill>
                  <a:schemeClr val="accent1"/>
                </a:solidFill>
                <a:latin typeface="Candara" panose="020E0502030303020204" pitchFamily="34" charset="0"/>
              </a:rPr>
              <a:t>Encapsulation</a:t>
            </a:r>
            <a:r>
              <a:rPr lang="fr-FR" sz="3200" dirty="0">
                <a:latin typeface="Candara" panose="020E0502030303020204" pitchFamily="34" charset="0"/>
              </a:rPr>
              <a:t> : mécanisme qui consiste à relier les données et à les cacher du monde extérieur</a:t>
            </a:r>
          </a:p>
          <a:p>
            <a:pPr algn="just"/>
            <a:r>
              <a:rPr lang="fr-FR" sz="3200" b="1" dirty="0">
                <a:solidFill>
                  <a:schemeClr val="accent1"/>
                </a:solidFill>
                <a:latin typeface="Candara" panose="020E0502030303020204" pitchFamily="34" charset="0"/>
              </a:rPr>
              <a:t>Héritage</a:t>
            </a:r>
            <a:r>
              <a:rPr lang="fr-FR" sz="3200" dirty="0">
                <a:latin typeface="Candara" panose="020E0502030303020204" pitchFamily="34" charset="0"/>
              </a:rPr>
              <a:t> : mécanisme par lequel de nouvelles classes sont créées à partir d'une classe existante</a:t>
            </a:r>
          </a:p>
          <a:p>
            <a:pPr algn="just"/>
            <a:r>
              <a:rPr lang="fr-FR" sz="3200" b="1" dirty="0">
                <a:solidFill>
                  <a:schemeClr val="accent1"/>
                </a:solidFill>
                <a:latin typeface="Candara" panose="020E0502030303020204" pitchFamily="34" charset="0"/>
              </a:rPr>
              <a:t>Polymorphisme</a:t>
            </a:r>
            <a:r>
              <a:rPr lang="fr-FR" sz="3200" dirty="0">
                <a:latin typeface="Candara" panose="020E0502030303020204" pitchFamily="34" charset="0"/>
              </a:rPr>
              <a:t> : définit le mécanisme sous différentes formes.</a:t>
            </a:r>
          </a:p>
        </p:txBody>
      </p:sp>
    </p:spTree>
    <p:extLst>
      <p:ext uri="{BB962C8B-B14F-4D97-AF65-F5344CB8AC3E}">
        <p14:creationId xmlns:p14="http://schemas.microsoft.com/office/powerpoint/2010/main" val="2829520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Types de diagramme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50" name="Picture 2" descr="UML 2 Specifications - Current Version = UML 2.5">
            <a:extLst>
              <a:ext uri="{FF2B5EF4-FFF2-40B4-BE49-F238E27FC236}">
                <a16:creationId xmlns:a16="http://schemas.microsoft.com/office/drawing/2014/main" id="{E54472FE-9A87-425A-8C55-72EE3F1386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68" y="3025919"/>
            <a:ext cx="6517060" cy="3757334"/>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F6EDD3F8-1E00-4ECC-9989-362661447C2B}"/>
              </a:ext>
            </a:extLst>
          </p:cNvPr>
          <p:cNvSpPr/>
          <p:nvPr/>
        </p:nvSpPr>
        <p:spPr>
          <a:xfrm>
            <a:off x="710212" y="1954063"/>
            <a:ext cx="10771573" cy="954107"/>
          </a:xfrm>
          <a:prstGeom prst="rect">
            <a:avLst/>
          </a:prstGeom>
        </p:spPr>
        <p:txBody>
          <a:bodyPr wrap="square">
            <a:spAutoFit/>
          </a:bodyPr>
          <a:lstStyle/>
          <a:p>
            <a:pPr algn="just"/>
            <a:r>
              <a:rPr lang="fr-FR" sz="2800" dirty="0">
                <a:latin typeface="Candara" panose="020E0502030303020204" pitchFamily="34" charset="0"/>
              </a:rPr>
              <a:t>UML est né de la fusion de plusieurs méthodes de modélisation objet, dont trois principalement : OMT, </a:t>
            </a:r>
            <a:r>
              <a:rPr lang="fr-FR" sz="2800" dirty="0" err="1">
                <a:latin typeface="Candara" panose="020E0502030303020204" pitchFamily="34" charset="0"/>
              </a:rPr>
              <a:t>Booch</a:t>
            </a:r>
            <a:r>
              <a:rPr lang="fr-FR" sz="2800" dirty="0">
                <a:latin typeface="Candara" panose="020E0502030303020204" pitchFamily="34" charset="0"/>
              </a:rPr>
              <a:t> et OOSE (année 90).</a:t>
            </a:r>
          </a:p>
        </p:txBody>
      </p:sp>
    </p:spTree>
    <p:extLst>
      <p:ext uri="{BB962C8B-B14F-4D97-AF65-F5344CB8AC3E}">
        <p14:creationId xmlns:p14="http://schemas.microsoft.com/office/powerpoint/2010/main" val="2418155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Types de diagramme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1597984" y="1971819"/>
            <a:ext cx="3888421" cy="4401205"/>
          </a:xfrm>
          <a:prstGeom prst="rect">
            <a:avLst/>
          </a:prstGeom>
        </p:spPr>
        <p:txBody>
          <a:bodyPr wrap="square">
            <a:spAutoFit/>
          </a:bodyPr>
          <a:lstStyle/>
          <a:p>
            <a:pPr algn="just"/>
            <a:r>
              <a:rPr lang="fr-FR" sz="2800" dirty="0">
                <a:latin typeface="Candara" panose="020E0502030303020204" pitchFamily="34" charset="0"/>
              </a:rPr>
              <a:t>Dernière version : </a:t>
            </a:r>
          </a:p>
          <a:p>
            <a:pPr algn="just"/>
            <a:r>
              <a:rPr lang="fr-FR" sz="2800" dirty="0">
                <a:latin typeface="Candara" panose="020E0502030303020204" pitchFamily="34" charset="0"/>
                <a:hlinkClick r:id="rId2"/>
              </a:rPr>
              <a:t>https://www.uml.org/</a:t>
            </a:r>
            <a:endParaRPr lang="fr-FR" sz="2800" dirty="0">
              <a:latin typeface="Candara" panose="020E0502030303020204" pitchFamily="34" charset="0"/>
            </a:endParaRPr>
          </a:p>
          <a:p>
            <a:pPr algn="just"/>
            <a:endParaRPr lang="fr-FR" sz="2800" dirty="0">
              <a:latin typeface="Candara" panose="020E0502030303020204" pitchFamily="34" charset="0"/>
            </a:endParaRPr>
          </a:p>
          <a:p>
            <a:pPr algn="just"/>
            <a:r>
              <a:rPr lang="fr-FR" sz="2800" dirty="0">
                <a:latin typeface="Candara" panose="020E0502030303020204" pitchFamily="34" charset="0"/>
              </a:rPr>
              <a:t>Les trois modèles globaux (Fonctionnel, Objet et Dynamique) peuvent être visualiser en deux types de diagrammes : </a:t>
            </a:r>
            <a:r>
              <a:rPr lang="fr-FR" sz="2800" b="1" dirty="0">
                <a:latin typeface="Candara" panose="020E0502030303020204" pitchFamily="34" charset="0"/>
              </a:rPr>
              <a:t>structurel</a:t>
            </a:r>
            <a:r>
              <a:rPr lang="fr-FR" sz="2800" dirty="0">
                <a:latin typeface="Candara" panose="020E0502030303020204" pitchFamily="34" charset="0"/>
              </a:rPr>
              <a:t> et </a:t>
            </a:r>
            <a:r>
              <a:rPr lang="fr-FR" sz="2800" b="1" dirty="0">
                <a:latin typeface="Candara" panose="020E0502030303020204" pitchFamily="34" charset="0"/>
              </a:rPr>
              <a:t>comportemental</a:t>
            </a:r>
            <a:r>
              <a:rPr lang="fr-FR" sz="2800" dirty="0">
                <a:latin typeface="Candara" panose="020E0502030303020204" pitchFamily="34" charset="0"/>
              </a:rPr>
              <a:t>. </a:t>
            </a:r>
          </a:p>
        </p:txBody>
      </p:sp>
      <p:pic>
        <p:nvPicPr>
          <p:cNvPr id="7" name="Picture 2" descr="UML 2.5 Diagrams Taxonomy.">
            <a:extLst>
              <a:ext uri="{FF2B5EF4-FFF2-40B4-BE49-F238E27FC236}">
                <a16:creationId xmlns:a16="http://schemas.microsoft.com/office/drawing/2014/main" id="{689BEC30-BA64-46E1-9C88-9462592B8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7431" y="1363910"/>
            <a:ext cx="5326604" cy="5334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280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Types de diagramme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6EDD3F8-1E00-4ECC-9989-362661447C2B}"/>
              </a:ext>
            </a:extLst>
          </p:cNvPr>
          <p:cNvSpPr/>
          <p:nvPr/>
        </p:nvSpPr>
        <p:spPr>
          <a:xfrm>
            <a:off x="1597984" y="1971819"/>
            <a:ext cx="3888421" cy="4401205"/>
          </a:xfrm>
          <a:prstGeom prst="rect">
            <a:avLst/>
          </a:prstGeom>
        </p:spPr>
        <p:txBody>
          <a:bodyPr wrap="square">
            <a:spAutoFit/>
          </a:bodyPr>
          <a:lstStyle/>
          <a:p>
            <a:pPr algn="just"/>
            <a:r>
              <a:rPr lang="fr-FR" sz="2800" dirty="0">
                <a:latin typeface="Candara" panose="020E0502030303020204" pitchFamily="34" charset="0"/>
              </a:rPr>
              <a:t>Dernière version : </a:t>
            </a:r>
          </a:p>
          <a:p>
            <a:pPr algn="just"/>
            <a:r>
              <a:rPr lang="fr-FR" sz="2800" dirty="0">
                <a:latin typeface="Candara" panose="020E0502030303020204" pitchFamily="34" charset="0"/>
                <a:hlinkClick r:id="rId2"/>
              </a:rPr>
              <a:t>https://www.uml.org/</a:t>
            </a:r>
            <a:endParaRPr lang="fr-FR" sz="2800" dirty="0">
              <a:latin typeface="Candara" panose="020E0502030303020204" pitchFamily="34" charset="0"/>
            </a:endParaRPr>
          </a:p>
          <a:p>
            <a:pPr algn="just"/>
            <a:endParaRPr lang="fr-FR" sz="2800" dirty="0">
              <a:latin typeface="Candara" panose="020E0502030303020204" pitchFamily="34" charset="0"/>
            </a:endParaRPr>
          </a:p>
          <a:p>
            <a:pPr algn="just"/>
            <a:r>
              <a:rPr lang="fr-FR" sz="2800" dirty="0">
                <a:latin typeface="Candara" panose="020E0502030303020204" pitchFamily="34" charset="0"/>
              </a:rPr>
              <a:t>Les trois modèles globaux (Fonctionnel, Objet et Dynamique) peuvent être visualiser en deux types de diagrammes : </a:t>
            </a:r>
            <a:r>
              <a:rPr lang="fr-FR" sz="2800" b="1" dirty="0">
                <a:latin typeface="Candara" panose="020E0502030303020204" pitchFamily="34" charset="0"/>
              </a:rPr>
              <a:t>structurel</a:t>
            </a:r>
            <a:r>
              <a:rPr lang="fr-FR" sz="2800" dirty="0">
                <a:latin typeface="Candara" panose="020E0502030303020204" pitchFamily="34" charset="0"/>
              </a:rPr>
              <a:t> et </a:t>
            </a:r>
            <a:r>
              <a:rPr lang="fr-FR" sz="2800" b="1" dirty="0">
                <a:latin typeface="Candara" panose="020E0502030303020204" pitchFamily="34" charset="0"/>
              </a:rPr>
              <a:t>comportemental</a:t>
            </a:r>
            <a:r>
              <a:rPr lang="fr-FR" sz="2800" dirty="0">
                <a:latin typeface="Candara" panose="020E0502030303020204" pitchFamily="34" charset="0"/>
              </a:rPr>
              <a:t>. </a:t>
            </a:r>
          </a:p>
        </p:txBody>
      </p:sp>
      <p:pic>
        <p:nvPicPr>
          <p:cNvPr id="7" name="Picture 2" descr="UML 2.5 Diagrams Taxonomy.">
            <a:extLst>
              <a:ext uri="{FF2B5EF4-FFF2-40B4-BE49-F238E27FC236}">
                <a16:creationId xmlns:a16="http://schemas.microsoft.com/office/drawing/2014/main" id="{689BEC30-BA64-46E1-9C88-9462592B8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7431" y="1363910"/>
            <a:ext cx="5326604" cy="5334106"/>
          </a:xfrm>
          <a:prstGeom prst="rect">
            <a:avLst/>
          </a:prstGeom>
          <a:noFill/>
          <a:extLst>
            <a:ext uri="{909E8E84-426E-40DD-AFC4-6F175D3DCCD1}">
              <a14:hiddenFill xmlns:a14="http://schemas.microsoft.com/office/drawing/2010/main">
                <a:solidFill>
                  <a:srgbClr val="FFFFFF"/>
                </a:solidFill>
              </a14:hiddenFill>
            </a:ext>
          </a:extLst>
        </p:spPr>
      </p:pic>
      <p:sp>
        <p:nvSpPr>
          <p:cNvPr id="5" name="Flèche : droite 4">
            <a:extLst>
              <a:ext uri="{FF2B5EF4-FFF2-40B4-BE49-F238E27FC236}">
                <a16:creationId xmlns:a16="http://schemas.microsoft.com/office/drawing/2014/main" id="{72AE8446-4C22-4550-9612-E74BA32C09A2}"/>
              </a:ext>
            </a:extLst>
          </p:cNvPr>
          <p:cNvSpPr/>
          <p:nvPr/>
        </p:nvSpPr>
        <p:spPr>
          <a:xfrm>
            <a:off x="6764785" y="2334825"/>
            <a:ext cx="221942" cy="21306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4CC46CA4-9C12-40C2-A866-792D03706A8D}"/>
              </a:ext>
            </a:extLst>
          </p:cNvPr>
          <p:cNvSpPr/>
          <p:nvPr/>
        </p:nvSpPr>
        <p:spPr>
          <a:xfrm rot="10800000">
            <a:off x="10663561" y="2334825"/>
            <a:ext cx="221942" cy="21306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07277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Introduction</a:t>
            </a:r>
          </a:p>
        </p:txBody>
      </p:sp>
      <p:sp>
        <p:nvSpPr>
          <p:cNvPr id="4" name="Rectangle 3">
            <a:extLst>
              <a:ext uri="{FF2B5EF4-FFF2-40B4-BE49-F238E27FC236}">
                <a16:creationId xmlns:a16="http://schemas.microsoft.com/office/drawing/2014/main" id="{E9E07D0F-F35B-4208-BFBD-B42411881582}"/>
              </a:ext>
            </a:extLst>
          </p:cNvPr>
          <p:cNvSpPr/>
          <p:nvPr/>
        </p:nvSpPr>
        <p:spPr>
          <a:xfrm>
            <a:off x="239790" y="2321004"/>
            <a:ext cx="11712420" cy="2215991"/>
          </a:xfrm>
          <a:prstGeom prst="rect">
            <a:avLst/>
          </a:prstGeom>
        </p:spPr>
        <p:txBody>
          <a:bodyPr wrap="square">
            <a:spAutoFit/>
          </a:bodyPr>
          <a:lstStyle/>
          <a:p>
            <a:pPr algn="ctr"/>
            <a:r>
              <a:rPr lang="fr-FR" sz="13800" b="1" dirty="0">
                <a:latin typeface="Candara" panose="020E0502030303020204" pitchFamily="34" charset="0"/>
              </a:rPr>
              <a:t>Des questions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77752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3539430"/>
          </a:xfrm>
          <a:prstGeom prst="rect">
            <a:avLst/>
          </a:prstGeom>
        </p:spPr>
        <p:txBody>
          <a:bodyPr wrap="square">
            <a:spAutoFit/>
          </a:bodyPr>
          <a:lstStyle/>
          <a:p>
            <a:pPr algn="just"/>
            <a:r>
              <a:rPr lang="fr-FR" sz="2800" dirty="0">
                <a:latin typeface="Candara" panose="020E0502030303020204" pitchFamily="34" charset="0"/>
              </a:rPr>
              <a:t>Diagramme de comportement</a:t>
            </a:r>
          </a:p>
          <a:p>
            <a:pPr algn="just"/>
            <a:endParaRPr lang="fr-FR" sz="2800" dirty="0">
              <a:latin typeface="Candara" panose="020E0502030303020204" pitchFamily="34" charset="0"/>
            </a:endParaRPr>
          </a:p>
          <a:p>
            <a:pPr algn="just"/>
            <a:r>
              <a:rPr lang="fr-FR" sz="2800" dirty="0">
                <a:latin typeface="Candara" panose="020E0502030303020204" pitchFamily="34" charset="0"/>
              </a:rPr>
              <a:t>Intervient au début du développement (expression de besoin)</a:t>
            </a:r>
          </a:p>
          <a:p>
            <a:pPr algn="just"/>
            <a:endParaRPr lang="fr-FR" sz="2800" dirty="0">
              <a:latin typeface="Candara" panose="020E0502030303020204" pitchFamily="34" charset="0"/>
            </a:endParaRPr>
          </a:p>
          <a:p>
            <a:pPr algn="just"/>
            <a:r>
              <a:rPr lang="fr-FR" sz="2800" dirty="0">
                <a:latin typeface="Candara" panose="020E0502030303020204" pitchFamily="34" charset="0"/>
              </a:rPr>
              <a:t>Représenter les différentes façons dont un utilisateur peut interagir avec un système (site internet, application, logiciel…)</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Décrire les différents scénarios d’interaction</a:t>
            </a:r>
          </a:p>
        </p:txBody>
      </p:sp>
    </p:spTree>
    <p:extLst>
      <p:ext uri="{BB962C8B-B14F-4D97-AF65-F5344CB8AC3E}">
        <p14:creationId xmlns:p14="http://schemas.microsoft.com/office/powerpoint/2010/main" val="3435138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0839E-47DA-D5F1-0B48-3E52B2F16B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01C3AF9-75E1-CAD9-C398-12A9F6DC4977}"/>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B42B697-5A8D-FBAC-0048-52E3ADF1B5A5}"/>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79EDC805-CFA9-078E-5616-7A511FB83E0E}"/>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B0873C32-171D-F92D-9F90-6ACF0B4D9906}"/>
              </a:ext>
            </a:extLst>
          </p:cNvPr>
          <p:cNvSpPr/>
          <p:nvPr/>
        </p:nvSpPr>
        <p:spPr>
          <a:xfrm>
            <a:off x="710212" y="1971819"/>
            <a:ext cx="11135559" cy="3970318"/>
          </a:xfrm>
          <a:prstGeom prst="rect">
            <a:avLst/>
          </a:prstGeom>
        </p:spPr>
        <p:txBody>
          <a:bodyPr wrap="square">
            <a:spAutoFit/>
          </a:bodyPr>
          <a:lstStyle/>
          <a:p>
            <a:pPr algn="just"/>
            <a:r>
              <a:rPr lang="fr-FR" sz="2800" dirty="0">
                <a:latin typeface="Candara" panose="020E0502030303020204" pitchFamily="34" charset="0"/>
              </a:rPr>
              <a:t>Un scénario est une suite d’étapes qui décrive une interaction entre un utilisateur et un système. </a:t>
            </a:r>
          </a:p>
          <a:p>
            <a:pPr algn="just"/>
            <a:endParaRPr lang="fr-FR" sz="2800" dirty="0">
              <a:latin typeface="Candara" panose="020E0502030303020204" pitchFamily="34" charset="0"/>
            </a:endParaRPr>
          </a:p>
          <a:p>
            <a:pPr algn="just"/>
            <a:r>
              <a:rPr lang="fr-FR" sz="2800" dirty="0">
                <a:latin typeface="Candara" panose="020E0502030303020204" pitchFamily="34" charset="0"/>
              </a:rPr>
              <a:t>Si par exemple nous avons une boutique en ligne sur le web, nous pouvons avoir un scénario </a:t>
            </a:r>
            <a:r>
              <a:rPr lang="fr-FR" sz="2800" b="1" dirty="0">
                <a:latin typeface="Candara" panose="020E0502030303020204" pitchFamily="34" charset="0"/>
              </a:rPr>
              <a:t>Acheter un produit</a:t>
            </a:r>
            <a:r>
              <a:rPr lang="fr-FR" sz="2800" dirty="0">
                <a:latin typeface="Candara" panose="020E0502030303020204" pitchFamily="34" charset="0"/>
              </a:rPr>
              <a:t>. D’autres scénarios possibles : </a:t>
            </a:r>
            <a:r>
              <a:rPr lang="fr-FR" sz="2800" b="1" dirty="0">
                <a:latin typeface="Candara" panose="020E0502030303020204" pitchFamily="34" charset="0"/>
              </a:rPr>
              <a:t>valider le panier</a:t>
            </a:r>
            <a:r>
              <a:rPr lang="fr-FR" sz="2800" dirty="0">
                <a:latin typeface="Candara" panose="020E0502030303020204" pitchFamily="34" charset="0"/>
              </a:rPr>
              <a:t>, </a:t>
            </a:r>
            <a:r>
              <a:rPr lang="fr-FR" sz="2800" b="1" dirty="0">
                <a:latin typeface="Candara" panose="020E0502030303020204" pitchFamily="34" charset="0"/>
              </a:rPr>
              <a:t>se connecter/s’enregistrer</a:t>
            </a:r>
            <a:r>
              <a:rPr lang="fr-FR" sz="2800" dirty="0">
                <a:latin typeface="Candara" panose="020E0502030303020204" pitchFamily="34" charset="0"/>
              </a:rPr>
              <a:t>…</a:t>
            </a:r>
          </a:p>
          <a:p>
            <a:pPr algn="just"/>
            <a:endParaRPr lang="fr-FR" sz="2800" dirty="0">
              <a:latin typeface="Candara" panose="020E0502030303020204" pitchFamily="34" charset="0"/>
            </a:endParaRPr>
          </a:p>
          <a:p>
            <a:pPr algn="just"/>
            <a:r>
              <a:rPr lang="fr-FR" sz="2800" dirty="0">
                <a:latin typeface="Candara" panose="020E0502030303020204" pitchFamily="34" charset="0"/>
              </a:rPr>
              <a:t>Un cas d’utilisation est un ensemble de scénarios reliés par un objectif commun. </a:t>
            </a:r>
          </a:p>
        </p:txBody>
      </p:sp>
    </p:spTree>
    <p:extLst>
      <p:ext uri="{BB962C8B-B14F-4D97-AF65-F5344CB8AC3E}">
        <p14:creationId xmlns:p14="http://schemas.microsoft.com/office/powerpoint/2010/main" val="268763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EC2F1-3872-6294-49F4-5C3DEC0F8E4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01869B7-D4D6-4ECD-4959-58DEAC2B48A1}"/>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DD2ABA83-9762-51C3-D991-AEB9495A488E}"/>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00253A71-C230-8C28-AEFB-0D8E18436523}"/>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87C21BE-414E-A742-E18B-AFF76B073374}"/>
              </a:ext>
            </a:extLst>
          </p:cNvPr>
          <p:cNvSpPr/>
          <p:nvPr/>
        </p:nvSpPr>
        <p:spPr>
          <a:xfrm>
            <a:off x="710212" y="1971819"/>
            <a:ext cx="11135559" cy="3970318"/>
          </a:xfrm>
          <a:prstGeom prst="rect">
            <a:avLst/>
          </a:prstGeom>
        </p:spPr>
        <p:txBody>
          <a:bodyPr wrap="square">
            <a:spAutoFit/>
          </a:bodyPr>
          <a:lstStyle/>
          <a:p>
            <a:pPr algn="just"/>
            <a:r>
              <a:rPr lang="fr-FR" sz="2800" dirty="0">
                <a:latin typeface="Candara" panose="020E0502030303020204" pitchFamily="34" charset="0"/>
              </a:rPr>
              <a:t>Diagramme de comportement</a:t>
            </a:r>
          </a:p>
          <a:p>
            <a:pPr algn="just"/>
            <a:endParaRPr lang="fr-FR" sz="2800" dirty="0">
              <a:latin typeface="Candara" panose="020E0502030303020204" pitchFamily="34" charset="0"/>
            </a:endParaRPr>
          </a:p>
          <a:p>
            <a:pPr algn="just"/>
            <a:r>
              <a:rPr lang="fr-FR" sz="2800" dirty="0">
                <a:latin typeface="Candara" panose="020E0502030303020204" pitchFamily="34" charset="0"/>
              </a:rPr>
              <a:t>Intervient au début du développement (expression de besoin)</a:t>
            </a:r>
          </a:p>
          <a:p>
            <a:pPr algn="just"/>
            <a:endParaRPr lang="fr-FR" sz="2800" dirty="0">
              <a:latin typeface="Candara" panose="020E0502030303020204" pitchFamily="34" charset="0"/>
            </a:endParaRPr>
          </a:p>
          <a:p>
            <a:pPr algn="just"/>
            <a:r>
              <a:rPr lang="fr-FR" sz="2800" dirty="0">
                <a:latin typeface="Candara" panose="020E0502030303020204" pitchFamily="34" charset="0"/>
              </a:rPr>
              <a:t>Représenter les différentes façons dont un utilisateur peut interagir avec un système (site internet, application, logiciel…)</a:t>
            </a:r>
          </a:p>
          <a:p>
            <a:pPr algn="just"/>
            <a:endParaRPr lang="fr-FR" sz="2800" dirty="0">
              <a:latin typeface="Candara" panose="020E0502030303020204" pitchFamily="34" charset="0"/>
            </a:endParaRPr>
          </a:p>
          <a:p>
            <a:pPr algn="just"/>
            <a:r>
              <a:rPr lang="fr-FR" sz="2800" dirty="0">
                <a:latin typeface="Candara" panose="020E0502030303020204" pitchFamily="34" charset="0"/>
              </a:rPr>
              <a:t>Comment un utilisateur peut utiliser un système (description des fonctionnalités) : </a:t>
            </a:r>
            <a:r>
              <a:rPr lang="fr-FR" sz="2800" b="1" dirty="0">
                <a:latin typeface="Candara" panose="020E0502030303020204" pitchFamily="34" charset="0"/>
              </a:rPr>
              <a:t>vision orientée utilisateur et non informatique</a:t>
            </a:r>
          </a:p>
        </p:txBody>
      </p:sp>
    </p:spTree>
    <p:extLst>
      <p:ext uri="{BB962C8B-B14F-4D97-AF65-F5344CB8AC3E}">
        <p14:creationId xmlns:p14="http://schemas.microsoft.com/office/powerpoint/2010/main" val="3514339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4401205"/>
          </a:xfrm>
          <a:prstGeom prst="rect">
            <a:avLst/>
          </a:prstGeom>
        </p:spPr>
        <p:txBody>
          <a:bodyPr wrap="square">
            <a:spAutoFit/>
          </a:bodyPr>
          <a:lstStyle/>
          <a:p>
            <a:pPr algn="just"/>
            <a:r>
              <a:rPr lang="fr-FR" sz="2800" dirty="0">
                <a:latin typeface="Candara" panose="020E0502030303020204" pitchFamily="34" charset="0"/>
              </a:rPr>
              <a:t>Utiliser pour compléter une description textuelle plus approfondies (expression de besoin)</a:t>
            </a:r>
          </a:p>
          <a:p>
            <a:pPr algn="just"/>
            <a:endParaRPr lang="fr-FR" sz="2800" dirty="0">
              <a:latin typeface="Candara" panose="020E0502030303020204" pitchFamily="34" charset="0"/>
            </a:endParaRPr>
          </a:p>
          <a:p>
            <a:pPr algn="just"/>
            <a:r>
              <a:rPr lang="fr-FR" sz="2800" dirty="0">
                <a:latin typeface="Candara" panose="020E0502030303020204" pitchFamily="34" charset="0"/>
              </a:rPr>
              <a:t>Un diagramme de cas d’utilisation (Use Case) est parfait pour :</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représenter les objectifs des interactions entre le système et les utilisateurs ;</a:t>
            </a:r>
          </a:p>
          <a:p>
            <a:pPr marL="457200" indent="-457200" algn="just">
              <a:buFont typeface="Wingdings" panose="05000000000000000000" pitchFamily="2" charset="2"/>
              <a:buChar char="ü"/>
            </a:pPr>
            <a:r>
              <a:rPr lang="fr-FR" sz="2800" dirty="0">
                <a:latin typeface="Candara" panose="020E0502030303020204" pitchFamily="34" charset="0"/>
              </a:rPr>
              <a:t>définir et organiser les exigences fonctionnelles dans un système ;</a:t>
            </a:r>
          </a:p>
          <a:p>
            <a:pPr marL="457200" indent="-457200" algn="just">
              <a:buFont typeface="Wingdings" panose="05000000000000000000" pitchFamily="2" charset="2"/>
              <a:buChar char="ü"/>
            </a:pPr>
            <a:r>
              <a:rPr lang="fr-FR" sz="2800" dirty="0">
                <a:latin typeface="Candara" panose="020E0502030303020204" pitchFamily="34" charset="0"/>
              </a:rPr>
              <a:t>préciser le contexte et les exigences d'un système ;</a:t>
            </a:r>
          </a:p>
          <a:p>
            <a:pPr marL="457200" indent="-457200" algn="just">
              <a:buFont typeface="Wingdings" panose="05000000000000000000" pitchFamily="2" charset="2"/>
              <a:buChar char="ü"/>
            </a:pPr>
            <a:r>
              <a:rPr lang="fr-FR" sz="2800" dirty="0">
                <a:latin typeface="Candara" panose="020E0502030303020204" pitchFamily="34" charset="0"/>
              </a:rPr>
              <a:t>modéliser le flux de base des événements dans un cas d'utilisation.</a:t>
            </a:r>
          </a:p>
        </p:txBody>
      </p:sp>
    </p:spTree>
    <p:extLst>
      <p:ext uri="{BB962C8B-B14F-4D97-AF65-F5344CB8AC3E}">
        <p14:creationId xmlns:p14="http://schemas.microsoft.com/office/powerpoint/2010/main" val="3010601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4401205"/>
          </a:xfrm>
          <a:prstGeom prst="rect">
            <a:avLst/>
          </a:prstGeom>
        </p:spPr>
        <p:txBody>
          <a:bodyPr wrap="square">
            <a:spAutoFit/>
          </a:bodyPr>
          <a:lstStyle/>
          <a:p>
            <a:pPr algn="just"/>
            <a:r>
              <a:rPr lang="fr-FR" sz="2800" dirty="0">
                <a:latin typeface="Candara" panose="020E0502030303020204" pitchFamily="34" charset="0"/>
              </a:rPr>
              <a:t>La notation d’un diagramme de cas d’utilisation est assez simple. Quatre éléments et symboles suffisent de manière générale :</a:t>
            </a:r>
          </a:p>
          <a:p>
            <a:pPr algn="just"/>
            <a:endParaRPr lang="fr-FR" sz="2800" dirty="0">
              <a:latin typeface="Candara" panose="020E0502030303020204" pitchFamily="34" charset="0"/>
            </a:endParaRPr>
          </a:p>
          <a:p>
            <a:pPr algn="ctr"/>
            <a:r>
              <a:rPr lang="fr-FR" sz="2800" dirty="0">
                <a:latin typeface="Candara" panose="020E0502030303020204" pitchFamily="34" charset="0"/>
              </a:rPr>
              <a:t>Système</a:t>
            </a:r>
          </a:p>
          <a:p>
            <a:pPr algn="ctr"/>
            <a:endParaRPr lang="fr-FR" sz="2800" dirty="0">
              <a:latin typeface="Candara" panose="020E0502030303020204" pitchFamily="34" charset="0"/>
            </a:endParaRPr>
          </a:p>
          <a:p>
            <a:pPr algn="ctr"/>
            <a:r>
              <a:rPr lang="fr-FR" sz="2800" dirty="0">
                <a:latin typeface="Candara" panose="020E0502030303020204" pitchFamily="34" charset="0"/>
              </a:rPr>
              <a:t>Cas d’utilisation</a:t>
            </a:r>
          </a:p>
          <a:p>
            <a:pPr algn="ctr"/>
            <a:endParaRPr lang="fr-FR" sz="2800" dirty="0">
              <a:latin typeface="Candara" panose="020E0502030303020204" pitchFamily="34" charset="0"/>
            </a:endParaRPr>
          </a:p>
          <a:p>
            <a:pPr algn="ctr"/>
            <a:r>
              <a:rPr lang="fr-FR" sz="2800" dirty="0">
                <a:latin typeface="Candara" panose="020E0502030303020204" pitchFamily="34" charset="0"/>
              </a:rPr>
              <a:t>Acteur</a:t>
            </a:r>
          </a:p>
          <a:p>
            <a:pPr algn="ctr"/>
            <a:endParaRPr lang="fr-FR" sz="2800" dirty="0">
              <a:latin typeface="Candara" panose="020E0502030303020204" pitchFamily="34" charset="0"/>
            </a:endParaRPr>
          </a:p>
          <a:p>
            <a:pPr algn="ctr"/>
            <a:r>
              <a:rPr lang="fr-FR" sz="2800" dirty="0">
                <a:latin typeface="Candara" panose="020E0502030303020204" pitchFamily="34" charset="0"/>
              </a:rPr>
              <a:t>Relation</a:t>
            </a:r>
          </a:p>
        </p:txBody>
      </p:sp>
    </p:spTree>
    <p:extLst>
      <p:ext uri="{BB962C8B-B14F-4D97-AF65-F5344CB8AC3E}">
        <p14:creationId xmlns:p14="http://schemas.microsoft.com/office/powerpoint/2010/main" val="1115742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1" y="2259418"/>
            <a:ext cx="5385788" cy="3970318"/>
          </a:xfrm>
          <a:prstGeom prst="rect">
            <a:avLst/>
          </a:prstGeom>
        </p:spPr>
        <p:txBody>
          <a:bodyPr wrap="square">
            <a:spAutoFit/>
          </a:bodyPr>
          <a:lstStyle/>
          <a:p>
            <a:pPr algn="just"/>
            <a:r>
              <a:rPr lang="fr-FR" sz="2800" dirty="0">
                <a:latin typeface="Candara" panose="020E0502030303020204" pitchFamily="34" charset="0"/>
              </a:rPr>
              <a:t>Le système : séquence spécifique d'actions et d'interactions entre les acteurs et le système. C’est l’ensemble des cas d’utilisation à couvrir.</a:t>
            </a:r>
          </a:p>
          <a:p>
            <a:pPr algn="just"/>
            <a:endParaRPr lang="fr-FR" sz="2800" dirty="0">
              <a:latin typeface="Candara" panose="020E0502030303020204" pitchFamily="34" charset="0"/>
            </a:endParaRPr>
          </a:p>
          <a:p>
            <a:pPr algn="just"/>
            <a:r>
              <a:rPr lang="fr-FR" sz="2800" dirty="0">
                <a:latin typeface="Candara" panose="020E0502030303020204" pitchFamily="34" charset="0"/>
              </a:rPr>
              <a:t>Il est généralement présenté sous forme de rectangle en UML, ayant une brève description.</a:t>
            </a:r>
          </a:p>
        </p:txBody>
      </p:sp>
      <p:sp>
        <p:nvSpPr>
          <p:cNvPr id="3" name="Rectangle 2">
            <a:extLst>
              <a:ext uri="{FF2B5EF4-FFF2-40B4-BE49-F238E27FC236}">
                <a16:creationId xmlns:a16="http://schemas.microsoft.com/office/drawing/2014/main" id="{2549785C-6E51-4ECC-9600-F1112D93274B}"/>
              </a:ext>
            </a:extLst>
          </p:cNvPr>
          <p:cNvSpPr/>
          <p:nvPr/>
        </p:nvSpPr>
        <p:spPr>
          <a:xfrm>
            <a:off x="7540101" y="2228994"/>
            <a:ext cx="3941685" cy="4369978"/>
          </a:xfrm>
          <a:prstGeom prst="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8" name="ZoneTexte 7">
            <a:extLst>
              <a:ext uri="{FF2B5EF4-FFF2-40B4-BE49-F238E27FC236}">
                <a16:creationId xmlns:a16="http://schemas.microsoft.com/office/drawing/2014/main" id="{5376E981-E52B-4F7E-9F39-408892522B79}"/>
              </a:ext>
            </a:extLst>
          </p:cNvPr>
          <p:cNvSpPr txBox="1"/>
          <p:nvPr/>
        </p:nvSpPr>
        <p:spPr>
          <a:xfrm>
            <a:off x="7540101" y="1859662"/>
            <a:ext cx="2002631" cy="369332"/>
          </a:xfrm>
          <a:prstGeom prst="rect">
            <a:avLst/>
          </a:prstGeom>
          <a:noFill/>
        </p:spPr>
        <p:txBody>
          <a:bodyPr wrap="square">
            <a:spAutoFit/>
          </a:bodyPr>
          <a:lstStyle/>
          <a:p>
            <a:r>
              <a:rPr lang="fr-FR" sz="1800" dirty="0">
                <a:latin typeface="Candara" panose="020E0502030303020204" pitchFamily="34" charset="0"/>
              </a:rPr>
              <a:t>Brève description</a:t>
            </a:r>
            <a:endParaRPr lang="fr-FR" dirty="0"/>
          </a:p>
        </p:txBody>
      </p:sp>
    </p:spTree>
    <p:extLst>
      <p:ext uri="{BB962C8B-B14F-4D97-AF65-F5344CB8AC3E}">
        <p14:creationId xmlns:p14="http://schemas.microsoft.com/office/powerpoint/2010/main" val="881376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2660518"/>
            <a:ext cx="5113539" cy="3108543"/>
          </a:xfrm>
          <a:prstGeom prst="rect">
            <a:avLst/>
          </a:prstGeom>
        </p:spPr>
        <p:txBody>
          <a:bodyPr wrap="square">
            <a:spAutoFit/>
          </a:bodyPr>
          <a:lstStyle/>
          <a:p>
            <a:pPr algn="just"/>
            <a:r>
              <a:rPr lang="fr-FR" sz="2800" dirty="0">
                <a:latin typeface="Candara" panose="020E0502030303020204" pitchFamily="34" charset="0"/>
              </a:rPr>
              <a:t>Un cas d’utilisation est un scénario prévu par le système.</a:t>
            </a:r>
          </a:p>
          <a:p>
            <a:pPr algn="just"/>
            <a:endParaRPr lang="fr-FR" sz="2800" dirty="0">
              <a:latin typeface="Candara" panose="020E0502030303020204" pitchFamily="34" charset="0"/>
            </a:endParaRPr>
          </a:p>
          <a:p>
            <a:pPr algn="just"/>
            <a:r>
              <a:rPr lang="fr-FR" sz="2800" dirty="0">
                <a:latin typeface="Candara" panose="020E0502030303020204" pitchFamily="34" charset="0"/>
              </a:rPr>
              <a:t>Les cas d’utilisation sont représentés par une ellipse contenant le nom du cas (un verbe à l’infinitif).</a:t>
            </a:r>
          </a:p>
        </p:txBody>
      </p:sp>
      <p:sp>
        <p:nvSpPr>
          <p:cNvPr id="5" name="Ellipse 4">
            <a:extLst>
              <a:ext uri="{FF2B5EF4-FFF2-40B4-BE49-F238E27FC236}">
                <a16:creationId xmlns:a16="http://schemas.microsoft.com/office/drawing/2014/main" id="{0FD928AC-E06E-4597-AFB2-12BB566BA3D4}"/>
              </a:ext>
            </a:extLst>
          </p:cNvPr>
          <p:cNvSpPr/>
          <p:nvPr/>
        </p:nvSpPr>
        <p:spPr>
          <a:xfrm>
            <a:off x="6657973" y="2919389"/>
            <a:ext cx="4429125" cy="2590800"/>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9" name="ZoneTexte 8">
            <a:extLst>
              <a:ext uri="{FF2B5EF4-FFF2-40B4-BE49-F238E27FC236}">
                <a16:creationId xmlns:a16="http://schemas.microsoft.com/office/drawing/2014/main" id="{14EFA215-8D16-4FC0-8B2B-6783395973B3}"/>
              </a:ext>
            </a:extLst>
          </p:cNvPr>
          <p:cNvSpPr txBox="1"/>
          <p:nvPr/>
        </p:nvSpPr>
        <p:spPr>
          <a:xfrm>
            <a:off x="7871219" y="4030123"/>
            <a:ext cx="2002631" cy="369332"/>
          </a:xfrm>
          <a:prstGeom prst="rect">
            <a:avLst/>
          </a:prstGeom>
          <a:noFill/>
        </p:spPr>
        <p:txBody>
          <a:bodyPr wrap="square">
            <a:spAutoFit/>
          </a:bodyPr>
          <a:lstStyle/>
          <a:p>
            <a:r>
              <a:rPr lang="fr-FR" sz="1800" dirty="0">
                <a:latin typeface="Candara" panose="020E0502030303020204" pitchFamily="34" charset="0"/>
              </a:rPr>
              <a:t>Verbe à l’infinitif</a:t>
            </a:r>
            <a:endParaRPr lang="fr-FR" dirty="0"/>
          </a:p>
        </p:txBody>
      </p:sp>
    </p:spTree>
    <p:extLst>
      <p:ext uri="{BB962C8B-B14F-4D97-AF65-F5344CB8AC3E}">
        <p14:creationId xmlns:p14="http://schemas.microsoft.com/office/powerpoint/2010/main" val="2339472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3AED5DF-F4EB-4FF2-8C6D-C7EBC1317641}"/>
              </a:ext>
            </a:extLst>
          </p:cNvPr>
          <p:cNvSpPr/>
          <p:nvPr/>
        </p:nvSpPr>
        <p:spPr>
          <a:xfrm>
            <a:off x="4125156" y="2275130"/>
            <a:ext cx="3941685" cy="4369978"/>
          </a:xfrm>
          <a:prstGeom prst="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73A52B8E-AEDF-45B4-8003-8C26E5D858FB}"/>
              </a:ext>
            </a:extLst>
          </p:cNvPr>
          <p:cNvSpPr txBox="1"/>
          <p:nvPr/>
        </p:nvSpPr>
        <p:spPr>
          <a:xfrm>
            <a:off x="4093367" y="1905798"/>
            <a:ext cx="2002631" cy="369332"/>
          </a:xfrm>
          <a:prstGeom prst="rect">
            <a:avLst/>
          </a:prstGeom>
          <a:noFill/>
        </p:spPr>
        <p:txBody>
          <a:bodyPr wrap="square">
            <a:spAutoFit/>
          </a:bodyPr>
          <a:lstStyle/>
          <a:p>
            <a:r>
              <a:rPr lang="fr-FR" sz="1800" dirty="0">
                <a:latin typeface="Candara" panose="020E0502030303020204" pitchFamily="34" charset="0"/>
              </a:rPr>
              <a:t>Brève description</a:t>
            </a:r>
            <a:endParaRPr lang="fr-FR" dirty="0"/>
          </a:p>
        </p:txBody>
      </p:sp>
      <p:sp>
        <p:nvSpPr>
          <p:cNvPr id="11" name="Ellipse 10">
            <a:extLst>
              <a:ext uri="{FF2B5EF4-FFF2-40B4-BE49-F238E27FC236}">
                <a16:creationId xmlns:a16="http://schemas.microsoft.com/office/drawing/2014/main" id="{1BF885EC-B049-473A-818A-7D97133E30F9}"/>
              </a:ext>
            </a:extLst>
          </p:cNvPr>
          <p:cNvSpPr/>
          <p:nvPr/>
        </p:nvSpPr>
        <p:spPr>
          <a:xfrm>
            <a:off x="4962523" y="29369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943BB92E-99AF-49F0-A3A6-D98798B9694D}"/>
              </a:ext>
            </a:extLst>
          </p:cNvPr>
          <p:cNvSpPr txBox="1"/>
          <p:nvPr/>
        </p:nvSpPr>
        <p:spPr>
          <a:xfrm>
            <a:off x="5464371" y="3290500"/>
            <a:ext cx="1263253" cy="276999"/>
          </a:xfrm>
          <a:prstGeom prst="rect">
            <a:avLst/>
          </a:prstGeom>
          <a:noFill/>
        </p:spPr>
        <p:txBody>
          <a:bodyPr wrap="square">
            <a:spAutoFit/>
          </a:bodyPr>
          <a:lstStyle/>
          <a:p>
            <a:r>
              <a:rPr lang="fr-FR" sz="1200" dirty="0">
                <a:latin typeface="Candara" panose="020E0502030303020204" pitchFamily="34" charset="0"/>
              </a:rPr>
              <a:t>Verbe à l’infinitif</a:t>
            </a:r>
            <a:endParaRPr lang="fr-FR" sz="1200" dirty="0"/>
          </a:p>
        </p:txBody>
      </p:sp>
      <p:sp>
        <p:nvSpPr>
          <p:cNvPr id="13" name="Ellipse 12">
            <a:extLst>
              <a:ext uri="{FF2B5EF4-FFF2-40B4-BE49-F238E27FC236}">
                <a16:creationId xmlns:a16="http://schemas.microsoft.com/office/drawing/2014/main" id="{D6DCEFD5-F66C-48BC-9DD0-0C1A96E2FB7A}"/>
              </a:ext>
            </a:extLst>
          </p:cNvPr>
          <p:cNvSpPr/>
          <p:nvPr/>
        </p:nvSpPr>
        <p:spPr>
          <a:xfrm>
            <a:off x="4962523" y="4887721"/>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4" name="ZoneTexte 13">
            <a:extLst>
              <a:ext uri="{FF2B5EF4-FFF2-40B4-BE49-F238E27FC236}">
                <a16:creationId xmlns:a16="http://schemas.microsoft.com/office/drawing/2014/main" id="{A130729C-561F-4355-84DD-DFE329E2EBF5}"/>
              </a:ext>
            </a:extLst>
          </p:cNvPr>
          <p:cNvSpPr txBox="1"/>
          <p:nvPr/>
        </p:nvSpPr>
        <p:spPr>
          <a:xfrm>
            <a:off x="5464371" y="5241303"/>
            <a:ext cx="1263253" cy="276999"/>
          </a:xfrm>
          <a:prstGeom prst="rect">
            <a:avLst/>
          </a:prstGeom>
          <a:noFill/>
        </p:spPr>
        <p:txBody>
          <a:bodyPr wrap="square">
            <a:spAutoFit/>
          </a:bodyPr>
          <a:lstStyle/>
          <a:p>
            <a:r>
              <a:rPr lang="fr-FR" sz="1200" dirty="0">
                <a:latin typeface="Candara" panose="020E0502030303020204" pitchFamily="34" charset="0"/>
              </a:rPr>
              <a:t>Verbe à l’infinitif</a:t>
            </a:r>
            <a:endParaRPr lang="fr-FR" sz="1200" dirty="0"/>
          </a:p>
        </p:txBody>
      </p:sp>
    </p:spTree>
    <p:extLst>
      <p:ext uri="{BB962C8B-B14F-4D97-AF65-F5344CB8AC3E}">
        <p14:creationId xmlns:p14="http://schemas.microsoft.com/office/powerpoint/2010/main" val="1735753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1" y="2259418"/>
            <a:ext cx="5385788" cy="3970318"/>
          </a:xfrm>
          <a:prstGeom prst="rect">
            <a:avLst/>
          </a:prstGeom>
        </p:spPr>
        <p:txBody>
          <a:bodyPr wrap="square">
            <a:spAutoFit/>
          </a:bodyPr>
          <a:lstStyle/>
          <a:p>
            <a:pPr algn="just"/>
            <a:r>
              <a:rPr lang="fr-FR" sz="2800" dirty="0">
                <a:latin typeface="Candara" panose="020E0502030303020204" pitchFamily="34" charset="0"/>
              </a:rPr>
              <a:t>Les acteurs : utilisateurs qui interagissent avec un système (une personne, une organisation ou un système externe qui interagit avec le système). </a:t>
            </a:r>
          </a:p>
          <a:p>
            <a:pPr algn="just"/>
            <a:endParaRPr lang="fr-FR" sz="2800" dirty="0">
              <a:latin typeface="Candara" panose="020E0502030303020204" pitchFamily="34" charset="0"/>
            </a:endParaRPr>
          </a:p>
          <a:p>
            <a:pPr algn="just"/>
            <a:r>
              <a:rPr lang="fr-FR" sz="2800" dirty="0">
                <a:latin typeface="Candara" panose="020E0502030303020204" pitchFamily="34" charset="0"/>
              </a:rPr>
              <a:t>Un acteur est un élément externe qui produit ou consomme les données du système.</a:t>
            </a:r>
          </a:p>
        </p:txBody>
      </p:sp>
      <p:sp>
        <p:nvSpPr>
          <p:cNvPr id="9" name="Ellipse 8">
            <a:extLst>
              <a:ext uri="{FF2B5EF4-FFF2-40B4-BE49-F238E27FC236}">
                <a16:creationId xmlns:a16="http://schemas.microsoft.com/office/drawing/2014/main" id="{4018250E-A8BE-4EE4-8FE4-D0FA6FCABEBD}"/>
              </a:ext>
            </a:extLst>
          </p:cNvPr>
          <p:cNvSpPr/>
          <p:nvPr/>
        </p:nvSpPr>
        <p:spPr>
          <a:xfrm>
            <a:off x="8883126" y="2079411"/>
            <a:ext cx="1091953" cy="1109708"/>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209BAA85-1C84-4152-8692-D66D0120715D}"/>
              </a:ext>
            </a:extLst>
          </p:cNvPr>
          <p:cNvCxnSpPr>
            <a:stCxn id="9" idx="4"/>
          </p:cNvCxnSpPr>
          <p:nvPr/>
        </p:nvCxnSpPr>
        <p:spPr>
          <a:xfrm>
            <a:off x="9429103" y="3189119"/>
            <a:ext cx="4439" cy="1597981"/>
          </a:xfrm>
          <a:prstGeom prst="line">
            <a:avLst/>
          </a:prstGeom>
          <a:ln w="50800"/>
        </p:spPr>
        <p:style>
          <a:lnRef idx="3">
            <a:schemeClr val="dk1"/>
          </a:lnRef>
          <a:fillRef idx="0">
            <a:schemeClr val="dk1"/>
          </a:fillRef>
          <a:effectRef idx="2">
            <a:schemeClr val="dk1"/>
          </a:effectRef>
          <a:fontRef idx="minor">
            <a:schemeClr val="tx1"/>
          </a:fontRef>
        </p:style>
      </p:cxnSp>
      <p:cxnSp>
        <p:nvCxnSpPr>
          <p:cNvPr id="11" name="Connecteur droit 10">
            <a:extLst>
              <a:ext uri="{FF2B5EF4-FFF2-40B4-BE49-F238E27FC236}">
                <a16:creationId xmlns:a16="http://schemas.microsoft.com/office/drawing/2014/main" id="{A767688D-477E-4FFB-92AD-DC41BDAC4AF9}"/>
              </a:ext>
            </a:extLst>
          </p:cNvPr>
          <p:cNvCxnSpPr/>
          <p:nvPr/>
        </p:nvCxnSpPr>
        <p:spPr>
          <a:xfrm flipH="1">
            <a:off x="8554652" y="4747149"/>
            <a:ext cx="874451" cy="114521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978619B8-334D-487A-9E45-489AAAA5027D}"/>
              </a:ext>
            </a:extLst>
          </p:cNvPr>
          <p:cNvCxnSpPr/>
          <p:nvPr/>
        </p:nvCxnSpPr>
        <p:spPr>
          <a:xfrm>
            <a:off x="9437333" y="4756674"/>
            <a:ext cx="838940" cy="114521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5077181D-B19C-4A6F-8480-E972ADA191DC}"/>
              </a:ext>
            </a:extLst>
          </p:cNvPr>
          <p:cNvCxnSpPr/>
          <p:nvPr/>
        </p:nvCxnSpPr>
        <p:spPr>
          <a:xfrm>
            <a:off x="8554652" y="3708462"/>
            <a:ext cx="1731146"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74F0B08B-10FE-4215-8334-2DC73303761E}"/>
              </a:ext>
            </a:extLst>
          </p:cNvPr>
          <p:cNvSpPr txBox="1"/>
          <p:nvPr/>
        </p:nvSpPr>
        <p:spPr>
          <a:xfrm>
            <a:off x="8571760" y="6045070"/>
            <a:ext cx="1731146" cy="369332"/>
          </a:xfrm>
          <a:prstGeom prst="rect">
            <a:avLst/>
          </a:prstGeom>
          <a:noFill/>
        </p:spPr>
        <p:txBody>
          <a:bodyPr wrap="square">
            <a:spAutoFit/>
          </a:bodyPr>
          <a:lstStyle/>
          <a:p>
            <a:r>
              <a:rPr lang="fr-FR" dirty="0">
                <a:latin typeface="Candara" panose="020E0502030303020204" pitchFamily="34" charset="0"/>
              </a:rPr>
              <a:t>Nom de l’acteur</a:t>
            </a:r>
            <a:endParaRPr lang="fr-FR" dirty="0"/>
          </a:p>
        </p:txBody>
      </p:sp>
    </p:spTree>
    <p:extLst>
      <p:ext uri="{BB962C8B-B14F-4D97-AF65-F5344CB8AC3E}">
        <p14:creationId xmlns:p14="http://schemas.microsoft.com/office/powerpoint/2010/main" val="4220299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3AED5DF-F4EB-4FF2-8C6D-C7EBC1317641}"/>
              </a:ext>
            </a:extLst>
          </p:cNvPr>
          <p:cNvSpPr/>
          <p:nvPr/>
        </p:nvSpPr>
        <p:spPr>
          <a:xfrm>
            <a:off x="4125156" y="2275130"/>
            <a:ext cx="3941685" cy="4369978"/>
          </a:xfrm>
          <a:prstGeom prst="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73A52B8E-AEDF-45B4-8003-8C26E5D858FB}"/>
              </a:ext>
            </a:extLst>
          </p:cNvPr>
          <p:cNvSpPr txBox="1"/>
          <p:nvPr/>
        </p:nvSpPr>
        <p:spPr>
          <a:xfrm>
            <a:off x="4093367" y="1905798"/>
            <a:ext cx="2002631" cy="369332"/>
          </a:xfrm>
          <a:prstGeom prst="rect">
            <a:avLst/>
          </a:prstGeom>
          <a:noFill/>
        </p:spPr>
        <p:txBody>
          <a:bodyPr wrap="square">
            <a:spAutoFit/>
          </a:bodyPr>
          <a:lstStyle/>
          <a:p>
            <a:r>
              <a:rPr lang="fr-FR" sz="1800" dirty="0">
                <a:latin typeface="Candara" panose="020E0502030303020204" pitchFamily="34" charset="0"/>
              </a:rPr>
              <a:t>Brève description</a:t>
            </a:r>
            <a:endParaRPr lang="fr-FR" dirty="0"/>
          </a:p>
        </p:txBody>
      </p:sp>
      <p:sp>
        <p:nvSpPr>
          <p:cNvPr id="11" name="Ellipse 10">
            <a:extLst>
              <a:ext uri="{FF2B5EF4-FFF2-40B4-BE49-F238E27FC236}">
                <a16:creationId xmlns:a16="http://schemas.microsoft.com/office/drawing/2014/main" id="{1BF885EC-B049-473A-818A-7D97133E30F9}"/>
              </a:ext>
            </a:extLst>
          </p:cNvPr>
          <p:cNvSpPr/>
          <p:nvPr/>
        </p:nvSpPr>
        <p:spPr>
          <a:xfrm>
            <a:off x="4962523" y="29369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943BB92E-99AF-49F0-A3A6-D98798B9694D}"/>
              </a:ext>
            </a:extLst>
          </p:cNvPr>
          <p:cNvSpPr txBox="1"/>
          <p:nvPr/>
        </p:nvSpPr>
        <p:spPr>
          <a:xfrm>
            <a:off x="5464371" y="3290500"/>
            <a:ext cx="1263253" cy="276999"/>
          </a:xfrm>
          <a:prstGeom prst="rect">
            <a:avLst/>
          </a:prstGeom>
          <a:noFill/>
        </p:spPr>
        <p:txBody>
          <a:bodyPr wrap="square">
            <a:spAutoFit/>
          </a:bodyPr>
          <a:lstStyle/>
          <a:p>
            <a:r>
              <a:rPr lang="fr-FR" sz="1200" dirty="0">
                <a:latin typeface="Candara" panose="020E0502030303020204" pitchFamily="34" charset="0"/>
              </a:rPr>
              <a:t>Verbe à l’infinitif</a:t>
            </a:r>
            <a:endParaRPr lang="fr-FR" sz="1200" dirty="0"/>
          </a:p>
        </p:txBody>
      </p:sp>
      <p:sp>
        <p:nvSpPr>
          <p:cNvPr id="13" name="Ellipse 12">
            <a:extLst>
              <a:ext uri="{FF2B5EF4-FFF2-40B4-BE49-F238E27FC236}">
                <a16:creationId xmlns:a16="http://schemas.microsoft.com/office/drawing/2014/main" id="{D6DCEFD5-F66C-48BC-9DD0-0C1A96E2FB7A}"/>
              </a:ext>
            </a:extLst>
          </p:cNvPr>
          <p:cNvSpPr/>
          <p:nvPr/>
        </p:nvSpPr>
        <p:spPr>
          <a:xfrm>
            <a:off x="4962523" y="4887721"/>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4" name="ZoneTexte 13">
            <a:extLst>
              <a:ext uri="{FF2B5EF4-FFF2-40B4-BE49-F238E27FC236}">
                <a16:creationId xmlns:a16="http://schemas.microsoft.com/office/drawing/2014/main" id="{A130729C-561F-4355-84DD-DFE329E2EBF5}"/>
              </a:ext>
            </a:extLst>
          </p:cNvPr>
          <p:cNvSpPr txBox="1"/>
          <p:nvPr/>
        </p:nvSpPr>
        <p:spPr>
          <a:xfrm>
            <a:off x="5464371" y="5241303"/>
            <a:ext cx="1263253" cy="276999"/>
          </a:xfrm>
          <a:prstGeom prst="rect">
            <a:avLst/>
          </a:prstGeom>
          <a:noFill/>
        </p:spPr>
        <p:txBody>
          <a:bodyPr wrap="square">
            <a:spAutoFit/>
          </a:bodyPr>
          <a:lstStyle/>
          <a:p>
            <a:r>
              <a:rPr lang="fr-FR" sz="1200" dirty="0">
                <a:latin typeface="Candara" panose="020E0502030303020204" pitchFamily="34" charset="0"/>
              </a:rPr>
              <a:t>Verbe à l’infinitif</a:t>
            </a:r>
            <a:endParaRPr lang="fr-FR" sz="1200" dirty="0"/>
          </a:p>
        </p:txBody>
      </p:sp>
      <p:pic>
        <p:nvPicPr>
          <p:cNvPr id="3" name="Image 2">
            <a:extLst>
              <a:ext uri="{FF2B5EF4-FFF2-40B4-BE49-F238E27FC236}">
                <a16:creationId xmlns:a16="http://schemas.microsoft.com/office/drawing/2014/main" id="{AFF30614-D578-415D-8F01-D30D7519F3A0}"/>
              </a:ext>
            </a:extLst>
          </p:cNvPr>
          <p:cNvPicPr>
            <a:picLocks noChangeAspect="1"/>
          </p:cNvPicPr>
          <p:nvPr/>
        </p:nvPicPr>
        <p:blipFill>
          <a:blip r:embed="rId2"/>
          <a:stretch>
            <a:fillRect/>
          </a:stretch>
        </p:blipFill>
        <p:spPr>
          <a:xfrm>
            <a:off x="1944403" y="3567499"/>
            <a:ext cx="570171" cy="1384702"/>
          </a:xfrm>
          <a:prstGeom prst="rect">
            <a:avLst/>
          </a:prstGeom>
        </p:spPr>
      </p:pic>
    </p:spTree>
    <p:extLst>
      <p:ext uri="{BB962C8B-B14F-4D97-AF65-F5344CB8AC3E}">
        <p14:creationId xmlns:p14="http://schemas.microsoft.com/office/powerpoint/2010/main" val="2860816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1" y="2259418"/>
            <a:ext cx="7948014" cy="3970318"/>
          </a:xfrm>
          <a:prstGeom prst="rect">
            <a:avLst/>
          </a:prstGeom>
        </p:spPr>
        <p:txBody>
          <a:bodyPr wrap="square">
            <a:spAutoFit/>
          </a:bodyPr>
          <a:lstStyle/>
          <a:p>
            <a:pPr algn="just"/>
            <a:r>
              <a:rPr lang="fr-FR" sz="2800" dirty="0">
                <a:latin typeface="Candara" panose="020E0502030303020204" pitchFamily="34" charset="0"/>
              </a:rPr>
              <a:t>Une relation : c’est le lien établi entre un acteur et un cas d’utilisation.</a:t>
            </a:r>
          </a:p>
          <a:p>
            <a:pPr algn="just"/>
            <a:endParaRPr lang="fr-FR" sz="2800" dirty="0">
              <a:latin typeface="Candara" panose="020E0502030303020204" pitchFamily="34" charset="0"/>
            </a:endParaRPr>
          </a:p>
          <a:p>
            <a:pPr algn="just"/>
            <a:r>
              <a:rPr lang="fr-FR" sz="2800" dirty="0">
                <a:latin typeface="Candara" panose="020E0502030303020204" pitchFamily="34" charset="0"/>
              </a:rPr>
              <a:t>Un acteur peut être en relation à un ou plusieurs cas d’utilisation, et de même un cas d’utilisation peut être en relation à un ou plusieurs acteurs.</a:t>
            </a:r>
          </a:p>
          <a:p>
            <a:pPr algn="just"/>
            <a:endParaRPr lang="fr-FR" sz="2800" dirty="0">
              <a:latin typeface="Candara" panose="020E0502030303020204" pitchFamily="34" charset="0"/>
            </a:endParaRPr>
          </a:p>
          <a:p>
            <a:pPr algn="just"/>
            <a:r>
              <a:rPr lang="fr-FR" sz="2800" dirty="0">
                <a:latin typeface="Candara" panose="020E0502030303020204" pitchFamily="34" charset="0"/>
              </a:rPr>
              <a:t>La relation la plus utilisée dans un diagramme de cas d’utilisation est la relation d’association</a:t>
            </a:r>
          </a:p>
        </p:txBody>
      </p:sp>
      <p:cxnSp>
        <p:nvCxnSpPr>
          <p:cNvPr id="13" name="Connecteur droit 12">
            <a:extLst>
              <a:ext uri="{FF2B5EF4-FFF2-40B4-BE49-F238E27FC236}">
                <a16:creationId xmlns:a16="http://schemas.microsoft.com/office/drawing/2014/main" id="{5077181D-B19C-4A6F-8480-E972ADA191DC}"/>
              </a:ext>
            </a:extLst>
          </p:cNvPr>
          <p:cNvCxnSpPr>
            <a:cxnSpLocks/>
          </p:cNvCxnSpPr>
          <p:nvPr/>
        </p:nvCxnSpPr>
        <p:spPr>
          <a:xfrm>
            <a:off x="9048750" y="3708462"/>
            <a:ext cx="25812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74F0B08B-10FE-4215-8334-2DC73303761E}"/>
              </a:ext>
            </a:extLst>
          </p:cNvPr>
          <p:cNvSpPr txBox="1"/>
          <p:nvPr/>
        </p:nvSpPr>
        <p:spPr>
          <a:xfrm>
            <a:off x="9048750" y="3875245"/>
            <a:ext cx="2581274" cy="369332"/>
          </a:xfrm>
          <a:prstGeom prst="rect">
            <a:avLst/>
          </a:prstGeom>
          <a:noFill/>
        </p:spPr>
        <p:txBody>
          <a:bodyPr wrap="square">
            <a:spAutoFit/>
          </a:bodyPr>
          <a:lstStyle/>
          <a:p>
            <a:pPr algn="ctr"/>
            <a:r>
              <a:rPr lang="fr-FR" dirty="0">
                <a:latin typeface="Candara" panose="020E0502030303020204" pitchFamily="34" charset="0"/>
              </a:rPr>
              <a:t>Nom de l’association</a:t>
            </a:r>
            <a:endParaRPr lang="fr-FR" dirty="0"/>
          </a:p>
        </p:txBody>
      </p:sp>
    </p:spTree>
    <p:extLst>
      <p:ext uri="{BB962C8B-B14F-4D97-AF65-F5344CB8AC3E}">
        <p14:creationId xmlns:p14="http://schemas.microsoft.com/office/powerpoint/2010/main" val="788819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3AED5DF-F4EB-4FF2-8C6D-C7EBC1317641}"/>
              </a:ext>
            </a:extLst>
          </p:cNvPr>
          <p:cNvSpPr/>
          <p:nvPr/>
        </p:nvSpPr>
        <p:spPr>
          <a:xfrm>
            <a:off x="4125156" y="2275130"/>
            <a:ext cx="3941685" cy="4369978"/>
          </a:xfrm>
          <a:prstGeom prst="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73A52B8E-AEDF-45B4-8003-8C26E5D858FB}"/>
              </a:ext>
            </a:extLst>
          </p:cNvPr>
          <p:cNvSpPr txBox="1"/>
          <p:nvPr/>
        </p:nvSpPr>
        <p:spPr>
          <a:xfrm>
            <a:off x="4093367" y="1905798"/>
            <a:ext cx="2002631" cy="369332"/>
          </a:xfrm>
          <a:prstGeom prst="rect">
            <a:avLst/>
          </a:prstGeom>
          <a:noFill/>
        </p:spPr>
        <p:txBody>
          <a:bodyPr wrap="square">
            <a:spAutoFit/>
          </a:bodyPr>
          <a:lstStyle/>
          <a:p>
            <a:r>
              <a:rPr lang="fr-FR" sz="1800" dirty="0">
                <a:latin typeface="Candara" panose="020E0502030303020204" pitchFamily="34" charset="0"/>
              </a:rPr>
              <a:t>Brève description</a:t>
            </a:r>
            <a:endParaRPr lang="fr-FR" dirty="0"/>
          </a:p>
        </p:txBody>
      </p:sp>
      <p:sp>
        <p:nvSpPr>
          <p:cNvPr id="11" name="Ellipse 10">
            <a:extLst>
              <a:ext uri="{FF2B5EF4-FFF2-40B4-BE49-F238E27FC236}">
                <a16:creationId xmlns:a16="http://schemas.microsoft.com/office/drawing/2014/main" id="{1BF885EC-B049-473A-818A-7D97133E30F9}"/>
              </a:ext>
            </a:extLst>
          </p:cNvPr>
          <p:cNvSpPr/>
          <p:nvPr/>
        </p:nvSpPr>
        <p:spPr>
          <a:xfrm>
            <a:off x="4962523" y="29369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943BB92E-99AF-49F0-A3A6-D98798B9694D}"/>
              </a:ext>
            </a:extLst>
          </p:cNvPr>
          <p:cNvSpPr txBox="1"/>
          <p:nvPr/>
        </p:nvSpPr>
        <p:spPr>
          <a:xfrm>
            <a:off x="5464371" y="3290500"/>
            <a:ext cx="1263253" cy="276999"/>
          </a:xfrm>
          <a:prstGeom prst="rect">
            <a:avLst/>
          </a:prstGeom>
          <a:noFill/>
        </p:spPr>
        <p:txBody>
          <a:bodyPr wrap="square">
            <a:spAutoFit/>
          </a:bodyPr>
          <a:lstStyle/>
          <a:p>
            <a:r>
              <a:rPr lang="fr-FR" sz="1200" dirty="0">
                <a:latin typeface="Candara" panose="020E0502030303020204" pitchFamily="34" charset="0"/>
              </a:rPr>
              <a:t>Verbe à l’infinitif</a:t>
            </a:r>
            <a:endParaRPr lang="fr-FR" sz="1200" dirty="0"/>
          </a:p>
        </p:txBody>
      </p:sp>
      <p:sp>
        <p:nvSpPr>
          <p:cNvPr id="13" name="Ellipse 12">
            <a:extLst>
              <a:ext uri="{FF2B5EF4-FFF2-40B4-BE49-F238E27FC236}">
                <a16:creationId xmlns:a16="http://schemas.microsoft.com/office/drawing/2014/main" id="{D6DCEFD5-F66C-48BC-9DD0-0C1A96E2FB7A}"/>
              </a:ext>
            </a:extLst>
          </p:cNvPr>
          <p:cNvSpPr/>
          <p:nvPr/>
        </p:nvSpPr>
        <p:spPr>
          <a:xfrm>
            <a:off x="4962523" y="4887721"/>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4" name="ZoneTexte 13">
            <a:extLst>
              <a:ext uri="{FF2B5EF4-FFF2-40B4-BE49-F238E27FC236}">
                <a16:creationId xmlns:a16="http://schemas.microsoft.com/office/drawing/2014/main" id="{A130729C-561F-4355-84DD-DFE329E2EBF5}"/>
              </a:ext>
            </a:extLst>
          </p:cNvPr>
          <p:cNvSpPr txBox="1"/>
          <p:nvPr/>
        </p:nvSpPr>
        <p:spPr>
          <a:xfrm>
            <a:off x="5464371" y="5241303"/>
            <a:ext cx="1263253" cy="276999"/>
          </a:xfrm>
          <a:prstGeom prst="rect">
            <a:avLst/>
          </a:prstGeom>
          <a:noFill/>
        </p:spPr>
        <p:txBody>
          <a:bodyPr wrap="square">
            <a:spAutoFit/>
          </a:bodyPr>
          <a:lstStyle/>
          <a:p>
            <a:r>
              <a:rPr lang="fr-FR" sz="1200" dirty="0">
                <a:latin typeface="Candara" panose="020E0502030303020204" pitchFamily="34" charset="0"/>
              </a:rPr>
              <a:t>Verbe à l’infinitif</a:t>
            </a:r>
            <a:endParaRPr lang="fr-FR" sz="1200" dirty="0"/>
          </a:p>
        </p:txBody>
      </p:sp>
      <p:pic>
        <p:nvPicPr>
          <p:cNvPr id="3" name="Image 2">
            <a:extLst>
              <a:ext uri="{FF2B5EF4-FFF2-40B4-BE49-F238E27FC236}">
                <a16:creationId xmlns:a16="http://schemas.microsoft.com/office/drawing/2014/main" id="{AFF30614-D578-415D-8F01-D30D7519F3A0}"/>
              </a:ext>
            </a:extLst>
          </p:cNvPr>
          <p:cNvPicPr>
            <a:picLocks noChangeAspect="1"/>
          </p:cNvPicPr>
          <p:nvPr/>
        </p:nvPicPr>
        <p:blipFill>
          <a:blip r:embed="rId2"/>
          <a:stretch>
            <a:fillRect/>
          </a:stretch>
        </p:blipFill>
        <p:spPr>
          <a:xfrm>
            <a:off x="1944403" y="3567499"/>
            <a:ext cx="570171" cy="1384702"/>
          </a:xfrm>
          <a:prstGeom prst="rect">
            <a:avLst/>
          </a:prstGeom>
        </p:spPr>
      </p:pic>
      <p:cxnSp>
        <p:nvCxnSpPr>
          <p:cNvPr id="7" name="Connecteur droit 6">
            <a:extLst>
              <a:ext uri="{FF2B5EF4-FFF2-40B4-BE49-F238E27FC236}">
                <a16:creationId xmlns:a16="http://schemas.microsoft.com/office/drawing/2014/main" id="{001330C5-2E89-48C1-B66E-E31934ACFF27}"/>
              </a:ext>
            </a:extLst>
          </p:cNvPr>
          <p:cNvCxnSpPr>
            <a:stCxn id="3" idx="3"/>
            <a:endCxn id="11" idx="2"/>
          </p:cNvCxnSpPr>
          <p:nvPr/>
        </p:nvCxnSpPr>
        <p:spPr>
          <a:xfrm flipV="1">
            <a:off x="2514574" y="3429000"/>
            <a:ext cx="2447949" cy="83085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6C1417F0-1486-47CA-96AB-52BAEAE61B87}"/>
              </a:ext>
            </a:extLst>
          </p:cNvPr>
          <p:cNvSpPr txBox="1"/>
          <p:nvPr/>
        </p:nvSpPr>
        <p:spPr>
          <a:xfrm>
            <a:off x="2762848" y="3647722"/>
            <a:ext cx="2199675" cy="369332"/>
          </a:xfrm>
          <a:prstGeom prst="rect">
            <a:avLst/>
          </a:prstGeom>
          <a:noFill/>
        </p:spPr>
        <p:txBody>
          <a:bodyPr wrap="square">
            <a:spAutoFit/>
          </a:bodyPr>
          <a:lstStyle/>
          <a:p>
            <a:r>
              <a:rPr lang="fr-FR" dirty="0">
                <a:latin typeface="Candara" panose="020E0502030303020204" pitchFamily="34" charset="0"/>
              </a:rPr>
              <a:t>Nom de l’association</a:t>
            </a:r>
            <a:endParaRPr lang="fr-FR" dirty="0"/>
          </a:p>
        </p:txBody>
      </p:sp>
      <p:cxnSp>
        <p:nvCxnSpPr>
          <p:cNvPr id="17" name="Connecteur droit 16">
            <a:extLst>
              <a:ext uri="{FF2B5EF4-FFF2-40B4-BE49-F238E27FC236}">
                <a16:creationId xmlns:a16="http://schemas.microsoft.com/office/drawing/2014/main" id="{138FB55F-A7CF-4A85-B728-6E2C63C46C56}"/>
              </a:ext>
            </a:extLst>
          </p:cNvPr>
          <p:cNvCxnSpPr>
            <a:stCxn id="3" idx="3"/>
            <a:endCxn id="13" idx="2"/>
          </p:cNvCxnSpPr>
          <p:nvPr/>
        </p:nvCxnSpPr>
        <p:spPr>
          <a:xfrm>
            <a:off x="2514574" y="4259850"/>
            <a:ext cx="2447949" cy="111995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0E8F4B72-4D82-424B-81B4-FA7961BCD82B}"/>
              </a:ext>
            </a:extLst>
          </p:cNvPr>
          <p:cNvSpPr txBox="1"/>
          <p:nvPr/>
        </p:nvSpPr>
        <p:spPr>
          <a:xfrm>
            <a:off x="2777044" y="4597537"/>
            <a:ext cx="2199675" cy="369332"/>
          </a:xfrm>
          <a:prstGeom prst="rect">
            <a:avLst/>
          </a:prstGeom>
          <a:noFill/>
        </p:spPr>
        <p:txBody>
          <a:bodyPr wrap="square">
            <a:spAutoFit/>
          </a:bodyPr>
          <a:lstStyle/>
          <a:p>
            <a:r>
              <a:rPr lang="fr-FR" dirty="0">
                <a:latin typeface="Candara" panose="020E0502030303020204" pitchFamily="34" charset="0"/>
              </a:rPr>
              <a:t>Nom de l’association</a:t>
            </a:r>
            <a:endParaRPr lang="fr-FR" dirty="0"/>
          </a:p>
        </p:txBody>
      </p:sp>
    </p:spTree>
    <p:extLst>
      <p:ext uri="{BB962C8B-B14F-4D97-AF65-F5344CB8AC3E}">
        <p14:creationId xmlns:p14="http://schemas.microsoft.com/office/powerpoint/2010/main" val="3463159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Exemple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954107"/>
          </a:xfrm>
          <a:prstGeom prst="rect">
            <a:avLst/>
          </a:prstGeom>
        </p:spPr>
        <p:txBody>
          <a:bodyPr wrap="square">
            <a:spAutoFit/>
          </a:bodyPr>
          <a:lstStyle/>
          <a:p>
            <a:pPr algn="just"/>
            <a:r>
              <a:rPr lang="fr-FR" sz="2800" dirty="0">
                <a:latin typeface="Candara" panose="020E0502030303020204" pitchFamily="34" charset="0"/>
              </a:rPr>
              <a:t>Représenter un diagramme de cas d’utilisation correspondant à un distributeur automatique de billet.</a:t>
            </a:r>
          </a:p>
        </p:txBody>
      </p:sp>
      <p:pic>
        <p:nvPicPr>
          <p:cNvPr id="3" name="Image 2">
            <a:extLst>
              <a:ext uri="{FF2B5EF4-FFF2-40B4-BE49-F238E27FC236}">
                <a16:creationId xmlns:a16="http://schemas.microsoft.com/office/drawing/2014/main" id="{4846E1D2-D03C-89BF-5A01-54DE97CA03E8}"/>
              </a:ext>
            </a:extLst>
          </p:cNvPr>
          <p:cNvPicPr>
            <a:picLocks noChangeAspect="1"/>
          </p:cNvPicPr>
          <p:nvPr/>
        </p:nvPicPr>
        <p:blipFill>
          <a:blip r:embed="rId2"/>
          <a:stretch>
            <a:fillRect/>
          </a:stretch>
        </p:blipFill>
        <p:spPr>
          <a:xfrm>
            <a:off x="10510642" y="5221632"/>
            <a:ext cx="1494130" cy="1494130"/>
          </a:xfrm>
          <a:prstGeom prst="rect">
            <a:avLst/>
          </a:prstGeom>
        </p:spPr>
      </p:pic>
    </p:spTree>
    <p:extLst>
      <p:ext uri="{BB962C8B-B14F-4D97-AF65-F5344CB8AC3E}">
        <p14:creationId xmlns:p14="http://schemas.microsoft.com/office/powerpoint/2010/main" val="2898850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3AED5DF-F4EB-4FF2-8C6D-C7EBC1317641}"/>
              </a:ext>
            </a:extLst>
          </p:cNvPr>
          <p:cNvSpPr/>
          <p:nvPr/>
        </p:nvSpPr>
        <p:spPr>
          <a:xfrm>
            <a:off x="3859542" y="1605987"/>
            <a:ext cx="4472916" cy="4874711"/>
          </a:xfrm>
          <a:prstGeom prst="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73A52B8E-AEDF-45B4-8003-8C26E5D858FB}"/>
              </a:ext>
            </a:extLst>
          </p:cNvPr>
          <p:cNvSpPr txBox="1"/>
          <p:nvPr/>
        </p:nvSpPr>
        <p:spPr>
          <a:xfrm>
            <a:off x="3827753" y="1236656"/>
            <a:ext cx="2447949" cy="369332"/>
          </a:xfrm>
          <a:prstGeom prst="rect">
            <a:avLst/>
          </a:prstGeom>
          <a:noFill/>
        </p:spPr>
        <p:txBody>
          <a:bodyPr wrap="square">
            <a:spAutoFit/>
          </a:bodyPr>
          <a:lstStyle/>
          <a:p>
            <a:r>
              <a:rPr lang="fr-FR" sz="1800" dirty="0">
                <a:latin typeface="Candara" panose="020E0502030303020204" pitchFamily="34" charset="0"/>
              </a:rPr>
              <a:t>Distributeur de billets</a:t>
            </a:r>
            <a:endParaRPr lang="fr-FR" dirty="0"/>
          </a:p>
        </p:txBody>
      </p:sp>
      <p:sp>
        <p:nvSpPr>
          <p:cNvPr id="11" name="Ellipse 10">
            <a:extLst>
              <a:ext uri="{FF2B5EF4-FFF2-40B4-BE49-F238E27FC236}">
                <a16:creationId xmlns:a16="http://schemas.microsoft.com/office/drawing/2014/main" id="{1BF885EC-B049-473A-818A-7D97133E30F9}"/>
              </a:ext>
            </a:extLst>
          </p:cNvPr>
          <p:cNvSpPr/>
          <p:nvPr/>
        </p:nvSpPr>
        <p:spPr>
          <a:xfrm>
            <a:off x="4195060" y="1743170"/>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943BB92E-99AF-49F0-A3A6-D98798B9694D}"/>
              </a:ext>
            </a:extLst>
          </p:cNvPr>
          <p:cNvSpPr txBox="1"/>
          <p:nvPr/>
        </p:nvSpPr>
        <p:spPr>
          <a:xfrm>
            <a:off x="4696908" y="2095359"/>
            <a:ext cx="1263253" cy="276999"/>
          </a:xfrm>
          <a:prstGeom prst="rect">
            <a:avLst/>
          </a:prstGeom>
          <a:noFill/>
        </p:spPr>
        <p:txBody>
          <a:bodyPr wrap="square">
            <a:spAutoFit/>
          </a:bodyPr>
          <a:lstStyle/>
          <a:p>
            <a:r>
              <a:rPr lang="fr-FR" sz="1200" dirty="0">
                <a:latin typeface="Candara" panose="020E0502030303020204" pitchFamily="34" charset="0"/>
              </a:rPr>
              <a:t>Consulter Solde</a:t>
            </a:r>
            <a:endParaRPr lang="fr-FR" sz="1200" dirty="0"/>
          </a:p>
        </p:txBody>
      </p:sp>
      <p:sp>
        <p:nvSpPr>
          <p:cNvPr id="13" name="Ellipse 12">
            <a:extLst>
              <a:ext uri="{FF2B5EF4-FFF2-40B4-BE49-F238E27FC236}">
                <a16:creationId xmlns:a16="http://schemas.microsoft.com/office/drawing/2014/main" id="{D6DCEFD5-F66C-48BC-9DD0-0C1A96E2FB7A}"/>
              </a:ext>
            </a:extLst>
          </p:cNvPr>
          <p:cNvSpPr/>
          <p:nvPr/>
        </p:nvSpPr>
        <p:spPr>
          <a:xfrm>
            <a:off x="4226849" y="2896413"/>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4" name="ZoneTexte 13">
            <a:extLst>
              <a:ext uri="{FF2B5EF4-FFF2-40B4-BE49-F238E27FC236}">
                <a16:creationId xmlns:a16="http://schemas.microsoft.com/office/drawing/2014/main" id="{A130729C-561F-4355-84DD-DFE329E2EBF5}"/>
              </a:ext>
            </a:extLst>
          </p:cNvPr>
          <p:cNvSpPr txBox="1"/>
          <p:nvPr/>
        </p:nvSpPr>
        <p:spPr>
          <a:xfrm>
            <a:off x="4696908" y="3249995"/>
            <a:ext cx="1557866" cy="276999"/>
          </a:xfrm>
          <a:prstGeom prst="rect">
            <a:avLst/>
          </a:prstGeom>
          <a:noFill/>
        </p:spPr>
        <p:txBody>
          <a:bodyPr wrap="square">
            <a:spAutoFit/>
          </a:bodyPr>
          <a:lstStyle/>
          <a:p>
            <a:r>
              <a:rPr lang="fr-FR" sz="1200" dirty="0">
                <a:latin typeface="Candara" panose="020E0502030303020204" pitchFamily="34" charset="0"/>
              </a:rPr>
              <a:t>Retirer de l’argent</a:t>
            </a:r>
            <a:endParaRPr lang="fr-FR" sz="1200" dirty="0"/>
          </a:p>
        </p:txBody>
      </p:sp>
      <p:pic>
        <p:nvPicPr>
          <p:cNvPr id="3" name="Image 2">
            <a:extLst>
              <a:ext uri="{FF2B5EF4-FFF2-40B4-BE49-F238E27FC236}">
                <a16:creationId xmlns:a16="http://schemas.microsoft.com/office/drawing/2014/main" id="{AFF30614-D578-415D-8F01-D30D7519F3A0}"/>
              </a:ext>
            </a:extLst>
          </p:cNvPr>
          <p:cNvPicPr>
            <a:picLocks noChangeAspect="1"/>
          </p:cNvPicPr>
          <p:nvPr/>
        </p:nvPicPr>
        <p:blipFill>
          <a:blip r:embed="rId2"/>
          <a:stretch>
            <a:fillRect/>
          </a:stretch>
        </p:blipFill>
        <p:spPr>
          <a:xfrm>
            <a:off x="1678789" y="2898357"/>
            <a:ext cx="570171" cy="1384702"/>
          </a:xfrm>
          <a:prstGeom prst="rect">
            <a:avLst/>
          </a:prstGeom>
        </p:spPr>
      </p:pic>
      <p:cxnSp>
        <p:nvCxnSpPr>
          <p:cNvPr id="7" name="Connecteur droit 6">
            <a:extLst>
              <a:ext uri="{FF2B5EF4-FFF2-40B4-BE49-F238E27FC236}">
                <a16:creationId xmlns:a16="http://schemas.microsoft.com/office/drawing/2014/main" id="{001330C5-2E89-48C1-B66E-E31934ACFF27}"/>
              </a:ext>
            </a:extLst>
          </p:cNvPr>
          <p:cNvCxnSpPr>
            <a:stCxn id="3" idx="3"/>
            <a:endCxn id="11" idx="2"/>
          </p:cNvCxnSpPr>
          <p:nvPr/>
        </p:nvCxnSpPr>
        <p:spPr>
          <a:xfrm flipV="1">
            <a:off x="2248960" y="2235252"/>
            <a:ext cx="1946100" cy="135545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6C1417F0-1486-47CA-96AB-52BAEAE61B87}"/>
              </a:ext>
            </a:extLst>
          </p:cNvPr>
          <p:cNvSpPr txBox="1"/>
          <p:nvPr/>
        </p:nvSpPr>
        <p:spPr>
          <a:xfrm>
            <a:off x="2771415" y="2678840"/>
            <a:ext cx="1187715" cy="369332"/>
          </a:xfrm>
          <a:prstGeom prst="rect">
            <a:avLst/>
          </a:prstGeom>
          <a:noFill/>
        </p:spPr>
        <p:txBody>
          <a:bodyPr wrap="square">
            <a:spAutoFit/>
          </a:bodyPr>
          <a:lstStyle/>
          <a:p>
            <a:r>
              <a:rPr lang="fr-FR" dirty="0">
                <a:latin typeface="Candara" panose="020E0502030303020204" pitchFamily="34" charset="0"/>
              </a:rPr>
              <a:t>Visualise</a:t>
            </a:r>
            <a:endParaRPr lang="fr-FR" dirty="0"/>
          </a:p>
        </p:txBody>
      </p:sp>
      <p:cxnSp>
        <p:nvCxnSpPr>
          <p:cNvPr id="17" name="Connecteur droit 16">
            <a:extLst>
              <a:ext uri="{FF2B5EF4-FFF2-40B4-BE49-F238E27FC236}">
                <a16:creationId xmlns:a16="http://schemas.microsoft.com/office/drawing/2014/main" id="{138FB55F-A7CF-4A85-B728-6E2C63C46C56}"/>
              </a:ext>
            </a:extLst>
          </p:cNvPr>
          <p:cNvCxnSpPr>
            <a:stCxn id="3" idx="3"/>
            <a:endCxn id="13" idx="2"/>
          </p:cNvCxnSpPr>
          <p:nvPr/>
        </p:nvCxnSpPr>
        <p:spPr>
          <a:xfrm flipV="1">
            <a:off x="2248960" y="3388495"/>
            <a:ext cx="1977889" cy="20221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0E8F4B72-4D82-424B-81B4-FA7961BCD82B}"/>
              </a:ext>
            </a:extLst>
          </p:cNvPr>
          <p:cNvSpPr txBox="1"/>
          <p:nvPr/>
        </p:nvSpPr>
        <p:spPr>
          <a:xfrm>
            <a:off x="2846953" y="3249995"/>
            <a:ext cx="964165" cy="369332"/>
          </a:xfrm>
          <a:prstGeom prst="rect">
            <a:avLst/>
          </a:prstGeom>
          <a:noFill/>
        </p:spPr>
        <p:txBody>
          <a:bodyPr wrap="square">
            <a:spAutoFit/>
          </a:bodyPr>
          <a:lstStyle/>
          <a:p>
            <a:r>
              <a:rPr lang="fr-FR" dirty="0">
                <a:latin typeface="Candara" panose="020E0502030303020204" pitchFamily="34" charset="0"/>
              </a:rPr>
              <a:t>Débite</a:t>
            </a:r>
            <a:endParaRPr lang="fr-FR" dirty="0"/>
          </a:p>
        </p:txBody>
      </p:sp>
      <p:pic>
        <p:nvPicPr>
          <p:cNvPr id="15" name="Image 14">
            <a:extLst>
              <a:ext uri="{FF2B5EF4-FFF2-40B4-BE49-F238E27FC236}">
                <a16:creationId xmlns:a16="http://schemas.microsoft.com/office/drawing/2014/main" id="{83BD4BC3-B4F3-FE90-9506-07B4289FB293}"/>
              </a:ext>
            </a:extLst>
          </p:cNvPr>
          <p:cNvPicPr>
            <a:picLocks noChangeAspect="1"/>
          </p:cNvPicPr>
          <p:nvPr/>
        </p:nvPicPr>
        <p:blipFill>
          <a:blip r:embed="rId2"/>
          <a:stretch>
            <a:fillRect/>
          </a:stretch>
        </p:blipFill>
        <p:spPr>
          <a:xfrm>
            <a:off x="9972346" y="2350953"/>
            <a:ext cx="570171" cy="1384702"/>
          </a:xfrm>
          <a:prstGeom prst="rect">
            <a:avLst/>
          </a:prstGeom>
        </p:spPr>
      </p:pic>
      <p:sp>
        <p:nvSpPr>
          <p:cNvPr id="19" name="Ellipse 18">
            <a:extLst>
              <a:ext uri="{FF2B5EF4-FFF2-40B4-BE49-F238E27FC236}">
                <a16:creationId xmlns:a16="http://schemas.microsoft.com/office/drawing/2014/main" id="{0F28312E-C940-7DCA-21EA-5829F1DC674B}"/>
              </a:ext>
            </a:extLst>
          </p:cNvPr>
          <p:cNvSpPr/>
          <p:nvPr/>
        </p:nvSpPr>
        <p:spPr>
          <a:xfrm>
            <a:off x="5743892" y="4089042"/>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0" name="ZoneTexte 19">
            <a:extLst>
              <a:ext uri="{FF2B5EF4-FFF2-40B4-BE49-F238E27FC236}">
                <a16:creationId xmlns:a16="http://schemas.microsoft.com/office/drawing/2014/main" id="{2B4AF124-3C6C-092F-3C3E-24286A57EB02}"/>
              </a:ext>
            </a:extLst>
          </p:cNvPr>
          <p:cNvSpPr txBox="1"/>
          <p:nvPr/>
        </p:nvSpPr>
        <p:spPr>
          <a:xfrm>
            <a:off x="6184637" y="4442624"/>
            <a:ext cx="1407527" cy="276999"/>
          </a:xfrm>
          <a:prstGeom prst="rect">
            <a:avLst/>
          </a:prstGeom>
          <a:noFill/>
        </p:spPr>
        <p:txBody>
          <a:bodyPr wrap="square">
            <a:spAutoFit/>
          </a:bodyPr>
          <a:lstStyle/>
          <a:p>
            <a:r>
              <a:rPr lang="fr-FR" sz="1200" dirty="0">
                <a:latin typeface="Candara" panose="020E0502030303020204" pitchFamily="34" charset="0"/>
              </a:rPr>
              <a:t>Ravitailler le DAB</a:t>
            </a:r>
            <a:endParaRPr lang="fr-FR" sz="1200" dirty="0"/>
          </a:p>
        </p:txBody>
      </p:sp>
      <p:sp>
        <p:nvSpPr>
          <p:cNvPr id="21" name="Ellipse 20">
            <a:extLst>
              <a:ext uri="{FF2B5EF4-FFF2-40B4-BE49-F238E27FC236}">
                <a16:creationId xmlns:a16="http://schemas.microsoft.com/office/drawing/2014/main" id="{BD719E9C-0E4E-E210-FEA0-36BF0563D6AA}"/>
              </a:ext>
            </a:extLst>
          </p:cNvPr>
          <p:cNvSpPr/>
          <p:nvPr/>
        </p:nvSpPr>
        <p:spPr>
          <a:xfrm>
            <a:off x="5743892" y="5281671"/>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2" name="ZoneTexte 21">
            <a:extLst>
              <a:ext uri="{FF2B5EF4-FFF2-40B4-BE49-F238E27FC236}">
                <a16:creationId xmlns:a16="http://schemas.microsoft.com/office/drawing/2014/main" id="{5C3EDA26-0840-D8DC-25B3-06AF18FF2F5C}"/>
              </a:ext>
            </a:extLst>
          </p:cNvPr>
          <p:cNvSpPr txBox="1"/>
          <p:nvPr/>
        </p:nvSpPr>
        <p:spPr>
          <a:xfrm>
            <a:off x="6169164" y="5635253"/>
            <a:ext cx="1416405" cy="276999"/>
          </a:xfrm>
          <a:prstGeom prst="rect">
            <a:avLst/>
          </a:prstGeom>
          <a:noFill/>
        </p:spPr>
        <p:txBody>
          <a:bodyPr wrap="square">
            <a:spAutoFit/>
          </a:bodyPr>
          <a:lstStyle/>
          <a:p>
            <a:r>
              <a:rPr lang="fr-FR" sz="1200" dirty="0">
                <a:latin typeface="Candara" panose="020E0502030303020204" pitchFamily="34" charset="0"/>
              </a:rPr>
              <a:t>Maintenir le DAB</a:t>
            </a:r>
            <a:endParaRPr lang="fr-FR" sz="1200" dirty="0"/>
          </a:p>
        </p:txBody>
      </p:sp>
      <p:cxnSp>
        <p:nvCxnSpPr>
          <p:cNvPr id="23" name="Connecteur droit 22">
            <a:extLst>
              <a:ext uri="{FF2B5EF4-FFF2-40B4-BE49-F238E27FC236}">
                <a16:creationId xmlns:a16="http://schemas.microsoft.com/office/drawing/2014/main" id="{41B4BD06-C59C-85D8-A8EB-7B3ADC5A59E5}"/>
              </a:ext>
            </a:extLst>
          </p:cNvPr>
          <p:cNvCxnSpPr>
            <a:cxnSpLocks/>
            <a:stCxn id="19" idx="6"/>
            <a:endCxn id="15" idx="1"/>
          </p:cNvCxnSpPr>
          <p:nvPr/>
        </p:nvCxnSpPr>
        <p:spPr>
          <a:xfrm flipV="1">
            <a:off x="8010842" y="3043304"/>
            <a:ext cx="1961504" cy="153782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AD7892-F19C-C55A-5025-CE86918BDDE9}"/>
              </a:ext>
            </a:extLst>
          </p:cNvPr>
          <p:cNvCxnSpPr>
            <a:cxnSpLocks/>
            <a:stCxn id="21" idx="6"/>
            <a:endCxn id="15" idx="1"/>
          </p:cNvCxnSpPr>
          <p:nvPr/>
        </p:nvCxnSpPr>
        <p:spPr>
          <a:xfrm flipV="1">
            <a:off x="8010842" y="3043304"/>
            <a:ext cx="1961504" cy="273044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2D8EEE76-2A86-03A6-3109-66857E72CE32}"/>
              </a:ext>
            </a:extLst>
          </p:cNvPr>
          <p:cNvSpPr txBox="1"/>
          <p:nvPr/>
        </p:nvSpPr>
        <p:spPr>
          <a:xfrm>
            <a:off x="7970105" y="3663223"/>
            <a:ext cx="1243720" cy="369332"/>
          </a:xfrm>
          <a:prstGeom prst="rect">
            <a:avLst/>
          </a:prstGeom>
          <a:noFill/>
        </p:spPr>
        <p:txBody>
          <a:bodyPr wrap="square">
            <a:spAutoFit/>
          </a:bodyPr>
          <a:lstStyle/>
          <a:p>
            <a:r>
              <a:rPr lang="fr-FR" dirty="0">
                <a:latin typeface="Candara" panose="020E0502030303020204" pitchFamily="34" charset="0"/>
              </a:rPr>
              <a:t>Alimente</a:t>
            </a:r>
            <a:endParaRPr lang="fr-FR" dirty="0"/>
          </a:p>
        </p:txBody>
      </p:sp>
      <p:sp>
        <p:nvSpPr>
          <p:cNvPr id="31" name="ZoneTexte 30">
            <a:extLst>
              <a:ext uri="{FF2B5EF4-FFF2-40B4-BE49-F238E27FC236}">
                <a16:creationId xmlns:a16="http://schemas.microsoft.com/office/drawing/2014/main" id="{7D9E882B-A0C0-3DE1-0065-C508EB6899A2}"/>
              </a:ext>
            </a:extLst>
          </p:cNvPr>
          <p:cNvSpPr txBox="1"/>
          <p:nvPr/>
        </p:nvSpPr>
        <p:spPr>
          <a:xfrm>
            <a:off x="8436115" y="4396457"/>
            <a:ext cx="1243720" cy="369332"/>
          </a:xfrm>
          <a:prstGeom prst="rect">
            <a:avLst/>
          </a:prstGeom>
          <a:noFill/>
        </p:spPr>
        <p:txBody>
          <a:bodyPr wrap="square">
            <a:spAutoFit/>
          </a:bodyPr>
          <a:lstStyle/>
          <a:p>
            <a:r>
              <a:rPr lang="fr-FR" dirty="0">
                <a:latin typeface="Candara" panose="020E0502030303020204" pitchFamily="34" charset="0"/>
              </a:rPr>
              <a:t>Entretient</a:t>
            </a:r>
            <a:endParaRPr lang="fr-FR" dirty="0"/>
          </a:p>
        </p:txBody>
      </p:sp>
    </p:spTree>
    <p:extLst>
      <p:ext uri="{BB962C8B-B14F-4D97-AF65-F5344CB8AC3E}">
        <p14:creationId xmlns:p14="http://schemas.microsoft.com/office/powerpoint/2010/main" val="1750357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2677656"/>
          </a:xfrm>
          <a:prstGeom prst="rect">
            <a:avLst/>
          </a:prstGeom>
        </p:spPr>
        <p:txBody>
          <a:bodyPr wrap="square">
            <a:spAutoFit/>
          </a:bodyPr>
          <a:lstStyle/>
          <a:p>
            <a:pPr algn="just"/>
            <a:r>
              <a:rPr lang="fr-FR" sz="2800" dirty="0">
                <a:latin typeface="Candara" panose="020E0502030303020204" pitchFamily="34" charset="0"/>
              </a:rPr>
              <a:t>Il existe trois autres types de relation en plus de l’association : </a:t>
            </a:r>
          </a:p>
          <a:p>
            <a:pPr algn="just"/>
            <a:endParaRPr lang="fr-FR" sz="2800" dirty="0">
              <a:latin typeface="Candara" panose="020E0502030303020204" pitchFamily="34" charset="0"/>
            </a:endParaRPr>
          </a:p>
          <a:p>
            <a:pPr algn="just"/>
            <a:r>
              <a:rPr lang="fr-FR" sz="2800" b="1" dirty="0">
                <a:latin typeface="Candara" panose="020E0502030303020204" pitchFamily="34" charset="0"/>
              </a:rPr>
              <a:t>Inclusion</a:t>
            </a:r>
            <a:r>
              <a:rPr lang="fr-FR" sz="2800" dirty="0">
                <a:latin typeface="Candara" panose="020E0502030303020204" pitchFamily="34" charset="0"/>
              </a:rPr>
              <a:t> : c’est une relation entre un cas d’utilisation de base et un cas d’utilisation inclus. Un cas d’utilisation inclus est un cas d’utilisation qui est déclenché au moment où un cas d’utilisation de base est exécuté.</a:t>
            </a:r>
          </a:p>
        </p:txBody>
      </p:sp>
      <p:sp>
        <p:nvSpPr>
          <p:cNvPr id="9" name="Ellipse 8">
            <a:extLst>
              <a:ext uri="{FF2B5EF4-FFF2-40B4-BE49-F238E27FC236}">
                <a16:creationId xmlns:a16="http://schemas.microsoft.com/office/drawing/2014/main" id="{9D8E6C42-CBE5-44F6-90D5-F2FBE17D7A00}"/>
              </a:ext>
            </a:extLst>
          </p:cNvPr>
          <p:cNvSpPr/>
          <p:nvPr/>
        </p:nvSpPr>
        <p:spPr>
          <a:xfrm>
            <a:off x="2009773" y="50705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8040FF10-4731-472C-861F-F0883B236AB1}"/>
              </a:ext>
            </a:extLst>
          </p:cNvPr>
          <p:cNvSpPr txBox="1"/>
          <p:nvPr/>
        </p:nvSpPr>
        <p:spPr>
          <a:xfrm>
            <a:off x="2511621" y="5347900"/>
            <a:ext cx="1263253" cy="461665"/>
          </a:xfrm>
          <a:prstGeom prst="rect">
            <a:avLst/>
          </a:prstGeom>
          <a:noFill/>
        </p:spPr>
        <p:txBody>
          <a:bodyPr wrap="square">
            <a:spAutoFit/>
          </a:bodyPr>
          <a:lstStyle/>
          <a:p>
            <a:pPr algn="ctr"/>
            <a:r>
              <a:rPr lang="fr-FR" sz="1200" dirty="0">
                <a:latin typeface="Candara" panose="020E0502030303020204" pitchFamily="34" charset="0"/>
              </a:rPr>
              <a:t>Cas d’utilisation de base</a:t>
            </a:r>
            <a:endParaRPr lang="fr-FR" sz="1200" dirty="0"/>
          </a:p>
        </p:txBody>
      </p:sp>
      <p:sp>
        <p:nvSpPr>
          <p:cNvPr id="11" name="Ellipse 10">
            <a:extLst>
              <a:ext uri="{FF2B5EF4-FFF2-40B4-BE49-F238E27FC236}">
                <a16:creationId xmlns:a16="http://schemas.microsoft.com/office/drawing/2014/main" id="{B6363128-6EFD-4007-9307-1547CC178C70}"/>
              </a:ext>
            </a:extLst>
          </p:cNvPr>
          <p:cNvSpPr/>
          <p:nvPr/>
        </p:nvSpPr>
        <p:spPr>
          <a:xfrm>
            <a:off x="7915277" y="50705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B0974E44-80EE-438D-84FC-810AE8D16F50}"/>
              </a:ext>
            </a:extLst>
          </p:cNvPr>
          <p:cNvSpPr txBox="1"/>
          <p:nvPr/>
        </p:nvSpPr>
        <p:spPr>
          <a:xfrm>
            <a:off x="8417126" y="5347900"/>
            <a:ext cx="1263253" cy="461665"/>
          </a:xfrm>
          <a:prstGeom prst="rect">
            <a:avLst/>
          </a:prstGeom>
          <a:noFill/>
        </p:spPr>
        <p:txBody>
          <a:bodyPr wrap="square">
            <a:spAutoFit/>
          </a:bodyPr>
          <a:lstStyle/>
          <a:p>
            <a:pPr algn="ctr"/>
            <a:r>
              <a:rPr lang="fr-FR" sz="1200" dirty="0">
                <a:latin typeface="Candara" panose="020E0502030303020204" pitchFamily="34" charset="0"/>
              </a:rPr>
              <a:t>Cas d’utilisation inclus</a:t>
            </a:r>
            <a:endParaRPr lang="fr-FR" sz="1200" dirty="0"/>
          </a:p>
        </p:txBody>
      </p:sp>
      <p:cxnSp>
        <p:nvCxnSpPr>
          <p:cNvPr id="14" name="Connecteur droit 13">
            <a:extLst>
              <a:ext uri="{FF2B5EF4-FFF2-40B4-BE49-F238E27FC236}">
                <a16:creationId xmlns:a16="http://schemas.microsoft.com/office/drawing/2014/main" id="{8CBB9330-5162-4E44-947E-DAAF319F7E30}"/>
              </a:ext>
            </a:extLst>
          </p:cNvPr>
          <p:cNvCxnSpPr/>
          <p:nvPr/>
        </p:nvCxnSpPr>
        <p:spPr>
          <a:xfrm>
            <a:off x="4410075" y="5581650"/>
            <a:ext cx="7524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19EA5772-35A0-4735-A24F-7B23185D3B8B}"/>
              </a:ext>
            </a:extLst>
          </p:cNvPr>
          <p:cNvCxnSpPr/>
          <p:nvPr/>
        </p:nvCxnSpPr>
        <p:spPr>
          <a:xfrm>
            <a:off x="5591175" y="5581650"/>
            <a:ext cx="7524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B53CF604-4C1A-410C-82D3-2DD22370BD73}"/>
              </a:ext>
            </a:extLst>
          </p:cNvPr>
          <p:cNvCxnSpPr/>
          <p:nvPr/>
        </p:nvCxnSpPr>
        <p:spPr>
          <a:xfrm>
            <a:off x="6772275" y="5581650"/>
            <a:ext cx="819150"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9FD479E7-3DC5-4CA0-93EF-BD4767C2F63A}"/>
              </a:ext>
            </a:extLst>
          </p:cNvPr>
          <p:cNvSpPr txBox="1"/>
          <p:nvPr/>
        </p:nvSpPr>
        <p:spPr>
          <a:xfrm>
            <a:off x="5335785" y="5578732"/>
            <a:ext cx="1263253" cy="276999"/>
          </a:xfrm>
          <a:prstGeom prst="rect">
            <a:avLst/>
          </a:prstGeom>
          <a:noFill/>
        </p:spPr>
        <p:txBody>
          <a:bodyPr wrap="square">
            <a:spAutoFit/>
          </a:bodyPr>
          <a:lstStyle/>
          <a:p>
            <a:pPr algn="ctr"/>
            <a:r>
              <a:rPr lang="fr-FR" sz="1200" dirty="0">
                <a:latin typeface="Candara" panose="020E0502030303020204" pitchFamily="34" charset="0"/>
              </a:rPr>
              <a:t>« inclus »</a:t>
            </a:r>
            <a:endParaRPr lang="fr-FR" sz="1200" dirty="0"/>
          </a:p>
        </p:txBody>
      </p:sp>
    </p:spTree>
    <p:extLst>
      <p:ext uri="{BB962C8B-B14F-4D97-AF65-F5344CB8AC3E}">
        <p14:creationId xmlns:p14="http://schemas.microsoft.com/office/powerpoint/2010/main" val="429815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2677656"/>
          </a:xfrm>
          <a:prstGeom prst="rect">
            <a:avLst/>
          </a:prstGeom>
        </p:spPr>
        <p:txBody>
          <a:bodyPr wrap="square">
            <a:spAutoFit/>
          </a:bodyPr>
          <a:lstStyle/>
          <a:p>
            <a:pPr algn="just"/>
            <a:r>
              <a:rPr lang="fr-FR" sz="2800" dirty="0">
                <a:latin typeface="Candara" panose="020E0502030303020204" pitchFamily="34" charset="0"/>
              </a:rPr>
              <a:t>Il existe trois autres types de relation en plus de l’association : </a:t>
            </a:r>
          </a:p>
          <a:p>
            <a:pPr algn="just"/>
            <a:endParaRPr lang="fr-FR" sz="2800" dirty="0">
              <a:latin typeface="Candara" panose="020E0502030303020204" pitchFamily="34" charset="0"/>
            </a:endParaRPr>
          </a:p>
          <a:p>
            <a:pPr algn="just"/>
            <a:r>
              <a:rPr lang="fr-FR" sz="2800" b="1" dirty="0">
                <a:latin typeface="Candara" panose="020E0502030303020204" pitchFamily="34" charset="0"/>
              </a:rPr>
              <a:t>Exclusion</a:t>
            </a:r>
            <a:r>
              <a:rPr lang="fr-FR" sz="2800" dirty="0">
                <a:latin typeface="Candara" panose="020E0502030303020204" pitchFamily="34" charset="0"/>
              </a:rPr>
              <a:t> : c’est une relation entre un cas d’utilisation de base et un cas d’utilisation d’extension. Un cas d’utilisation d’extension est un cas d’utilisation qui peut être déclenché occasionnellement, si certaines conditions sont remplies.</a:t>
            </a:r>
          </a:p>
        </p:txBody>
      </p:sp>
      <p:sp>
        <p:nvSpPr>
          <p:cNvPr id="9" name="Ellipse 8">
            <a:extLst>
              <a:ext uri="{FF2B5EF4-FFF2-40B4-BE49-F238E27FC236}">
                <a16:creationId xmlns:a16="http://schemas.microsoft.com/office/drawing/2014/main" id="{9D8E6C42-CBE5-44F6-90D5-F2FBE17D7A00}"/>
              </a:ext>
            </a:extLst>
          </p:cNvPr>
          <p:cNvSpPr/>
          <p:nvPr/>
        </p:nvSpPr>
        <p:spPr>
          <a:xfrm>
            <a:off x="2009773" y="50705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8040FF10-4731-472C-861F-F0883B236AB1}"/>
              </a:ext>
            </a:extLst>
          </p:cNvPr>
          <p:cNvSpPr txBox="1"/>
          <p:nvPr/>
        </p:nvSpPr>
        <p:spPr>
          <a:xfrm>
            <a:off x="2511621" y="5347900"/>
            <a:ext cx="1263253" cy="461665"/>
          </a:xfrm>
          <a:prstGeom prst="rect">
            <a:avLst/>
          </a:prstGeom>
          <a:noFill/>
        </p:spPr>
        <p:txBody>
          <a:bodyPr wrap="square">
            <a:spAutoFit/>
          </a:bodyPr>
          <a:lstStyle/>
          <a:p>
            <a:pPr algn="ctr"/>
            <a:r>
              <a:rPr lang="fr-FR" sz="1200" dirty="0">
                <a:latin typeface="Candara" panose="020E0502030303020204" pitchFamily="34" charset="0"/>
              </a:rPr>
              <a:t>Cas d’utilisation de base</a:t>
            </a:r>
            <a:endParaRPr lang="fr-FR" sz="1200" dirty="0"/>
          </a:p>
        </p:txBody>
      </p:sp>
      <p:sp>
        <p:nvSpPr>
          <p:cNvPr id="11" name="Ellipse 10">
            <a:extLst>
              <a:ext uri="{FF2B5EF4-FFF2-40B4-BE49-F238E27FC236}">
                <a16:creationId xmlns:a16="http://schemas.microsoft.com/office/drawing/2014/main" id="{B6363128-6EFD-4007-9307-1547CC178C70}"/>
              </a:ext>
            </a:extLst>
          </p:cNvPr>
          <p:cNvSpPr/>
          <p:nvPr/>
        </p:nvSpPr>
        <p:spPr>
          <a:xfrm>
            <a:off x="7915277" y="5070518"/>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B0974E44-80EE-438D-84FC-810AE8D16F50}"/>
              </a:ext>
            </a:extLst>
          </p:cNvPr>
          <p:cNvSpPr txBox="1"/>
          <p:nvPr/>
        </p:nvSpPr>
        <p:spPr>
          <a:xfrm>
            <a:off x="8417126" y="5347900"/>
            <a:ext cx="1263253" cy="461665"/>
          </a:xfrm>
          <a:prstGeom prst="rect">
            <a:avLst/>
          </a:prstGeom>
          <a:noFill/>
        </p:spPr>
        <p:txBody>
          <a:bodyPr wrap="square">
            <a:spAutoFit/>
          </a:bodyPr>
          <a:lstStyle/>
          <a:p>
            <a:pPr algn="ctr"/>
            <a:r>
              <a:rPr lang="fr-FR" sz="1200" dirty="0">
                <a:latin typeface="Candara" panose="020E0502030303020204" pitchFamily="34" charset="0"/>
              </a:rPr>
              <a:t>Cas d’utilisation d’extension</a:t>
            </a:r>
            <a:endParaRPr lang="fr-FR" sz="1200" dirty="0"/>
          </a:p>
        </p:txBody>
      </p:sp>
      <p:cxnSp>
        <p:nvCxnSpPr>
          <p:cNvPr id="14" name="Connecteur droit 13">
            <a:extLst>
              <a:ext uri="{FF2B5EF4-FFF2-40B4-BE49-F238E27FC236}">
                <a16:creationId xmlns:a16="http://schemas.microsoft.com/office/drawing/2014/main" id="{8CBB9330-5162-4E44-947E-DAAF319F7E30}"/>
              </a:ext>
            </a:extLst>
          </p:cNvPr>
          <p:cNvCxnSpPr/>
          <p:nvPr/>
        </p:nvCxnSpPr>
        <p:spPr>
          <a:xfrm>
            <a:off x="6877050" y="5578732"/>
            <a:ext cx="7524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19EA5772-35A0-4735-A24F-7B23185D3B8B}"/>
              </a:ext>
            </a:extLst>
          </p:cNvPr>
          <p:cNvCxnSpPr/>
          <p:nvPr/>
        </p:nvCxnSpPr>
        <p:spPr>
          <a:xfrm>
            <a:off x="5724525" y="5581650"/>
            <a:ext cx="7524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B53CF604-4C1A-410C-82D3-2DD22370BD73}"/>
              </a:ext>
            </a:extLst>
          </p:cNvPr>
          <p:cNvCxnSpPr>
            <a:cxnSpLocks/>
          </p:cNvCxnSpPr>
          <p:nvPr/>
        </p:nvCxnSpPr>
        <p:spPr>
          <a:xfrm flipH="1">
            <a:off x="4621410" y="5581950"/>
            <a:ext cx="69532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9FD479E7-3DC5-4CA0-93EF-BD4767C2F63A}"/>
              </a:ext>
            </a:extLst>
          </p:cNvPr>
          <p:cNvSpPr txBox="1"/>
          <p:nvPr/>
        </p:nvSpPr>
        <p:spPr>
          <a:xfrm>
            <a:off x="5516760" y="5578732"/>
            <a:ext cx="1263253" cy="276999"/>
          </a:xfrm>
          <a:prstGeom prst="rect">
            <a:avLst/>
          </a:prstGeom>
          <a:noFill/>
        </p:spPr>
        <p:txBody>
          <a:bodyPr wrap="square">
            <a:spAutoFit/>
          </a:bodyPr>
          <a:lstStyle/>
          <a:p>
            <a:pPr algn="ctr"/>
            <a:r>
              <a:rPr lang="fr-FR" sz="1200" dirty="0">
                <a:latin typeface="Candara" panose="020E0502030303020204" pitchFamily="34" charset="0"/>
              </a:rPr>
              <a:t>« étendu »</a:t>
            </a:r>
            <a:endParaRPr lang="fr-FR" sz="1200" dirty="0"/>
          </a:p>
        </p:txBody>
      </p:sp>
    </p:spTree>
    <p:extLst>
      <p:ext uri="{BB962C8B-B14F-4D97-AF65-F5344CB8AC3E}">
        <p14:creationId xmlns:p14="http://schemas.microsoft.com/office/powerpoint/2010/main" val="2485304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1815882"/>
          </a:xfrm>
          <a:prstGeom prst="rect">
            <a:avLst/>
          </a:prstGeom>
        </p:spPr>
        <p:txBody>
          <a:bodyPr wrap="square">
            <a:spAutoFit/>
          </a:bodyPr>
          <a:lstStyle/>
          <a:p>
            <a:pPr algn="just"/>
            <a:r>
              <a:rPr lang="fr-FR" sz="2800" dirty="0">
                <a:latin typeface="Candara" panose="020E0502030303020204" pitchFamily="34" charset="0"/>
              </a:rPr>
              <a:t>Il existe trois autres types de relation en plus de l’association : </a:t>
            </a:r>
          </a:p>
          <a:p>
            <a:pPr algn="just"/>
            <a:endParaRPr lang="fr-FR" sz="2800" dirty="0">
              <a:latin typeface="Candara" panose="020E0502030303020204" pitchFamily="34" charset="0"/>
            </a:endParaRPr>
          </a:p>
          <a:p>
            <a:pPr algn="just"/>
            <a:r>
              <a:rPr lang="fr-FR" sz="2800" b="1" dirty="0">
                <a:latin typeface="Candara" panose="020E0502030303020204" pitchFamily="34" charset="0"/>
              </a:rPr>
              <a:t>Héritage</a:t>
            </a:r>
            <a:r>
              <a:rPr lang="fr-FR" sz="2800" dirty="0">
                <a:latin typeface="Candara" panose="020E0502030303020204" pitchFamily="34" charset="0"/>
              </a:rPr>
              <a:t> : c’est un mécanisme qui permet, lors de la création d’une nouvelle entité, d’y inclure les caractéristiques d’une autre entité.</a:t>
            </a:r>
          </a:p>
        </p:txBody>
      </p:sp>
      <p:cxnSp>
        <p:nvCxnSpPr>
          <p:cNvPr id="20" name="Connecteur droit 19">
            <a:extLst>
              <a:ext uri="{FF2B5EF4-FFF2-40B4-BE49-F238E27FC236}">
                <a16:creationId xmlns:a16="http://schemas.microsoft.com/office/drawing/2014/main" id="{F9CF36E3-D3E1-45F4-827E-01909358D95E}"/>
              </a:ext>
            </a:extLst>
          </p:cNvPr>
          <p:cNvCxnSpPr/>
          <p:nvPr/>
        </p:nvCxnSpPr>
        <p:spPr>
          <a:xfrm>
            <a:off x="4057650" y="5167407"/>
            <a:ext cx="3648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riangle isocèle 20">
            <a:extLst>
              <a:ext uri="{FF2B5EF4-FFF2-40B4-BE49-F238E27FC236}">
                <a16:creationId xmlns:a16="http://schemas.microsoft.com/office/drawing/2014/main" id="{66A61732-6876-4878-8723-23F0961E8F43}"/>
              </a:ext>
            </a:extLst>
          </p:cNvPr>
          <p:cNvSpPr/>
          <p:nvPr/>
        </p:nvSpPr>
        <p:spPr>
          <a:xfrm rot="5400000">
            <a:off x="7781925" y="4738782"/>
            <a:ext cx="714375" cy="873776"/>
          </a:xfrm>
          <a:prstGeom prst="triangl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935640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Composants, symboles et notation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1384995"/>
          </a:xfrm>
          <a:prstGeom prst="rect">
            <a:avLst/>
          </a:prstGeom>
        </p:spPr>
        <p:txBody>
          <a:bodyPr wrap="square">
            <a:spAutoFit/>
          </a:bodyPr>
          <a:lstStyle/>
          <a:p>
            <a:pPr algn="just"/>
            <a:r>
              <a:rPr lang="fr-FR" sz="2800" dirty="0">
                <a:latin typeface="Candara" panose="020E0502030303020204" pitchFamily="34" charset="0"/>
              </a:rPr>
              <a:t>Il est possible de mettre une annotation dans un diagramme de cas d’utilisation. Celle-ci est un commentaire généralement présent pour décrire un comportement (ex. indiquer une condition).</a:t>
            </a:r>
          </a:p>
        </p:txBody>
      </p:sp>
      <p:sp>
        <p:nvSpPr>
          <p:cNvPr id="3" name="Rectangle : avec coin rogné 2">
            <a:extLst>
              <a:ext uri="{FF2B5EF4-FFF2-40B4-BE49-F238E27FC236}">
                <a16:creationId xmlns:a16="http://schemas.microsoft.com/office/drawing/2014/main" id="{71BD2E40-F54F-4915-9F80-6B1CD9532647}"/>
              </a:ext>
            </a:extLst>
          </p:cNvPr>
          <p:cNvSpPr/>
          <p:nvPr/>
        </p:nvSpPr>
        <p:spPr>
          <a:xfrm>
            <a:off x="4391025" y="3641557"/>
            <a:ext cx="3409950" cy="1598351"/>
          </a:xfrm>
          <a:prstGeom prst="snip1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FD12F4E9-ABDF-42CE-9E67-AFC468B9ACB8}"/>
              </a:ext>
            </a:extLst>
          </p:cNvPr>
          <p:cNvCxnSpPr>
            <a:stCxn id="3" idx="1"/>
          </p:cNvCxnSpPr>
          <p:nvPr/>
        </p:nvCxnSpPr>
        <p:spPr>
          <a:xfrm flipH="1">
            <a:off x="6095998" y="5239908"/>
            <a:ext cx="2" cy="4465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7A6F277A-A551-4985-89FD-CEFB0F2514A3}"/>
              </a:ext>
            </a:extLst>
          </p:cNvPr>
          <p:cNvCxnSpPr/>
          <p:nvPr/>
        </p:nvCxnSpPr>
        <p:spPr>
          <a:xfrm flipH="1">
            <a:off x="6095996" y="5945600"/>
            <a:ext cx="2" cy="4465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D6B79CCA-0034-435A-9CAE-7981F26D91C3}"/>
              </a:ext>
            </a:extLst>
          </p:cNvPr>
          <p:cNvSpPr txBox="1"/>
          <p:nvPr/>
        </p:nvSpPr>
        <p:spPr>
          <a:xfrm>
            <a:off x="4870096" y="4025233"/>
            <a:ext cx="2451799" cy="830997"/>
          </a:xfrm>
          <a:prstGeom prst="rect">
            <a:avLst/>
          </a:prstGeom>
          <a:noFill/>
        </p:spPr>
        <p:txBody>
          <a:bodyPr wrap="square">
            <a:spAutoFit/>
          </a:bodyPr>
          <a:lstStyle/>
          <a:p>
            <a:pPr algn="ctr"/>
            <a:r>
              <a:rPr lang="fr-FR" sz="2400" dirty="0">
                <a:latin typeface="Candara" panose="020E0502030303020204" pitchFamily="34" charset="0"/>
              </a:rPr>
              <a:t>Mettre ici le commentaire</a:t>
            </a:r>
            <a:endParaRPr lang="fr-FR" sz="2400" dirty="0"/>
          </a:p>
        </p:txBody>
      </p:sp>
    </p:spTree>
    <p:extLst>
      <p:ext uri="{BB962C8B-B14F-4D97-AF65-F5344CB8AC3E}">
        <p14:creationId xmlns:p14="http://schemas.microsoft.com/office/powerpoint/2010/main" val="329922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Exemple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954107"/>
          </a:xfrm>
          <a:prstGeom prst="rect">
            <a:avLst/>
          </a:prstGeom>
        </p:spPr>
        <p:txBody>
          <a:bodyPr wrap="square">
            <a:spAutoFit/>
          </a:bodyPr>
          <a:lstStyle/>
          <a:p>
            <a:pPr algn="just"/>
            <a:r>
              <a:rPr lang="fr-FR" sz="2800" dirty="0">
                <a:latin typeface="Candara" panose="020E0502030303020204" pitchFamily="34" charset="0"/>
              </a:rPr>
              <a:t>Faire évoluer le diagramme correspondant au distributeur automatique de billet.</a:t>
            </a:r>
          </a:p>
        </p:txBody>
      </p:sp>
      <p:pic>
        <p:nvPicPr>
          <p:cNvPr id="5" name="Image 4">
            <a:extLst>
              <a:ext uri="{FF2B5EF4-FFF2-40B4-BE49-F238E27FC236}">
                <a16:creationId xmlns:a16="http://schemas.microsoft.com/office/drawing/2014/main" id="{C6DFF0B9-1044-434C-7E66-B44E28DB2328}"/>
              </a:ext>
            </a:extLst>
          </p:cNvPr>
          <p:cNvPicPr>
            <a:picLocks noChangeAspect="1"/>
          </p:cNvPicPr>
          <p:nvPr/>
        </p:nvPicPr>
        <p:blipFill>
          <a:blip r:embed="rId2"/>
          <a:stretch>
            <a:fillRect/>
          </a:stretch>
        </p:blipFill>
        <p:spPr>
          <a:xfrm>
            <a:off x="10510642" y="5221632"/>
            <a:ext cx="1494130" cy="1494130"/>
          </a:xfrm>
          <a:prstGeom prst="rect">
            <a:avLst/>
          </a:prstGeom>
        </p:spPr>
      </p:pic>
    </p:spTree>
    <p:extLst>
      <p:ext uri="{BB962C8B-B14F-4D97-AF65-F5344CB8AC3E}">
        <p14:creationId xmlns:p14="http://schemas.microsoft.com/office/powerpoint/2010/main" val="3542510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3AED5DF-F4EB-4FF2-8C6D-C7EBC1317641}"/>
              </a:ext>
            </a:extLst>
          </p:cNvPr>
          <p:cNvSpPr/>
          <p:nvPr/>
        </p:nvSpPr>
        <p:spPr>
          <a:xfrm>
            <a:off x="2512165" y="1605987"/>
            <a:ext cx="7246393" cy="4874711"/>
          </a:xfrm>
          <a:prstGeom prst="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0" name="ZoneTexte 9">
            <a:extLst>
              <a:ext uri="{FF2B5EF4-FFF2-40B4-BE49-F238E27FC236}">
                <a16:creationId xmlns:a16="http://schemas.microsoft.com/office/drawing/2014/main" id="{73A52B8E-AEDF-45B4-8003-8C26E5D858FB}"/>
              </a:ext>
            </a:extLst>
          </p:cNvPr>
          <p:cNvSpPr txBox="1"/>
          <p:nvPr/>
        </p:nvSpPr>
        <p:spPr>
          <a:xfrm>
            <a:off x="2486204" y="1244498"/>
            <a:ext cx="2447949" cy="369332"/>
          </a:xfrm>
          <a:prstGeom prst="rect">
            <a:avLst/>
          </a:prstGeom>
          <a:noFill/>
        </p:spPr>
        <p:txBody>
          <a:bodyPr wrap="square">
            <a:spAutoFit/>
          </a:bodyPr>
          <a:lstStyle/>
          <a:p>
            <a:r>
              <a:rPr lang="fr-FR" sz="1800" dirty="0">
                <a:latin typeface="Candara" panose="020E0502030303020204" pitchFamily="34" charset="0"/>
              </a:rPr>
              <a:t>Distributeur de billets</a:t>
            </a:r>
            <a:endParaRPr lang="fr-FR" dirty="0"/>
          </a:p>
        </p:txBody>
      </p:sp>
      <p:sp>
        <p:nvSpPr>
          <p:cNvPr id="11" name="Ellipse 10">
            <a:extLst>
              <a:ext uri="{FF2B5EF4-FFF2-40B4-BE49-F238E27FC236}">
                <a16:creationId xmlns:a16="http://schemas.microsoft.com/office/drawing/2014/main" id="{1BF885EC-B049-473A-818A-7D97133E30F9}"/>
              </a:ext>
            </a:extLst>
          </p:cNvPr>
          <p:cNvSpPr/>
          <p:nvPr/>
        </p:nvSpPr>
        <p:spPr>
          <a:xfrm>
            <a:off x="4195060" y="1743170"/>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943BB92E-99AF-49F0-A3A6-D98798B9694D}"/>
              </a:ext>
            </a:extLst>
          </p:cNvPr>
          <p:cNvSpPr txBox="1"/>
          <p:nvPr/>
        </p:nvSpPr>
        <p:spPr>
          <a:xfrm>
            <a:off x="4696908" y="2095359"/>
            <a:ext cx="1263253" cy="276999"/>
          </a:xfrm>
          <a:prstGeom prst="rect">
            <a:avLst/>
          </a:prstGeom>
          <a:noFill/>
        </p:spPr>
        <p:txBody>
          <a:bodyPr wrap="square">
            <a:spAutoFit/>
          </a:bodyPr>
          <a:lstStyle/>
          <a:p>
            <a:r>
              <a:rPr lang="fr-FR" sz="1200" dirty="0">
                <a:latin typeface="Candara" panose="020E0502030303020204" pitchFamily="34" charset="0"/>
              </a:rPr>
              <a:t>Consulter Solde</a:t>
            </a:r>
            <a:endParaRPr lang="fr-FR" sz="1200" dirty="0"/>
          </a:p>
        </p:txBody>
      </p:sp>
      <p:sp>
        <p:nvSpPr>
          <p:cNvPr id="13" name="Ellipse 12">
            <a:extLst>
              <a:ext uri="{FF2B5EF4-FFF2-40B4-BE49-F238E27FC236}">
                <a16:creationId xmlns:a16="http://schemas.microsoft.com/office/drawing/2014/main" id="{D6DCEFD5-F66C-48BC-9DD0-0C1A96E2FB7A}"/>
              </a:ext>
            </a:extLst>
          </p:cNvPr>
          <p:cNvSpPr/>
          <p:nvPr/>
        </p:nvSpPr>
        <p:spPr>
          <a:xfrm>
            <a:off x="4226849" y="2896413"/>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14" name="ZoneTexte 13">
            <a:extLst>
              <a:ext uri="{FF2B5EF4-FFF2-40B4-BE49-F238E27FC236}">
                <a16:creationId xmlns:a16="http://schemas.microsoft.com/office/drawing/2014/main" id="{A130729C-561F-4355-84DD-DFE329E2EBF5}"/>
              </a:ext>
            </a:extLst>
          </p:cNvPr>
          <p:cNvSpPr txBox="1"/>
          <p:nvPr/>
        </p:nvSpPr>
        <p:spPr>
          <a:xfrm>
            <a:off x="4696908" y="3249995"/>
            <a:ext cx="1557866" cy="276999"/>
          </a:xfrm>
          <a:prstGeom prst="rect">
            <a:avLst/>
          </a:prstGeom>
          <a:noFill/>
        </p:spPr>
        <p:txBody>
          <a:bodyPr wrap="square">
            <a:spAutoFit/>
          </a:bodyPr>
          <a:lstStyle/>
          <a:p>
            <a:r>
              <a:rPr lang="fr-FR" sz="1200" dirty="0">
                <a:latin typeface="Candara" panose="020E0502030303020204" pitchFamily="34" charset="0"/>
              </a:rPr>
              <a:t>Retirer de l’argent</a:t>
            </a:r>
            <a:endParaRPr lang="fr-FR" sz="1200" dirty="0"/>
          </a:p>
        </p:txBody>
      </p:sp>
      <p:pic>
        <p:nvPicPr>
          <p:cNvPr id="3" name="Image 2">
            <a:extLst>
              <a:ext uri="{FF2B5EF4-FFF2-40B4-BE49-F238E27FC236}">
                <a16:creationId xmlns:a16="http://schemas.microsoft.com/office/drawing/2014/main" id="{AFF30614-D578-415D-8F01-D30D7519F3A0}"/>
              </a:ext>
            </a:extLst>
          </p:cNvPr>
          <p:cNvPicPr>
            <a:picLocks noChangeAspect="1"/>
          </p:cNvPicPr>
          <p:nvPr/>
        </p:nvPicPr>
        <p:blipFill>
          <a:blip r:embed="rId2"/>
          <a:stretch>
            <a:fillRect/>
          </a:stretch>
        </p:blipFill>
        <p:spPr>
          <a:xfrm>
            <a:off x="175388" y="1294138"/>
            <a:ext cx="570171" cy="1384702"/>
          </a:xfrm>
          <a:prstGeom prst="rect">
            <a:avLst/>
          </a:prstGeom>
        </p:spPr>
      </p:pic>
      <p:cxnSp>
        <p:nvCxnSpPr>
          <p:cNvPr id="7" name="Connecteur droit 6">
            <a:extLst>
              <a:ext uri="{FF2B5EF4-FFF2-40B4-BE49-F238E27FC236}">
                <a16:creationId xmlns:a16="http://schemas.microsoft.com/office/drawing/2014/main" id="{001330C5-2E89-48C1-B66E-E31934ACFF27}"/>
              </a:ext>
            </a:extLst>
          </p:cNvPr>
          <p:cNvCxnSpPr>
            <a:stCxn id="3" idx="3"/>
            <a:endCxn id="11" idx="2"/>
          </p:cNvCxnSpPr>
          <p:nvPr/>
        </p:nvCxnSpPr>
        <p:spPr>
          <a:xfrm>
            <a:off x="745559" y="1986489"/>
            <a:ext cx="3449501" cy="24876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6C1417F0-1486-47CA-96AB-52BAEAE61B87}"/>
              </a:ext>
            </a:extLst>
          </p:cNvPr>
          <p:cNvSpPr txBox="1"/>
          <p:nvPr/>
        </p:nvSpPr>
        <p:spPr>
          <a:xfrm>
            <a:off x="1366041" y="1680164"/>
            <a:ext cx="1187715" cy="369332"/>
          </a:xfrm>
          <a:prstGeom prst="rect">
            <a:avLst/>
          </a:prstGeom>
          <a:noFill/>
        </p:spPr>
        <p:txBody>
          <a:bodyPr wrap="square">
            <a:spAutoFit/>
          </a:bodyPr>
          <a:lstStyle/>
          <a:p>
            <a:r>
              <a:rPr lang="fr-FR" dirty="0">
                <a:latin typeface="Candara" panose="020E0502030303020204" pitchFamily="34" charset="0"/>
              </a:rPr>
              <a:t>Visualise</a:t>
            </a:r>
            <a:endParaRPr lang="fr-FR" dirty="0"/>
          </a:p>
        </p:txBody>
      </p:sp>
      <p:cxnSp>
        <p:nvCxnSpPr>
          <p:cNvPr id="17" name="Connecteur droit 16">
            <a:extLst>
              <a:ext uri="{FF2B5EF4-FFF2-40B4-BE49-F238E27FC236}">
                <a16:creationId xmlns:a16="http://schemas.microsoft.com/office/drawing/2014/main" id="{138FB55F-A7CF-4A85-B728-6E2C63C46C56}"/>
              </a:ext>
            </a:extLst>
          </p:cNvPr>
          <p:cNvCxnSpPr>
            <a:stCxn id="3" idx="3"/>
            <a:endCxn id="13" idx="2"/>
          </p:cNvCxnSpPr>
          <p:nvPr/>
        </p:nvCxnSpPr>
        <p:spPr>
          <a:xfrm>
            <a:off x="745559" y="1986489"/>
            <a:ext cx="3481290" cy="140200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0E8F4B72-4D82-424B-81B4-FA7961BCD82B}"/>
              </a:ext>
            </a:extLst>
          </p:cNvPr>
          <p:cNvSpPr txBox="1"/>
          <p:nvPr/>
        </p:nvSpPr>
        <p:spPr>
          <a:xfrm>
            <a:off x="1024929" y="2372358"/>
            <a:ext cx="964165" cy="369332"/>
          </a:xfrm>
          <a:prstGeom prst="rect">
            <a:avLst/>
          </a:prstGeom>
          <a:noFill/>
        </p:spPr>
        <p:txBody>
          <a:bodyPr wrap="square">
            <a:spAutoFit/>
          </a:bodyPr>
          <a:lstStyle/>
          <a:p>
            <a:r>
              <a:rPr lang="fr-FR" dirty="0">
                <a:latin typeface="Candara" panose="020E0502030303020204" pitchFamily="34" charset="0"/>
              </a:rPr>
              <a:t>Débite</a:t>
            </a:r>
            <a:endParaRPr lang="fr-FR" dirty="0"/>
          </a:p>
        </p:txBody>
      </p:sp>
      <p:pic>
        <p:nvPicPr>
          <p:cNvPr id="15" name="Image 14">
            <a:extLst>
              <a:ext uri="{FF2B5EF4-FFF2-40B4-BE49-F238E27FC236}">
                <a16:creationId xmlns:a16="http://schemas.microsoft.com/office/drawing/2014/main" id="{83BD4BC3-B4F3-FE90-9506-07B4289FB293}"/>
              </a:ext>
            </a:extLst>
          </p:cNvPr>
          <p:cNvPicPr>
            <a:picLocks noChangeAspect="1"/>
          </p:cNvPicPr>
          <p:nvPr/>
        </p:nvPicPr>
        <p:blipFill>
          <a:blip r:embed="rId2"/>
          <a:stretch>
            <a:fillRect/>
          </a:stretch>
        </p:blipFill>
        <p:spPr>
          <a:xfrm>
            <a:off x="11275600" y="1461729"/>
            <a:ext cx="570171" cy="1384702"/>
          </a:xfrm>
          <a:prstGeom prst="rect">
            <a:avLst/>
          </a:prstGeom>
        </p:spPr>
      </p:pic>
      <p:sp>
        <p:nvSpPr>
          <p:cNvPr id="19" name="Ellipse 18">
            <a:extLst>
              <a:ext uri="{FF2B5EF4-FFF2-40B4-BE49-F238E27FC236}">
                <a16:creationId xmlns:a16="http://schemas.microsoft.com/office/drawing/2014/main" id="{0F28312E-C940-7DCA-21EA-5829F1DC674B}"/>
              </a:ext>
            </a:extLst>
          </p:cNvPr>
          <p:cNvSpPr/>
          <p:nvPr/>
        </p:nvSpPr>
        <p:spPr>
          <a:xfrm>
            <a:off x="5743892" y="4089042"/>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0" name="ZoneTexte 19">
            <a:extLst>
              <a:ext uri="{FF2B5EF4-FFF2-40B4-BE49-F238E27FC236}">
                <a16:creationId xmlns:a16="http://schemas.microsoft.com/office/drawing/2014/main" id="{2B4AF124-3C6C-092F-3C3E-24286A57EB02}"/>
              </a:ext>
            </a:extLst>
          </p:cNvPr>
          <p:cNvSpPr txBox="1"/>
          <p:nvPr/>
        </p:nvSpPr>
        <p:spPr>
          <a:xfrm>
            <a:off x="6184637" y="4442624"/>
            <a:ext cx="1407527" cy="276999"/>
          </a:xfrm>
          <a:prstGeom prst="rect">
            <a:avLst/>
          </a:prstGeom>
          <a:noFill/>
        </p:spPr>
        <p:txBody>
          <a:bodyPr wrap="square">
            <a:spAutoFit/>
          </a:bodyPr>
          <a:lstStyle/>
          <a:p>
            <a:r>
              <a:rPr lang="fr-FR" sz="1200" dirty="0">
                <a:latin typeface="Candara" panose="020E0502030303020204" pitchFamily="34" charset="0"/>
              </a:rPr>
              <a:t>Ravitailler le DAB</a:t>
            </a:r>
            <a:endParaRPr lang="fr-FR" sz="1200" dirty="0"/>
          </a:p>
        </p:txBody>
      </p:sp>
      <p:sp>
        <p:nvSpPr>
          <p:cNvPr id="21" name="Ellipse 20">
            <a:extLst>
              <a:ext uri="{FF2B5EF4-FFF2-40B4-BE49-F238E27FC236}">
                <a16:creationId xmlns:a16="http://schemas.microsoft.com/office/drawing/2014/main" id="{BD719E9C-0E4E-E210-FEA0-36BF0563D6AA}"/>
              </a:ext>
            </a:extLst>
          </p:cNvPr>
          <p:cNvSpPr/>
          <p:nvPr/>
        </p:nvSpPr>
        <p:spPr>
          <a:xfrm>
            <a:off x="5743892" y="5281671"/>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2" name="ZoneTexte 21">
            <a:extLst>
              <a:ext uri="{FF2B5EF4-FFF2-40B4-BE49-F238E27FC236}">
                <a16:creationId xmlns:a16="http://schemas.microsoft.com/office/drawing/2014/main" id="{5C3EDA26-0840-D8DC-25B3-06AF18FF2F5C}"/>
              </a:ext>
            </a:extLst>
          </p:cNvPr>
          <p:cNvSpPr txBox="1"/>
          <p:nvPr/>
        </p:nvSpPr>
        <p:spPr>
          <a:xfrm>
            <a:off x="6169164" y="5635253"/>
            <a:ext cx="1416405" cy="276999"/>
          </a:xfrm>
          <a:prstGeom prst="rect">
            <a:avLst/>
          </a:prstGeom>
          <a:noFill/>
        </p:spPr>
        <p:txBody>
          <a:bodyPr wrap="square">
            <a:spAutoFit/>
          </a:bodyPr>
          <a:lstStyle/>
          <a:p>
            <a:r>
              <a:rPr lang="fr-FR" sz="1200" dirty="0">
                <a:latin typeface="Candara" panose="020E0502030303020204" pitchFamily="34" charset="0"/>
              </a:rPr>
              <a:t>Maintenir le DAB</a:t>
            </a:r>
            <a:endParaRPr lang="fr-FR" sz="1200" dirty="0"/>
          </a:p>
        </p:txBody>
      </p:sp>
      <p:cxnSp>
        <p:nvCxnSpPr>
          <p:cNvPr id="23" name="Connecteur droit 22">
            <a:extLst>
              <a:ext uri="{FF2B5EF4-FFF2-40B4-BE49-F238E27FC236}">
                <a16:creationId xmlns:a16="http://schemas.microsoft.com/office/drawing/2014/main" id="{41B4BD06-C59C-85D8-A8EB-7B3ADC5A59E5}"/>
              </a:ext>
            </a:extLst>
          </p:cNvPr>
          <p:cNvCxnSpPr>
            <a:cxnSpLocks/>
            <a:stCxn id="19" idx="6"/>
            <a:endCxn id="15" idx="1"/>
          </p:cNvCxnSpPr>
          <p:nvPr/>
        </p:nvCxnSpPr>
        <p:spPr>
          <a:xfrm flipV="1">
            <a:off x="8010842" y="2154080"/>
            <a:ext cx="3264758" cy="242704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AD7892-F19C-C55A-5025-CE86918BDDE9}"/>
              </a:ext>
            </a:extLst>
          </p:cNvPr>
          <p:cNvCxnSpPr>
            <a:cxnSpLocks/>
            <a:stCxn id="21" idx="6"/>
            <a:endCxn id="15" idx="1"/>
          </p:cNvCxnSpPr>
          <p:nvPr/>
        </p:nvCxnSpPr>
        <p:spPr>
          <a:xfrm flipV="1">
            <a:off x="8010842" y="2154080"/>
            <a:ext cx="3264758" cy="361967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2D8EEE76-2A86-03A6-3109-66857E72CE32}"/>
              </a:ext>
            </a:extLst>
          </p:cNvPr>
          <p:cNvSpPr txBox="1"/>
          <p:nvPr/>
        </p:nvSpPr>
        <p:spPr>
          <a:xfrm>
            <a:off x="9895219" y="1969414"/>
            <a:ext cx="1243720" cy="369332"/>
          </a:xfrm>
          <a:prstGeom prst="rect">
            <a:avLst/>
          </a:prstGeom>
          <a:noFill/>
        </p:spPr>
        <p:txBody>
          <a:bodyPr wrap="square">
            <a:spAutoFit/>
          </a:bodyPr>
          <a:lstStyle/>
          <a:p>
            <a:r>
              <a:rPr lang="fr-FR" dirty="0">
                <a:latin typeface="Candara" panose="020E0502030303020204" pitchFamily="34" charset="0"/>
              </a:rPr>
              <a:t>Alimente</a:t>
            </a:r>
            <a:endParaRPr lang="fr-FR" dirty="0"/>
          </a:p>
        </p:txBody>
      </p:sp>
      <p:sp>
        <p:nvSpPr>
          <p:cNvPr id="31" name="ZoneTexte 30">
            <a:extLst>
              <a:ext uri="{FF2B5EF4-FFF2-40B4-BE49-F238E27FC236}">
                <a16:creationId xmlns:a16="http://schemas.microsoft.com/office/drawing/2014/main" id="{7D9E882B-A0C0-3DE1-0065-C508EB6899A2}"/>
              </a:ext>
            </a:extLst>
          </p:cNvPr>
          <p:cNvSpPr txBox="1"/>
          <p:nvPr/>
        </p:nvSpPr>
        <p:spPr>
          <a:xfrm>
            <a:off x="10202721" y="3275269"/>
            <a:ext cx="1243720" cy="369332"/>
          </a:xfrm>
          <a:prstGeom prst="rect">
            <a:avLst/>
          </a:prstGeom>
          <a:noFill/>
        </p:spPr>
        <p:txBody>
          <a:bodyPr wrap="square">
            <a:spAutoFit/>
          </a:bodyPr>
          <a:lstStyle/>
          <a:p>
            <a:r>
              <a:rPr lang="fr-FR" dirty="0">
                <a:latin typeface="Candara" panose="020E0502030303020204" pitchFamily="34" charset="0"/>
              </a:rPr>
              <a:t>Entretient</a:t>
            </a:r>
            <a:endParaRPr lang="fr-FR" dirty="0"/>
          </a:p>
        </p:txBody>
      </p:sp>
      <p:sp>
        <p:nvSpPr>
          <p:cNvPr id="28" name="Ellipse 27">
            <a:extLst>
              <a:ext uri="{FF2B5EF4-FFF2-40B4-BE49-F238E27FC236}">
                <a16:creationId xmlns:a16="http://schemas.microsoft.com/office/drawing/2014/main" id="{B5056161-82B3-1EB7-F3A0-7E4C9728DB1D}"/>
              </a:ext>
            </a:extLst>
          </p:cNvPr>
          <p:cNvSpPr/>
          <p:nvPr/>
        </p:nvSpPr>
        <p:spPr>
          <a:xfrm>
            <a:off x="7058098" y="2265831"/>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9" name="ZoneTexte 28">
            <a:extLst>
              <a:ext uri="{FF2B5EF4-FFF2-40B4-BE49-F238E27FC236}">
                <a16:creationId xmlns:a16="http://schemas.microsoft.com/office/drawing/2014/main" id="{D700690A-683E-F018-052C-547B4C7E7D62}"/>
              </a:ext>
            </a:extLst>
          </p:cNvPr>
          <p:cNvSpPr txBox="1"/>
          <p:nvPr/>
        </p:nvSpPr>
        <p:spPr>
          <a:xfrm>
            <a:off x="7500309" y="2619414"/>
            <a:ext cx="1382528" cy="276999"/>
          </a:xfrm>
          <a:prstGeom prst="rect">
            <a:avLst/>
          </a:prstGeom>
          <a:noFill/>
        </p:spPr>
        <p:txBody>
          <a:bodyPr wrap="square">
            <a:spAutoFit/>
          </a:bodyPr>
          <a:lstStyle/>
          <a:p>
            <a:r>
              <a:rPr lang="fr-FR" sz="1200" dirty="0">
                <a:latin typeface="Candara" panose="020E0502030303020204" pitchFamily="34" charset="0"/>
              </a:rPr>
              <a:t>Identifier Compte</a:t>
            </a:r>
            <a:endParaRPr lang="fr-FR" sz="1200" dirty="0"/>
          </a:p>
        </p:txBody>
      </p:sp>
      <p:cxnSp>
        <p:nvCxnSpPr>
          <p:cNvPr id="32" name="Connecteur droit 31">
            <a:extLst>
              <a:ext uri="{FF2B5EF4-FFF2-40B4-BE49-F238E27FC236}">
                <a16:creationId xmlns:a16="http://schemas.microsoft.com/office/drawing/2014/main" id="{C017FEAE-9CD2-347A-25AE-51103E2923B7}"/>
              </a:ext>
            </a:extLst>
          </p:cNvPr>
          <p:cNvCxnSpPr>
            <a:cxnSpLocks/>
          </p:cNvCxnSpPr>
          <p:nvPr/>
        </p:nvCxnSpPr>
        <p:spPr>
          <a:xfrm>
            <a:off x="6493799" y="2265831"/>
            <a:ext cx="182209" cy="7291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351A4357-0226-BD19-9E5B-5DF1D2735173}"/>
              </a:ext>
            </a:extLst>
          </p:cNvPr>
          <p:cNvCxnSpPr>
            <a:cxnSpLocks/>
          </p:cNvCxnSpPr>
          <p:nvPr/>
        </p:nvCxnSpPr>
        <p:spPr>
          <a:xfrm>
            <a:off x="6800295" y="2390114"/>
            <a:ext cx="257803" cy="122267"/>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42F3A114-C5A5-3EAF-9A0C-FC4197E9DB4B}"/>
              </a:ext>
            </a:extLst>
          </p:cNvPr>
          <p:cNvSpPr txBox="1"/>
          <p:nvPr/>
        </p:nvSpPr>
        <p:spPr>
          <a:xfrm rot="1392906">
            <a:off x="6255656" y="2081843"/>
            <a:ext cx="1263253" cy="276999"/>
          </a:xfrm>
          <a:prstGeom prst="rect">
            <a:avLst/>
          </a:prstGeom>
          <a:noFill/>
        </p:spPr>
        <p:txBody>
          <a:bodyPr wrap="square">
            <a:spAutoFit/>
          </a:bodyPr>
          <a:lstStyle/>
          <a:p>
            <a:pPr algn="ctr"/>
            <a:r>
              <a:rPr lang="fr-FR" sz="1200" dirty="0">
                <a:latin typeface="Candara" panose="020E0502030303020204" pitchFamily="34" charset="0"/>
              </a:rPr>
              <a:t>« inclus »</a:t>
            </a:r>
            <a:endParaRPr lang="fr-FR" sz="1200" dirty="0"/>
          </a:p>
        </p:txBody>
      </p:sp>
      <p:cxnSp>
        <p:nvCxnSpPr>
          <p:cNvPr id="40" name="Connecteur droit 39">
            <a:extLst>
              <a:ext uri="{FF2B5EF4-FFF2-40B4-BE49-F238E27FC236}">
                <a16:creationId xmlns:a16="http://schemas.microsoft.com/office/drawing/2014/main" id="{EE1E3FC3-A126-E331-8098-DEF58AB0D628}"/>
              </a:ext>
            </a:extLst>
          </p:cNvPr>
          <p:cNvCxnSpPr>
            <a:cxnSpLocks/>
          </p:cNvCxnSpPr>
          <p:nvPr/>
        </p:nvCxnSpPr>
        <p:spPr>
          <a:xfrm flipV="1">
            <a:off x="6493799" y="3342947"/>
            <a:ext cx="200987" cy="6684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57D02AC4-C8FC-10B3-9D9A-8C7638E6913A}"/>
              </a:ext>
            </a:extLst>
          </p:cNvPr>
          <p:cNvCxnSpPr>
            <a:cxnSpLocks/>
          </p:cNvCxnSpPr>
          <p:nvPr/>
        </p:nvCxnSpPr>
        <p:spPr>
          <a:xfrm flipV="1">
            <a:off x="6854582" y="3168738"/>
            <a:ext cx="319876" cy="11904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ZoneTexte 46">
            <a:extLst>
              <a:ext uri="{FF2B5EF4-FFF2-40B4-BE49-F238E27FC236}">
                <a16:creationId xmlns:a16="http://schemas.microsoft.com/office/drawing/2014/main" id="{6A6F9C6A-040F-41CE-4191-843D925CB4CD}"/>
              </a:ext>
            </a:extLst>
          </p:cNvPr>
          <p:cNvSpPr txBox="1"/>
          <p:nvPr/>
        </p:nvSpPr>
        <p:spPr>
          <a:xfrm rot="20286676">
            <a:off x="6246286" y="3328695"/>
            <a:ext cx="1263253" cy="276999"/>
          </a:xfrm>
          <a:prstGeom prst="rect">
            <a:avLst/>
          </a:prstGeom>
          <a:noFill/>
        </p:spPr>
        <p:txBody>
          <a:bodyPr wrap="square">
            <a:spAutoFit/>
          </a:bodyPr>
          <a:lstStyle/>
          <a:p>
            <a:pPr algn="ctr"/>
            <a:r>
              <a:rPr lang="fr-FR" sz="1200" dirty="0">
                <a:latin typeface="Candara" panose="020E0502030303020204" pitchFamily="34" charset="0"/>
              </a:rPr>
              <a:t>« inclus »</a:t>
            </a:r>
            <a:endParaRPr lang="fr-FR" sz="1200" dirty="0"/>
          </a:p>
        </p:txBody>
      </p:sp>
      <p:sp>
        <p:nvSpPr>
          <p:cNvPr id="48" name="Ellipse 47">
            <a:extLst>
              <a:ext uri="{FF2B5EF4-FFF2-40B4-BE49-F238E27FC236}">
                <a16:creationId xmlns:a16="http://schemas.microsoft.com/office/drawing/2014/main" id="{72862A6F-FA11-38B0-4D5E-417277CBA3E8}"/>
              </a:ext>
            </a:extLst>
          </p:cNvPr>
          <p:cNvSpPr/>
          <p:nvPr/>
        </p:nvSpPr>
        <p:spPr>
          <a:xfrm>
            <a:off x="2784212" y="4581124"/>
            <a:ext cx="2266950" cy="984164"/>
          </a:xfrm>
          <a:prstGeom prst="ellipse">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49" name="ZoneTexte 48">
            <a:extLst>
              <a:ext uri="{FF2B5EF4-FFF2-40B4-BE49-F238E27FC236}">
                <a16:creationId xmlns:a16="http://schemas.microsoft.com/office/drawing/2014/main" id="{35E0273C-7A29-A811-81FA-157B76C4B8C6}"/>
              </a:ext>
            </a:extLst>
          </p:cNvPr>
          <p:cNvSpPr txBox="1"/>
          <p:nvPr/>
        </p:nvSpPr>
        <p:spPr>
          <a:xfrm>
            <a:off x="3226423" y="4934707"/>
            <a:ext cx="1382528" cy="276999"/>
          </a:xfrm>
          <a:prstGeom prst="rect">
            <a:avLst/>
          </a:prstGeom>
          <a:noFill/>
        </p:spPr>
        <p:txBody>
          <a:bodyPr wrap="square">
            <a:spAutoFit/>
          </a:bodyPr>
          <a:lstStyle/>
          <a:p>
            <a:r>
              <a:rPr lang="fr-FR" sz="1200" dirty="0">
                <a:latin typeface="Candara" panose="020E0502030303020204" pitchFamily="34" charset="0"/>
              </a:rPr>
              <a:t>Choisir coupure</a:t>
            </a:r>
            <a:endParaRPr lang="fr-FR" sz="1200" dirty="0"/>
          </a:p>
        </p:txBody>
      </p:sp>
      <p:cxnSp>
        <p:nvCxnSpPr>
          <p:cNvPr id="50" name="Connecteur droit 49">
            <a:extLst>
              <a:ext uri="{FF2B5EF4-FFF2-40B4-BE49-F238E27FC236}">
                <a16:creationId xmlns:a16="http://schemas.microsoft.com/office/drawing/2014/main" id="{01652DF7-BF08-A38A-D0BD-2BCA56D60842}"/>
              </a:ext>
            </a:extLst>
          </p:cNvPr>
          <p:cNvCxnSpPr>
            <a:cxnSpLocks/>
          </p:cNvCxnSpPr>
          <p:nvPr/>
        </p:nvCxnSpPr>
        <p:spPr>
          <a:xfrm flipV="1">
            <a:off x="4279036" y="4314547"/>
            <a:ext cx="168676" cy="25769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E658F6BD-7B00-4493-2CDE-3E440034C6DB}"/>
              </a:ext>
            </a:extLst>
          </p:cNvPr>
          <p:cNvCxnSpPr>
            <a:cxnSpLocks/>
          </p:cNvCxnSpPr>
          <p:nvPr/>
        </p:nvCxnSpPr>
        <p:spPr>
          <a:xfrm flipV="1">
            <a:off x="4517991" y="3879077"/>
            <a:ext cx="212914" cy="31979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ZoneTexte 58">
            <a:extLst>
              <a:ext uri="{FF2B5EF4-FFF2-40B4-BE49-F238E27FC236}">
                <a16:creationId xmlns:a16="http://schemas.microsoft.com/office/drawing/2014/main" id="{BFCECC56-C8C8-E9E6-1935-B5F54B0C1700}"/>
              </a:ext>
            </a:extLst>
          </p:cNvPr>
          <p:cNvSpPr txBox="1"/>
          <p:nvPr/>
        </p:nvSpPr>
        <p:spPr>
          <a:xfrm rot="18180766">
            <a:off x="4114341" y="4140392"/>
            <a:ext cx="1263253" cy="276999"/>
          </a:xfrm>
          <a:prstGeom prst="rect">
            <a:avLst/>
          </a:prstGeom>
          <a:noFill/>
        </p:spPr>
        <p:txBody>
          <a:bodyPr wrap="square">
            <a:spAutoFit/>
          </a:bodyPr>
          <a:lstStyle/>
          <a:p>
            <a:pPr algn="ctr"/>
            <a:r>
              <a:rPr lang="fr-FR" sz="1200" dirty="0">
                <a:latin typeface="Candara" panose="020E0502030303020204" pitchFamily="34" charset="0"/>
              </a:rPr>
              <a:t>« étendu »</a:t>
            </a:r>
            <a:endParaRPr lang="fr-FR" sz="1200" dirty="0"/>
          </a:p>
        </p:txBody>
      </p:sp>
      <p:sp>
        <p:nvSpPr>
          <p:cNvPr id="61" name="Rectangle : avec coin rogné 60">
            <a:extLst>
              <a:ext uri="{FF2B5EF4-FFF2-40B4-BE49-F238E27FC236}">
                <a16:creationId xmlns:a16="http://schemas.microsoft.com/office/drawing/2014/main" id="{E9C90C57-8869-F13A-8726-C0E6110B0B68}"/>
              </a:ext>
            </a:extLst>
          </p:cNvPr>
          <p:cNvSpPr/>
          <p:nvPr/>
        </p:nvSpPr>
        <p:spPr>
          <a:xfrm>
            <a:off x="9986718" y="4243523"/>
            <a:ext cx="1859053" cy="1320706"/>
          </a:xfrm>
          <a:prstGeom prst="snip1Rect">
            <a:avLst/>
          </a:prstGeom>
          <a:noFill/>
          <a:ln w="508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62" name="ZoneTexte 61">
            <a:extLst>
              <a:ext uri="{FF2B5EF4-FFF2-40B4-BE49-F238E27FC236}">
                <a16:creationId xmlns:a16="http://schemas.microsoft.com/office/drawing/2014/main" id="{1039C13A-E8FD-B3B8-7642-5BE5079E8FA6}"/>
              </a:ext>
            </a:extLst>
          </p:cNvPr>
          <p:cNvSpPr txBox="1"/>
          <p:nvPr/>
        </p:nvSpPr>
        <p:spPr>
          <a:xfrm>
            <a:off x="10030606" y="4387994"/>
            <a:ext cx="1733474" cy="1077218"/>
          </a:xfrm>
          <a:prstGeom prst="rect">
            <a:avLst/>
          </a:prstGeom>
          <a:noFill/>
        </p:spPr>
        <p:txBody>
          <a:bodyPr wrap="square">
            <a:spAutoFit/>
          </a:bodyPr>
          <a:lstStyle/>
          <a:p>
            <a:pPr algn="ctr"/>
            <a:r>
              <a:rPr lang="fr-FR" sz="1600" dirty="0">
                <a:latin typeface="Candara" panose="020E0502030303020204" pitchFamily="34" charset="0"/>
              </a:rPr>
              <a:t>Il s’agit de la saisie de code et la sélection du compte actif</a:t>
            </a:r>
            <a:endParaRPr lang="fr-FR" sz="1600" dirty="0"/>
          </a:p>
        </p:txBody>
      </p:sp>
      <p:cxnSp>
        <p:nvCxnSpPr>
          <p:cNvPr id="63" name="Connecteur droit 62">
            <a:extLst>
              <a:ext uri="{FF2B5EF4-FFF2-40B4-BE49-F238E27FC236}">
                <a16:creationId xmlns:a16="http://schemas.microsoft.com/office/drawing/2014/main" id="{5C388135-1559-84A5-FCB1-E7CAFCAFE255}"/>
              </a:ext>
            </a:extLst>
          </p:cNvPr>
          <p:cNvCxnSpPr>
            <a:cxnSpLocks/>
          </p:cNvCxnSpPr>
          <p:nvPr/>
        </p:nvCxnSpPr>
        <p:spPr>
          <a:xfrm>
            <a:off x="8882837" y="3176534"/>
            <a:ext cx="399408" cy="29066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2A25824E-6FB9-5800-BD64-220DF213E131}"/>
              </a:ext>
            </a:extLst>
          </p:cNvPr>
          <p:cNvCxnSpPr>
            <a:cxnSpLocks/>
          </p:cNvCxnSpPr>
          <p:nvPr/>
        </p:nvCxnSpPr>
        <p:spPr>
          <a:xfrm>
            <a:off x="9418003" y="3566303"/>
            <a:ext cx="399408" cy="29066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41B4FABD-A00F-8514-A95C-5E93B82D520E}"/>
              </a:ext>
            </a:extLst>
          </p:cNvPr>
          <p:cNvCxnSpPr>
            <a:cxnSpLocks/>
          </p:cNvCxnSpPr>
          <p:nvPr/>
        </p:nvCxnSpPr>
        <p:spPr>
          <a:xfrm>
            <a:off x="9952334" y="3950255"/>
            <a:ext cx="399408" cy="29066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752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239790" y="2321004"/>
            <a:ext cx="11712420" cy="2215991"/>
          </a:xfrm>
          <a:prstGeom prst="rect">
            <a:avLst/>
          </a:prstGeom>
        </p:spPr>
        <p:txBody>
          <a:bodyPr wrap="square">
            <a:spAutoFit/>
          </a:bodyPr>
          <a:lstStyle/>
          <a:p>
            <a:pPr algn="ctr"/>
            <a:r>
              <a:rPr lang="fr-FR" sz="13800" b="1" dirty="0">
                <a:latin typeface="Candara" panose="020E0502030303020204" pitchFamily="34" charset="0"/>
              </a:rPr>
              <a:t>Des questions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62143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 vous de jouer</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10360242" cy="3970318"/>
          </a:xfrm>
          <a:prstGeom prst="rect">
            <a:avLst/>
          </a:prstGeom>
        </p:spPr>
        <p:txBody>
          <a:bodyPr wrap="square">
            <a:spAutoFit/>
          </a:bodyPr>
          <a:lstStyle/>
          <a:p>
            <a:pPr algn="just"/>
            <a:r>
              <a:rPr lang="fr-FR" sz="2800" dirty="0">
                <a:latin typeface="Candara" panose="020E0502030303020204" pitchFamily="34" charset="0"/>
              </a:rPr>
              <a:t>Une application mobile présente un catalogue de vin en vente. Celui-ci est accessible à toutes les personnes ayant téléchargé l’application. Seuls les utilisateurs inscrits peuvent, après s’être connectés, remplir leur panier puis procéder au paiement. Il est possible d’utiliser un bon de réduction au moment du paiement. Le catalogue est mis à jour chaque mois par les administrateurs de l’application.</a:t>
            </a:r>
          </a:p>
          <a:p>
            <a:pPr algn="just"/>
            <a:endParaRPr lang="fr-FR" sz="2800" dirty="0">
              <a:latin typeface="Candara" panose="020E0502030303020204" pitchFamily="34" charset="0"/>
            </a:endParaRPr>
          </a:p>
          <a:p>
            <a:pPr algn="just"/>
            <a:r>
              <a:rPr lang="fr-FR" sz="2800" dirty="0">
                <a:latin typeface="Candara" panose="020E0502030303020204" pitchFamily="34" charset="0"/>
              </a:rPr>
              <a:t>Construire le diagramme de cas d’utilisation.</a:t>
            </a:r>
          </a:p>
        </p:txBody>
      </p:sp>
      <p:pic>
        <p:nvPicPr>
          <p:cNvPr id="5" name="Image 4">
            <a:extLst>
              <a:ext uri="{FF2B5EF4-FFF2-40B4-BE49-F238E27FC236}">
                <a16:creationId xmlns:a16="http://schemas.microsoft.com/office/drawing/2014/main" id="{74F1D623-A471-6D1C-111E-5A5CA7FA37B9}"/>
              </a:ext>
            </a:extLst>
          </p:cNvPr>
          <p:cNvPicPr>
            <a:picLocks noChangeAspect="1"/>
          </p:cNvPicPr>
          <p:nvPr/>
        </p:nvPicPr>
        <p:blipFill>
          <a:blip r:embed="rId2"/>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3033315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 vous de jouer</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10360242" cy="4524315"/>
          </a:xfrm>
          <a:prstGeom prst="rect">
            <a:avLst/>
          </a:prstGeom>
        </p:spPr>
        <p:txBody>
          <a:bodyPr wrap="square">
            <a:spAutoFit/>
          </a:bodyPr>
          <a:lstStyle/>
          <a:p>
            <a:pPr algn="just"/>
            <a:r>
              <a:rPr lang="fr-FR" sz="2400" dirty="0">
                <a:latin typeface="Candara" panose="020E0502030303020204" pitchFamily="34" charset="0"/>
              </a:rPr>
              <a:t>Dans un établissement scolaire, on désire gérer la réservation des salles de cours ainsi que du matériel pédagogique (ordinateur portable ou/et Vidéo projecteur). </a:t>
            </a:r>
          </a:p>
          <a:p>
            <a:pPr algn="just"/>
            <a:r>
              <a:rPr lang="fr-FR" sz="2400" dirty="0">
                <a:latin typeface="Candara" panose="020E0502030303020204" pitchFamily="34" charset="0"/>
              </a:rPr>
              <a:t>Seuls les enseignants sont habilités à effectuer des réservations (sous réserve de disponibilité de la salle ou du matériel). Le planning des salles peut quant à lui être consulté par tout le monde (enseignants et étudiants).</a:t>
            </a:r>
          </a:p>
          <a:p>
            <a:pPr algn="just"/>
            <a:r>
              <a:rPr lang="fr-FR" sz="2400" dirty="0">
                <a:latin typeface="Candara" panose="020E0502030303020204" pitchFamily="34" charset="0"/>
              </a:rPr>
              <a:t>Par contre, le récapitulatif horaire par enseignant (calculé à partir du planning des salles) ne peut être consulté que par les enseignants.</a:t>
            </a:r>
          </a:p>
          <a:p>
            <a:pPr algn="just"/>
            <a:r>
              <a:rPr lang="fr-FR" sz="2400" dirty="0">
                <a:latin typeface="Candara" panose="020E0502030303020204" pitchFamily="34" charset="0"/>
              </a:rPr>
              <a:t>Enfin, il existe pour chaque formation un enseignant responsable qui seul peut éditer le récapitulatif horaire pour l’ensemble de la formation. </a:t>
            </a:r>
          </a:p>
          <a:p>
            <a:pPr algn="just"/>
            <a:endParaRPr lang="fr-FR" sz="2400" dirty="0">
              <a:latin typeface="Candara" panose="020E0502030303020204" pitchFamily="34" charset="0"/>
            </a:endParaRPr>
          </a:p>
          <a:p>
            <a:pPr algn="just"/>
            <a:r>
              <a:rPr lang="fr-FR" sz="2400" dirty="0">
                <a:latin typeface="Candara" panose="020E0502030303020204" pitchFamily="34" charset="0"/>
              </a:rPr>
              <a:t>Modéliser cette situation par un diagramme de cas d’utilisation.</a:t>
            </a:r>
          </a:p>
        </p:txBody>
      </p:sp>
      <p:pic>
        <p:nvPicPr>
          <p:cNvPr id="5" name="Image 4">
            <a:extLst>
              <a:ext uri="{FF2B5EF4-FFF2-40B4-BE49-F238E27FC236}">
                <a16:creationId xmlns:a16="http://schemas.microsoft.com/office/drawing/2014/main" id="{CEA89691-63B3-718E-1E5F-FB20FE0641FE}"/>
              </a:ext>
            </a:extLst>
          </p:cNvPr>
          <p:cNvPicPr>
            <a:picLocks noChangeAspect="1"/>
          </p:cNvPicPr>
          <p:nvPr/>
        </p:nvPicPr>
        <p:blipFill>
          <a:blip r:embed="rId2"/>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17736239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 vous de jouer</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10360242" cy="4524315"/>
          </a:xfrm>
          <a:prstGeom prst="rect">
            <a:avLst/>
          </a:prstGeom>
        </p:spPr>
        <p:txBody>
          <a:bodyPr wrap="square">
            <a:spAutoFit/>
          </a:bodyPr>
          <a:lstStyle/>
          <a:p>
            <a:pPr algn="just"/>
            <a:r>
              <a:rPr lang="fr-FR" sz="2400" dirty="0">
                <a:latin typeface="Candara" panose="020E0502030303020204" pitchFamily="34" charset="0"/>
              </a:rPr>
              <a:t>Dans la plupart des magasins le processus de vente est le suivant : le client entre dans le magasin, passe dans les rayons, demande éventuellement des renseignements ou procède à des essais, prend des articles (ou les réserve si le stock est insuffisant), passe à la caisse où il règle ses achats. Il peut bénéficier d’une réduction ou d’un avoir. Il peut régler en liquide, par chèque (pour un montant supérieur à 15 euros), ou par carte (pour un montant supérieur à 13 euros). Aucune référence n’est attribuée au client, même si des renseignements sont conservés en cas de réclamation. Une livraison est possible pour les achats encombrants.</a:t>
            </a:r>
          </a:p>
          <a:p>
            <a:pPr algn="just"/>
            <a:endParaRPr lang="fr-FR" sz="2400" dirty="0">
              <a:latin typeface="Candara" panose="020E0502030303020204" pitchFamily="34" charset="0"/>
            </a:endParaRPr>
          </a:p>
          <a:p>
            <a:pPr algn="just"/>
            <a:r>
              <a:rPr lang="fr-FR" sz="2400" dirty="0">
                <a:latin typeface="Candara" panose="020E0502030303020204" pitchFamily="34" charset="0"/>
              </a:rPr>
              <a:t>1. Modéliser cette situation usuelle par un diagramme de cas d’utilisation </a:t>
            </a:r>
          </a:p>
          <a:p>
            <a:pPr algn="just"/>
            <a:r>
              <a:rPr lang="fr-FR" sz="2400" dirty="0">
                <a:latin typeface="Candara" panose="020E0502030303020204" pitchFamily="34" charset="0"/>
              </a:rPr>
              <a:t>2. Justifier les relations entre cas d’utilisation</a:t>
            </a:r>
          </a:p>
        </p:txBody>
      </p:sp>
      <p:pic>
        <p:nvPicPr>
          <p:cNvPr id="5" name="Image 4">
            <a:extLst>
              <a:ext uri="{FF2B5EF4-FFF2-40B4-BE49-F238E27FC236}">
                <a16:creationId xmlns:a16="http://schemas.microsoft.com/office/drawing/2014/main" id="{0A044145-184F-97C2-3A46-DA3B9DE4A438}"/>
              </a:ext>
            </a:extLst>
          </p:cNvPr>
          <p:cNvPicPr>
            <a:picLocks noChangeAspect="1"/>
          </p:cNvPicPr>
          <p:nvPr/>
        </p:nvPicPr>
        <p:blipFill>
          <a:blip r:embed="rId2"/>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539071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0DB1E-B763-9C61-FBB5-352DB8C164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AC78A3E-F015-5D5A-F6FE-4A432ED413B1}"/>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8988437A-E03F-A3CA-53AD-044923E8DCF7}"/>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 vous de jouer</a:t>
            </a:r>
          </a:p>
        </p:txBody>
      </p:sp>
      <p:sp>
        <p:nvSpPr>
          <p:cNvPr id="6" name="Rectangle : coins arrondis 5">
            <a:extLst>
              <a:ext uri="{FF2B5EF4-FFF2-40B4-BE49-F238E27FC236}">
                <a16:creationId xmlns:a16="http://schemas.microsoft.com/office/drawing/2014/main" id="{E46E4442-A095-C802-DB1D-E62E5C853206}"/>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62B3B80C-DC76-4D37-D4C3-44EC7BEAF906}"/>
              </a:ext>
            </a:extLst>
          </p:cNvPr>
          <p:cNvSpPr/>
          <p:nvPr/>
        </p:nvSpPr>
        <p:spPr>
          <a:xfrm>
            <a:off x="710213" y="1971819"/>
            <a:ext cx="10360242" cy="4154984"/>
          </a:xfrm>
          <a:prstGeom prst="rect">
            <a:avLst/>
          </a:prstGeom>
        </p:spPr>
        <p:txBody>
          <a:bodyPr wrap="square">
            <a:spAutoFit/>
          </a:bodyPr>
          <a:lstStyle/>
          <a:p>
            <a:pPr algn="just"/>
            <a:r>
              <a:rPr lang="fr-FR" sz="2400" dirty="0">
                <a:latin typeface="Candara" panose="020E0502030303020204" pitchFamily="34" charset="0"/>
              </a:rPr>
              <a:t>On  considère  le  système  suivant  de  gestion  d’un  DAB  (Distributeur  automatique  de billets) :  - le  distributeur  délivre  de  l’argent  à  tout  porteur  de  carte  (carte  Visa  ou  carte  de  la banque) - pour les clients de la banque, il permet :  la consultation du solde du compte  le dépôt d’argent (chèque ou numéraire) - toute transaction est sécurisée et nécessite par conséquent une authentification - dans le cas où une carte est avalée par le distributeur, un opérateur de maintenance se charge  de  la  récupérer.  C’est  la  même  personne  qui  collecte  également  les  dépôts d’argent et qui recharge le distributeur.</a:t>
            </a:r>
          </a:p>
          <a:p>
            <a:pPr algn="just"/>
            <a:endParaRPr lang="fr-FR" sz="2400" dirty="0">
              <a:latin typeface="Candara" panose="020E0502030303020204" pitchFamily="34" charset="0"/>
            </a:endParaRPr>
          </a:p>
          <a:p>
            <a:pPr algn="just"/>
            <a:r>
              <a:rPr lang="fr-FR" sz="2400" dirty="0">
                <a:latin typeface="Candara" panose="020E0502030303020204" pitchFamily="34" charset="0"/>
              </a:rPr>
              <a:t>1. Modéliser cette situation usuelle par un diagramme de cas d’utilisation </a:t>
            </a:r>
          </a:p>
        </p:txBody>
      </p:sp>
      <p:pic>
        <p:nvPicPr>
          <p:cNvPr id="5" name="Image 4">
            <a:extLst>
              <a:ext uri="{FF2B5EF4-FFF2-40B4-BE49-F238E27FC236}">
                <a16:creationId xmlns:a16="http://schemas.microsoft.com/office/drawing/2014/main" id="{7A45BA4C-ADB1-0EEE-2F1C-6AFB43079326}"/>
              </a:ext>
            </a:extLst>
          </p:cNvPr>
          <p:cNvPicPr>
            <a:picLocks noChangeAspect="1"/>
          </p:cNvPicPr>
          <p:nvPr/>
        </p:nvPicPr>
        <p:blipFill>
          <a:blip r:embed="rId2"/>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1351793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239790" y="2321004"/>
            <a:ext cx="11712420" cy="2215991"/>
          </a:xfrm>
          <a:prstGeom prst="rect">
            <a:avLst/>
          </a:prstGeom>
        </p:spPr>
        <p:txBody>
          <a:bodyPr wrap="square">
            <a:spAutoFit/>
          </a:bodyPr>
          <a:lstStyle/>
          <a:p>
            <a:pPr algn="ctr"/>
            <a:r>
              <a:rPr lang="fr-FR" sz="13800" b="1" dirty="0">
                <a:latin typeface="Candara" panose="020E0502030303020204" pitchFamily="34" charset="0"/>
              </a:rPr>
              <a:t>Des questions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749828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 reverse engineering</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2104152"/>
            <a:ext cx="5500088" cy="3970318"/>
          </a:xfrm>
          <a:prstGeom prst="rect">
            <a:avLst/>
          </a:prstGeom>
        </p:spPr>
        <p:txBody>
          <a:bodyPr wrap="square">
            <a:spAutoFit/>
          </a:bodyPr>
          <a:lstStyle/>
          <a:p>
            <a:pPr algn="just"/>
            <a:r>
              <a:rPr lang="fr-FR" sz="2800" dirty="0">
                <a:latin typeface="Candara" panose="020E0502030303020204" pitchFamily="34" charset="0"/>
              </a:rPr>
              <a:t>Le Reverse Engineering (rétro-ingénierie ou ingénierie inverse en français) représente l'étude et l'analyse d'un système pour en déduire son fonctionnement interne.</a:t>
            </a:r>
          </a:p>
          <a:p>
            <a:pPr algn="just"/>
            <a:endParaRPr lang="fr-FR" sz="2800" dirty="0">
              <a:latin typeface="Candara" panose="020E0502030303020204" pitchFamily="34" charset="0"/>
            </a:endParaRPr>
          </a:p>
          <a:p>
            <a:pPr algn="just"/>
            <a:r>
              <a:rPr lang="fr-FR" sz="2800" dirty="0">
                <a:latin typeface="Candara" panose="020E0502030303020204" pitchFamily="34" charset="0"/>
              </a:rPr>
              <a:t>Méthode souvent utilisée en entreprise.</a:t>
            </a:r>
          </a:p>
        </p:txBody>
      </p:sp>
      <p:pic>
        <p:nvPicPr>
          <p:cNvPr id="3" name="Image 2">
            <a:extLst>
              <a:ext uri="{FF2B5EF4-FFF2-40B4-BE49-F238E27FC236}">
                <a16:creationId xmlns:a16="http://schemas.microsoft.com/office/drawing/2014/main" id="{60A5E6F1-9519-41C7-B1DA-0254FCC8A72D}"/>
              </a:ext>
            </a:extLst>
          </p:cNvPr>
          <p:cNvPicPr>
            <a:picLocks noChangeAspect="1"/>
          </p:cNvPicPr>
          <p:nvPr/>
        </p:nvPicPr>
        <p:blipFill>
          <a:blip r:embed="rId2"/>
          <a:stretch>
            <a:fillRect/>
          </a:stretch>
        </p:blipFill>
        <p:spPr>
          <a:xfrm>
            <a:off x="6763248" y="1251653"/>
            <a:ext cx="5196823" cy="3455887"/>
          </a:xfrm>
          <a:prstGeom prst="rect">
            <a:avLst/>
          </a:prstGeom>
        </p:spPr>
      </p:pic>
      <p:pic>
        <p:nvPicPr>
          <p:cNvPr id="5" name="Image 4">
            <a:extLst>
              <a:ext uri="{FF2B5EF4-FFF2-40B4-BE49-F238E27FC236}">
                <a16:creationId xmlns:a16="http://schemas.microsoft.com/office/drawing/2014/main" id="{D85F8CDA-B3BC-2063-F11F-B391FA54C4A8}"/>
              </a:ext>
            </a:extLst>
          </p:cNvPr>
          <p:cNvPicPr>
            <a:picLocks noChangeAspect="1"/>
          </p:cNvPicPr>
          <p:nvPr/>
        </p:nvPicPr>
        <p:blipFill>
          <a:blip r:embed="rId3"/>
          <a:stretch>
            <a:fillRect/>
          </a:stretch>
        </p:blipFill>
        <p:spPr>
          <a:xfrm>
            <a:off x="10510642" y="5221632"/>
            <a:ext cx="1494130" cy="1494130"/>
          </a:xfrm>
          <a:prstGeom prst="rect">
            <a:avLst/>
          </a:prstGeom>
        </p:spPr>
      </p:pic>
    </p:spTree>
    <p:extLst>
      <p:ext uri="{BB962C8B-B14F-4D97-AF65-F5344CB8AC3E}">
        <p14:creationId xmlns:p14="http://schemas.microsoft.com/office/powerpoint/2010/main" val="3845548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 vous de jouer</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541538" y="2194278"/>
            <a:ext cx="3923930" cy="3108543"/>
          </a:xfrm>
          <a:prstGeom prst="rect">
            <a:avLst/>
          </a:prstGeom>
        </p:spPr>
        <p:txBody>
          <a:bodyPr wrap="square">
            <a:spAutoFit/>
          </a:bodyPr>
          <a:lstStyle/>
          <a:p>
            <a:pPr algn="just"/>
            <a:r>
              <a:rPr lang="fr-FR" sz="2800" dirty="0">
                <a:latin typeface="Candara" panose="020E0502030303020204" pitchFamily="34" charset="0"/>
              </a:rPr>
              <a:t>Appliquer le Reverse Engineering sur ce diagramme ! </a:t>
            </a:r>
          </a:p>
          <a:p>
            <a:pPr algn="just"/>
            <a:endParaRPr lang="fr-FR" sz="2800" dirty="0">
              <a:latin typeface="Candara" panose="020E0502030303020204" pitchFamily="34" charset="0"/>
            </a:endParaRPr>
          </a:p>
          <a:p>
            <a:pPr algn="just"/>
            <a:r>
              <a:rPr lang="fr-FR" sz="2800" dirty="0">
                <a:latin typeface="Candara" panose="020E0502030303020204" pitchFamily="34" charset="0"/>
              </a:rPr>
              <a:t>Est-il possible d’améliorer ce diagramme ?</a:t>
            </a:r>
          </a:p>
        </p:txBody>
      </p:sp>
      <p:pic>
        <p:nvPicPr>
          <p:cNvPr id="1026" name="Picture 2" descr="Online shopping UML use case diagram example - top level use cases.">
            <a:extLst>
              <a:ext uri="{FF2B5EF4-FFF2-40B4-BE49-F238E27FC236}">
                <a16:creationId xmlns:a16="http://schemas.microsoft.com/office/drawing/2014/main" id="{1DC35BB6-7BA5-4573-B9F1-6A3A8DDBE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8534" y="1481599"/>
            <a:ext cx="6096000" cy="453390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8FBB8D13-51B7-4B32-C514-4D8DF27A88D2}"/>
              </a:ext>
            </a:extLst>
          </p:cNvPr>
          <p:cNvPicPr>
            <a:picLocks noChangeAspect="1"/>
          </p:cNvPicPr>
          <p:nvPr/>
        </p:nvPicPr>
        <p:blipFill>
          <a:blip r:embed="rId3"/>
          <a:stretch>
            <a:fillRect/>
          </a:stretch>
        </p:blipFill>
        <p:spPr>
          <a:xfrm>
            <a:off x="10496878" y="5295707"/>
            <a:ext cx="1589486" cy="1473515"/>
          </a:xfrm>
          <a:prstGeom prst="rect">
            <a:avLst/>
          </a:prstGeom>
        </p:spPr>
      </p:pic>
    </p:spTree>
    <p:extLst>
      <p:ext uri="{BB962C8B-B14F-4D97-AF65-F5344CB8AC3E}">
        <p14:creationId xmlns:p14="http://schemas.microsoft.com/office/powerpoint/2010/main" val="3600995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Online shopping UML use case diagram example - top level use cases.">
            <a:extLst>
              <a:ext uri="{FF2B5EF4-FFF2-40B4-BE49-F238E27FC236}">
                <a16:creationId xmlns:a16="http://schemas.microsoft.com/office/drawing/2014/main" id="{1DC35BB6-7BA5-4573-B9F1-6A3A8DDBE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229" y="1796437"/>
            <a:ext cx="6096000" cy="45339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Online shopping UML use case diagram example - view items use case.">
            <a:extLst>
              <a:ext uri="{FF2B5EF4-FFF2-40B4-BE49-F238E27FC236}">
                <a16:creationId xmlns:a16="http://schemas.microsoft.com/office/drawing/2014/main" id="{D63DB870-B913-48E0-8AE8-C66F4B0C33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0602" y="2206012"/>
            <a:ext cx="5143500" cy="371475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cteur droit 4">
            <a:extLst>
              <a:ext uri="{FF2B5EF4-FFF2-40B4-BE49-F238E27FC236}">
                <a16:creationId xmlns:a16="http://schemas.microsoft.com/office/drawing/2014/main" id="{70D744DF-3CBB-4897-A4ED-FC7FE1DB0FDE}"/>
              </a:ext>
            </a:extLst>
          </p:cNvPr>
          <p:cNvCxnSpPr/>
          <p:nvPr/>
        </p:nvCxnSpPr>
        <p:spPr>
          <a:xfrm>
            <a:off x="6604986" y="1769803"/>
            <a:ext cx="0" cy="467538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091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Online shopping UML use case diagram example - top level use cases.">
            <a:extLst>
              <a:ext uri="{FF2B5EF4-FFF2-40B4-BE49-F238E27FC236}">
                <a16:creationId xmlns:a16="http://schemas.microsoft.com/office/drawing/2014/main" id="{1DC35BB6-7BA5-4573-B9F1-6A3A8DDBE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229" y="1796437"/>
            <a:ext cx="6096000" cy="45339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cteur droit 4">
            <a:extLst>
              <a:ext uri="{FF2B5EF4-FFF2-40B4-BE49-F238E27FC236}">
                <a16:creationId xmlns:a16="http://schemas.microsoft.com/office/drawing/2014/main" id="{70D744DF-3CBB-4897-A4ED-FC7FE1DB0FDE}"/>
              </a:ext>
            </a:extLst>
          </p:cNvPr>
          <p:cNvCxnSpPr/>
          <p:nvPr/>
        </p:nvCxnSpPr>
        <p:spPr>
          <a:xfrm>
            <a:off x="6604986" y="1769803"/>
            <a:ext cx="0" cy="467538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3074" name="Picture 2" descr="Online shopping UML use case diagram example - checkout, authentication and payment use cases.">
            <a:extLst>
              <a:ext uri="{FF2B5EF4-FFF2-40B4-BE49-F238E27FC236}">
                <a16:creationId xmlns:a16="http://schemas.microsoft.com/office/drawing/2014/main" id="{F92E70CF-3B44-4239-B10B-F34DA3BE9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7744" y="1798228"/>
            <a:ext cx="5257791" cy="4646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05190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Point sur les outils Use Case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7" name="Objet 6">
            <a:extLst>
              <a:ext uri="{FF2B5EF4-FFF2-40B4-BE49-F238E27FC236}">
                <a16:creationId xmlns:a16="http://schemas.microsoft.com/office/drawing/2014/main" id="{D97C5101-5C6A-45D6-A27E-8F496D51C95C}"/>
              </a:ext>
            </a:extLst>
          </p:cNvPr>
          <p:cNvGraphicFramePr>
            <a:graphicFrameLocks noChangeAspect="1"/>
          </p:cNvGraphicFramePr>
          <p:nvPr>
            <p:extLst>
              <p:ext uri="{D42A27DB-BD31-4B8C-83A1-F6EECF244321}">
                <p14:modId xmlns:p14="http://schemas.microsoft.com/office/powerpoint/2010/main" val="3054583273"/>
              </p:ext>
            </p:extLst>
          </p:nvPr>
        </p:nvGraphicFramePr>
        <p:xfrm>
          <a:off x="923277" y="1119580"/>
          <a:ext cx="10345445" cy="5335897"/>
        </p:xfrm>
        <a:graphic>
          <a:graphicData uri="http://schemas.openxmlformats.org/presentationml/2006/ole">
            <mc:AlternateContent xmlns:mc="http://schemas.openxmlformats.org/markup-compatibility/2006">
              <mc:Choice xmlns:v="urn:schemas-microsoft-com:vml" Requires="v">
                <p:oleObj name="Worksheet" r:id="rId3" imgW="9913797" imgH="5112957" progId="Excel.Sheet.12">
                  <p:embed/>
                </p:oleObj>
              </mc:Choice>
              <mc:Fallback>
                <p:oleObj name="Worksheet" r:id="rId3" imgW="9913797" imgH="5112957" progId="Excel.Sheet.12">
                  <p:embed/>
                  <p:pic>
                    <p:nvPicPr>
                      <p:cNvPr id="7" name="Objet 6">
                        <a:extLst>
                          <a:ext uri="{FF2B5EF4-FFF2-40B4-BE49-F238E27FC236}">
                            <a16:creationId xmlns:a16="http://schemas.microsoft.com/office/drawing/2014/main" id="{D97C5101-5C6A-45D6-A27E-8F496D51C95C}"/>
                          </a:ext>
                        </a:extLst>
                      </p:cNvPr>
                      <p:cNvPicPr/>
                      <p:nvPr/>
                    </p:nvPicPr>
                    <p:blipFill>
                      <a:blip r:embed="rId4"/>
                      <a:stretch>
                        <a:fillRect/>
                      </a:stretch>
                    </p:blipFill>
                    <p:spPr>
                      <a:xfrm>
                        <a:off x="923277" y="1119580"/>
                        <a:ext cx="10345445" cy="5335897"/>
                      </a:xfrm>
                      <a:prstGeom prst="rect">
                        <a:avLst/>
                      </a:prstGeom>
                    </p:spPr>
                  </p:pic>
                </p:oleObj>
              </mc:Fallback>
            </mc:AlternateContent>
          </a:graphicData>
        </a:graphic>
      </p:graphicFrame>
      <p:sp>
        <p:nvSpPr>
          <p:cNvPr id="12" name="ZoneTexte 11">
            <a:extLst>
              <a:ext uri="{FF2B5EF4-FFF2-40B4-BE49-F238E27FC236}">
                <a16:creationId xmlns:a16="http://schemas.microsoft.com/office/drawing/2014/main" id="{870DFD38-9DC1-4E3C-A838-D23363957D12}"/>
              </a:ext>
            </a:extLst>
          </p:cNvPr>
          <p:cNvSpPr txBox="1"/>
          <p:nvPr/>
        </p:nvSpPr>
        <p:spPr>
          <a:xfrm>
            <a:off x="346229" y="6490888"/>
            <a:ext cx="11499542" cy="338554"/>
          </a:xfrm>
          <a:prstGeom prst="rect">
            <a:avLst/>
          </a:prstGeom>
          <a:noFill/>
        </p:spPr>
        <p:txBody>
          <a:bodyPr wrap="square">
            <a:spAutoFit/>
          </a:bodyPr>
          <a:lstStyle/>
          <a:p>
            <a:pPr algn="ctr"/>
            <a:r>
              <a:rPr lang="fr-FR" sz="1600" dirty="0">
                <a:latin typeface="Candara" panose="020E0502030303020204" pitchFamily="34" charset="0"/>
              </a:rPr>
              <a:t>Source : </a:t>
            </a:r>
            <a:r>
              <a:rPr lang="fr-FR" sz="1600" dirty="0">
                <a:latin typeface="Candara" panose="020E0502030303020204" pitchFamily="34" charset="0"/>
                <a:hlinkClick r:id="rId5"/>
              </a:rPr>
              <a:t>https://www.ionos.fr/digitalguide/sites-internet/developpement-web/outils-uml/</a:t>
            </a:r>
            <a:r>
              <a:rPr lang="fr-FR" sz="1600" dirty="0">
                <a:latin typeface="Candara" panose="020E0502030303020204" pitchFamily="34" charset="0"/>
              </a:rPr>
              <a:t> </a:t>
            </a:r>
            <a:endParaRPr lang="fr-FR" sz="1600" dirty="0"/>
          </a:p>
        </p:txBody>
      </p:sp>
    </p:spTree>
    <p:extLst>
      <p:ext uri="{BB962C8B-B14F-4D97-AF65-F5344CB8AC3E}">
        <p14:creationId xmlns:p14="http://schemas.microsoft.com/office/powerpoint/2010/main" val="1687916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cas d’utilisation </a:t>
            </a:r>
          </a:p>
        </p:txBody>
      </p:sp>
      <p:sp>
        <p:nvSpPr>
          <p:cNvPr id="4" name="Rectangle 3">
            <a:extLst>
              <a:ext uri="{FF2B5EF4-FFF2-40B4-BE49-F238E27FC236}">
                <a16:creationId xmlns:a16="http://schemas.microsoft.com/office/drawing/2014/main" id="{E9E07D0F-F35B-4208-BFBD-B42411881582}"/>
              </a:ext>
            </a:extLst>
          </p:cNvPr>
          <p:cNvSpPr/>
          <p:nvPr/>
        </p:nvSpPr>
        <p:spPr>
          <a:xfrm>
            <a:off x="239790" y="2321004"/>
            <a:ext cx="11712420" cy="2215991"/>
          </a:xfrm>
          <a:prstGeom prst="rect">
            <a:avLst/>
          </a:prstGeom>
        </p:spPr>
        <p:txBody>
          <a:bodyPr wrap="square">
            <a:spAutoFit/>
          </a:bodyPr>
          <a:lstStyle/>
          <a:p>
            <a:pPr algn="ctr"/>
            <a:r>
              <a:rPr lang="fr-FR" sz="13800" b="1" dirty="0">
                <a:latin typeface="Candara" panose="020E0502030303020204" pitchFamily="34" charset="0"/>
              </a:rPr>
              <a:t>Des questions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80881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Pourquoi modéliser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5483" y="2223449"/>
            <a:ext cx="3577703" cy="2677656"/>
          </a:xfrm>
          <a:prstGeom prst="rect">
            <a:avLst/>
          </a:prstGeom>
        </p:spPr>
        <p:txBody>
          <a:bodyPr wrap="square">
            <a:spAutoFit/>
          </a:bodyPr>
          <a:lstStyle/>
          <a:p>
            <a:pPr algn="just"/>
            <a:r>
              <a:rPr lang="fr-FR" sz="2800" dirty="0">
                <a:latin typeface="Candara" panose="020E0502030303020204" pitchFamily="34" charset="0"/>
              </a:rPr>
              <a:t>La modélisation avec ses trois niveaux.</a:t>
            </a:r>
          </a:p>
          <a:p>
            <a:pPr algn="just"/>
            <a:endParaRPr lang="fr-FR" sz="2800" dirty="0">
              <a:latin typeface="Candara" panose="020E0502030303020204" pitchFamily="34" charset="0"/>
            </a:endParaRPr>
          </a:p>
          <a:p>
            <a:pPr algn="just"/>
            <a:r>
              <a:rPr lang="fr-FR" sz="2800" dirty="0">
                <a:latin typeface="Candara" panose="020E0502030303020204" pitchFamily="34" charset="0"/>
              </a:rPr>
              <a:t>Eviter des éventuels problèmes dès la conception.</a:t>
            </a:r>
          </a:p>
        </p:txBody>
      </p:sp>
      <p:sp>
        <p:nvSpPr>
          <p:cNvPr id="8" name="Rectangle : coins arrondis 7">
            <a:extLst>
              <a:ext uri="{FF2B5EF4-FFF2-40B4-BE49-F238E27FC236}">
                <a16:creationId xmlns:a16="http://schemas.microsoft.com/office/drawing/2014/main" id="{31AE5A96-B4F3-4465-BA3D-1615D2F9D3E6}"/>
              </a:ext>
            </a:extLst>
          </p:cNvPr>
          <p:cNvSpPr/>
          <p:nvPr/>
        </p:nvSpPr>
        <p:spPr>
          <a:xfrm>
            <a:off x="5050562" y="4619903"/>
            <a:ext cx="6425955" cy="12377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t>Dynamique</a:t>
            </a:r>
            <a:endParaRPr lang="fr-FR" sz="3200" dirty="0"/>
          </a:p>
          <a:p>
            <a:pPr algn="ctr"/>
            <a:r>
              <a:rPr lang="fr-FR" dirty="0"/>
              <a:t>Description du comportement interne du système (interaction, activité)</a:t>
            </a:r>
          </a:p>
        </p:txBody>
      </p:sp>
      <p:sp>
        <p:nvSpPr>
          <p:cNvPr id="9" name="Rectangle : coins arrondis 8">
            <a:extLst>
              <a:ext uri="{FF2B5EF4-FFF2-40B4-BE49-F238E27FC236}">
                <a16:creationId xmlns:a16="http://schemas.microsoft.com/office/drawing/2014/main" id="{6110C15F-B294-44BD-B9DC-DE6CBBACFAAA}"/>
              </a:ext>
            </a:extLst>
          </p:cNvPr>
          <p:cNvSpPr/>
          <p:nvPr/>
        </p:nvSpPr>
        <p:spPr>
          <a:xfrm>
            <a:off x="5050562" y="1697289"/>
            <a:ext cx="6425955" cy="12377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t>Fonctionnel</a:t>
            </a:r>
            <a:endParaRPr lang="fr-FR" sz="3200" dirty="0"/>
          </a:p>
          <a:p>
            <a:pPr algn="ctr"/>
            <a:r>
              <a:rPr lang="fr-FR" dirty="0"/>
              <a:t>Description des fonctionnalités du système d’un point de vue utilisateur</a:t>
            </a:r>
          </a:p>
        </p:txBody>
      </p:sp>
      <p:sp>
        <p:nvSpPr>
          <p:cNvPr id="10" name="Rectangle : coins arrondis 9">
            <a:extLst>
              <a:ext uri="{FF2B5EF4-FFF2-40B4-BE49-F238E27FC236}">
                <a16:creationId xmlns:a16="http://schemas.microsoft.com/office/drawing/2014/main" id="{0CA4F94B-948C-424E-B0AF-D39AED09BB89}"/>
              </a:ext>
            </a:extLst>
          </p:cNvPr>
          <p:cNvSpPr/>
          <p:nvPr/>
        </p:nvSpPr>
        <p:spPr>
          <a:xfrm>
            <a:off x="5050562" y="3158596"/>
            <a:ext cx="6425955" cy="12377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t>Objet</a:t>
            </a:r>
            <a:endParaRPr lang="fr-FR" dirty="0"/>
          </a:p>
          <a:p>
            <a:pPr algn="ctr"/>
            <a:r>
              <a:rPr lang="fr-FR" dirty="0"/>
              <a:t>Description de la structure du système en termes d’objets, attributs, associations… </a:t>
            </a:r>
          </a:p>
        </p:txBody>
      </p:sp>
    </p:spTree>
    <p:extLst>
      <p:ext uri="{BB962C8B-B14F-4D97-AF65-F5344CB8AC3E}">
        <p14:creationId xmlns:p14="http://schemas.microsoft.com/office/powerpoint/2010/main" val="6073281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Pourquoi modéliser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Eviter la redondance d’information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40AA41F-DF7D-48F1-9AE0-B620EB15D5B3}"/>
              </a:ext>
            </a:extLst>
          </p:cNvPr>
          <p:cNvSpPr/>
          <p:nvPr/>
        </p:nvSpPr>
        <p:spPr>
          <a:xfrm>
            <a:off x="710212" y="1971819"/>
            <a:ext cx="10771573" cy="2677656"/>
          </a:xfrm>
          <a:prstGeom prst="rect">
            <a:avLst/>
          </a:prstGeom>
        </p:spPr>
        <p:txBody>
          <a:bodyPr wrap="square">
            <a:spAutoFit/>
          </a:bodyPr>
          <a:lstStyle/>
          <a:p>
            <a:pPr algn="just"/>
            <a:r>
              <a:rPr lang="fr-FR" sz="2800" dirty="0">
                <a:latin typeface="Candara" panose="020E0502030303020204" pitchFamily="34" charset="0"/>
              </a:rPr>
              <a:t>Répétition inutile d’une information</a:t>
            </a:r>
          </a:p>
          <a:p>
            <a:pPr algn="just"/>
            <a:endParaRPr lang="fr-FR" sz="2800" dirty="0">
              <a:latin typeface="Candara" panose="020E0502030303020204" pitchFamily="34" charset="0"/>
            </a:endParaRPr>
          </a:p>
          <a:p>
            <a:pPr algn="just"/>
            <a:r>
              <a:rPr lang="fr-FR" sz="2800" dirty="0">
                <a:latin typeface="Candara" panose="020E0502030303020204" pitchFamily="34" charset="0"/>
              </a:rPr>
              <a:t>Même donnée disponible dans plusieurs sources</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Recherche complexe</a:t>
            </a:r>
          </a:p>
          <a:p>
            <a:pPr marL="457200" indent="-457200" algn="just">
              <a:buFont typeface="Symbol" panose="05050102010706020507" pitchFamily="18" charset="2"/>
              <a:buChar char="Þ"/>
            </a:pPr>
            <a:r>
              <a:rPr lang="fr-FR" sz="2800" dirty="0">
                <a:latin typeface="Candara" panose="020E0502030303020204" pitchFamily="34" charset="0"/>
              </a:rPr>
              <a:t>Mise à jour difficile</a:t>
            </a:r>
          </a:p>
        </p:txBody>
      </p:sp>
    </p:spTree>
    <p:extLst>
      <p:ext uri="{BB962C8B-B14F-4D97-AF65-F5344CB8AC3E}">
        <p14:creationId xmlns:p14="http://schemas.microsoft.com/office/powerpoint/2010/main" val="844431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Pourquoi modéliser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Eviter la redondance d’information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6267F429-B2DF-41A7-B29E-EB2F518E5459}"/>
              </a:ext>
            </a:extLst>
          </p:cNvPr>
          <p:cNvPicPr>
            <a:picLocks noChangeAspect="1"/>
          </p:cNvPicPr>
          <p:nvPr/>
        </p:nvPicPr>
        <p:blipFill>
          <a:blip r:embed="rId2"/>
          <a:stretch>
            <a:fillRect/>
          </a:stretch>
        </p:blipFill>
        <p:spPr>
          <a:xfrm>
            <a:off x="346229" y="2475485"/>
            <a:ext cx="11531647" cy="1690382"/>
          </a:xfrm>
          <a:prstGeom prst="rect">
            <a:avLst/>
          </a:prstGeom>
        </p:spPr>
      </p:pic>
      <p:sp>
        <p:nvSpPr>
          <p:cNvPr id="7" name="Rectangle 6">
            <a:extLst>
              <a:ext uri="{FF2B5EF4-FFF2-40B4-BE49-F238E27FC236}">
                <a16:creationId xmlns:a16="http://schemas.microsoft.com/office/drawing/2014/main" id="{B0C1E024-E819-4A4D-8447-E55C3DE79964}"/>
              </a:ext>
            </a:extLst>
          </p:cNvPr>
          <p:cNvSpPr/>
          <p:nvPr/>
        </p:nvSpPr>
        <p:spPr>
          <a:xfrm>
            <a:off x="710212" y="4646777"/>
            <a:ext cx="10771573" cy="1200329"/>
          </a:xfrm>
          <a:prstGeom prst="rect">
            <a:avLst/>
          </a:prstGeom>
        </p:spPr>
        <p:txBody>
          <a:bodyPr wrap="square">
            <a:spAutoFit/>
          </a:bodyPr>
          <a:lstStyle/>
          <a:p>
            <a:pPr algn="just"/>
            <a:r>
              <a:rPr lang="fr-FR" sz="2400" dirty="0">
                <a:latin typeface="Candara" panose="020E0502030303020204" pitchFamily="34" charset="0"/>
              </a:rPr>
              <a:t>Répétition d’information</a:t>
            </a:r>
          </a:p>
          <a:p>
            <a:pPr algn="just"/>
            <a:r>
              <a:rPr lang="fr-FR" sz="2400" dirty="0">
                <a:latin typeface="Candara" panose="020E0502030303020204" pitchFamily="34" charset="0"/>
              </a:rPr>
              <a:t>Recherche complexe</a:t>
            </a:r>
          </a:p>
          <a:p>
            <a:pPr algn="just"/>
            <a:r>
              <a:rPr lang="fr-FR" sz="2400" dirty="0">
                <a:latin typeface="Candara" panose="020E0502030303020204" pitchFamily="34" charset="0"/>
              </a:rPr>
              <a:t>Problème de MAJ (suppression, modification et ajout d’information)</a:t>
            </a:r>
          </a:p>
        </p:txBody>
      </p:sp>
      <p:sp>
        <p:nvSpPr>
          <p:cNvPr id="10" name="Rectangle : coins arrondis 9">
            <a:extLst>
              <a:ext uri="{FF2B5EF4-FFF2-40B4-BE49-F238E27FC236}">
                <a16:creationId xmlns:a16="http://schemas.microsoft.com/office/drawing/2014/main" id="{3C79B317-52BA-4049-A3A1-6961CB6767E0}"/>
              </a:ext>
            </a:extLst>
          </p:cNvPr>
          <p:cNvSpPr/>
          <p:nvPr/>
        </p:nvSpPr>
        <p:spPr>
          <a:xfrm>
            <a:off x="7566179" y="2370337"/>
            <a:ext cx="1873096" cy="461639"/>
          </a:xfrm>
          <a:prstGeom prst="round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BDC18046-6982-488C-9BDA-14474E855B37}"/>
              </a:ext>
            </a:extLst>
          </p:cNvPr>
          <p:cNvSpPr/>
          <p:nvPr/>
        </p:nvSpPr>
        <p:spPr>
          <a:xfrm>
            <a:off x="346229" y="2370338"/>
            <a:ext cx="1580225" cy="461639"/>
          </a:xfrm>
          <a:prstGeom prst="round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32648858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Pourquoi modéliser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Assurer les références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40AA41F-DF7D-48F1-9AE0-B620EB15D5B3}"/>
              </a:ext>
            </a:extLst>
          </p:cNvPr>
          <p:cNvSpPr/>
          <p:nvPr/>
        </p:nvSpPr>
        <p:spPr>
          <a:xfrm>
            <a:off x="710212" y="1971819"/>
            <a:ext cx="10771573" cy="1815882"/>
          </a:xfrm>
          <a:prstGeom prst="rect">
            <a:avLst/>
          </a:prstGeom>
        </p:spPr>
        <p:txBody>
          <a:bodyPr wrap="square">
            <a:spAutoFit/>
          </a:bodyPr>
          <a:lstStyle/>
          <a:p>
            <a:pPr algn="just"/>
            <a:r>
              <a:rPr lang="fr-FR" sz="2800" dirty="0">
                <a:latin typeface="Candara" panose="020E0502030303020204" pitchFamily="34" charset="0"/>
              </a:rPr>
              <a:t>La gestion de la redondance ne suffit pas pour lever les goulots d’étranglement</a:t>
            </a:r>
          </a:p>
          <a:p>
            <a:pPr algn="just"/>
            <a:endParaRPr lang="fr-FR" sz="2800" dirty="0">
              <a:latin typeface="Candara" panose="020E0502030303020204" pitchFamily="34" charset="0"/>
            </a:endParaRPr>
          </a:p>
          <a:p>
            <a:pPr algn="just"/>
            <a:r>
              <a:rPr lang="fr-FR" sz="2800" dirty="0">
                <a:latin typeface="Candara" panose="020E0502030303020204" pitchFamily="34" charset="0"/>
              </a:rPr>
              <a:t>Cohérence assurée grâces aux clés primaires et étrangères</a:t>
            </a:r>
          </a:p>
        </p:txBody>
      </p:sp>
    </p:spTree>
    <p:extLst>
      <p:ext uri="{BB962C8B-B14F-4D97-AF65-F5344CB8AC3E}">
        <p14:creationId xmlns:p14="http://schemas.microsoft.com/office/powerpoint/2010/main" val="11556191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Pourquoi modéliser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Assurer les références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A6D64959-77D6-4137-9738-22E8B46A50CE}"/>
              </a:ext>
            </a:extLst>
          </p:cNvPr>
          <p:cNvPicPr>
            <a:picLocks noChangeAspect="1"/>
          </p:cNvPicPr>
          <p:nvPr/>
        </p:nvPicPr>
        <p:blipFill>
          <a:blip r:embed="rId2"/>
          <a:stretch>
            <a:fillRect/>
          </a:stretch>
        </p:blipFill>
        <p:spPr>
          <a:xfrm>
            <a:off x="528950" y="2025235"/>
            <a:ext cx="7512010" cy="1464002"/>
          </a:xfrm>
          <a:prstGeom prst="rect">
            <a:avLst/>
          </a:prstGeom>
        </p:spPr>
      </p:pic>
      <p:pic>
        <p:nvPicPr>
          <p:cNvPr id="7" name="Image 6">
            <a:extLst>
              <a:ext uri="{FF2B5EF4-FFF2-40B4-BE49-F238E27FC236}">
                <a16:creationId xmlns:a16="http://schemas.microsoft.com/office/drawing/2014/main" id="{21795FBE-AEF6-47E5-9CD1-435C755559B1}"/>
              </a:ext>
            </a:extLst>
          </p:cNvPr>
          <p:cNvPicPr>
            <a:picLocks noChangeAspect="1"/>
          </p:cNvPicPr>
          <p:nvPr/>
        </p:nvPicPr>
        <p:blipFill>
          <a:blip r:embed="rId3"/>
          <a:stretch>
            <a:fillRect/>
          </a:stretch>
        </p:blipFill>
        <p:spPr>
          <a:xfrm>
            <a:off x="8528008" y="2262273"/>
            <a:ext cx="3135042" cy="865646"/>
          </a:xfrm>
          <a:prstGeom prst="rect">
            <a:avLst/>
          </a:prstGeom>
        </p:spPr>
      </p:pic>
      <p:cxnSp>
        <p:nvCxnSpPr>
          <p:cNvPr id="13" name="Connecteur droit avec flèche 12">
            <a:extLst>
              <a:ext uri="{FF2B5EF4-FFF2-40B4-BE49-F238E27FC236}">
                <a16:creationId xmlns:a16="http://schemas.microsoft.com/office/drawing/2014/main" id="{700F828D-E0BF-4A0F-9691-2FE194C2731A}"/>
              </a:ext>
            </a:extLst>
          </p:cNvPr>
          <p:cNvCxnSpPr/>
          <p:nvPr/>
        </p:nvCxnSpPr>
        <p:spPr>
          <a:xfrm>
            <a:off x="1944210" y="3756364"/>
            <a:ext cx="1935332" cy="798990"/>
          </a:xfrm>
          <a:prstGeom prst="straightConnector1">
            <a:avLst/>
          </a:prstGeom>
          <a:ln w="6350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49922178-FC41-40CF-8F5B-06EF63F553EF}"/>
              </a:ext>
            </a:extLst>
          </p:cNvPr>
          <p:cNvCxnSpPr>
            <a:cxnSpLocks/>
          </p:cNvCxnSpPr>
          <p:nvPr/>
        </p:nvCxnSpPr>
        <p:spPr>
          <a:xfrm flipH="1">
            <a:off x="8312454" y="3334262"/>
            <a:ext cx="1935336" cy="1221092"/>
          </a:xfrm>
          <a:prstGeom prst="straightConnector1">
            <a:avLst/>
          </a:prstGeom>
          <a:ln w="6350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7" name="Image 16">
            <a:extLst>
              <a:ext uri="{FF2B5EF4-FFF2-40B4-BE49-F238E27FC236}">
                <a16:creationId xmlns:a16="http://schemas.microsoft.com/office/drawing/2014/main" id="{B3E723D1-D074-465D-999C-DC77DFD5232A}"/>
              </a:ext>
            </a:extLst>
          </p:cNvPr>
          <p:cNvPicPr>
            <a:picLocks noChangeAspect="1"/>
          </p:cNvPicPr>
          <p:nvPr/>
        </p:nvPicPr>
        <p:blipFill>
          <a:blip r:embed="rId4"/>
          <a:stretch>
            <a:fillRect/>
          </a:stretch>
        </p:blipFill>
        <p:spPr>
          <a:xfrm>
            <a:off x="3963700" y="3807627"/>
            <a:ext cx="4264595" cy="1794508"/>
          </a:xfrm>
          <a:prstGeom prst="rect">
            <a:avLst/>
          </a:prstGeom>
        </p:spPr>
      </p:pic>
    </p:spTree>
    <p:extLst>
      <p:ext uri="{BB962C8B-B14F-4D97-AF65-F5344CB8AC3E}">
        <p14:creationId xmlns:p14="http://schemas.microsoft.com/office/powerpoint/2010/main" val="29513943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Pourquoi modéliser ?</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Utiliser la normalisation</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40AA41F-DF7D-48F1-9AE0-B620EB15D5B3}"/>
              </a:ext>
            </a:extLst>
          </p:cNvPr>
          <p:cNvSpPr/>
          <p:nvPr/>
        </p:nvSpPr>
        <p:spPr>
          <a:xfrm>
            <a:off x="710212" y="1971819"/>
            <a:ext cx="10771573" cy="2677656"/>
          </a:xfrm>
          <a:prstGeom prst="rect">
            <a:avLst/>
          </a:prstGeom>
        </p:spPr>
        <p:txBody>
          <a:bodyPr wrap="square">
            <a:spAutoFit/>
          </a:bodyPr>
          <a:lstStyle/>
          <a:p>
            <a:pPr algn="just"/>
            <a:r>
              <a:rPr lang="fr-FR" sz="2800" dirty="0">
                <a:latin typeface="Candara" panose="020E0502030303020204" pitchFamily="34" charset="0"/>
              </a:rPr>
              <a:t>Cohérence assurée grâces aux clés primaires et étrangères</a:t>
            </a:r>
          </a:p>
          <a:p>
            <a:pPr algn="just"/>
            <a:endParaRPr lang="fr-FR" sz="2800" dirty="0">
              <a:latin typeface="Candara" panose="020E0502030303020204" pitchFamily="34" charset="0"/>
            </a:endParaRPr>
          </a:p>
          <a:p>
            <a:pPr algn="just"/>
            <a:r>
              <a:rPr lang="fr-FR" sz="2800" dirty="0">
                <a:latin typeface="Candara" panose="020E0502030303020204" pitchFamily="34" charset="0"/>
              </a:rPr>
              <a:t>Bien identifier les classes et les attributs (pour faciliter les opérations de MAJ et les évolutions)</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Intérêt des diagrammes de classe</a:t>
            </a:r>
          </a:p>
        </p:txBody>
      </p:sp>
    </p:spTree>
    <p:extLst>
      <p:ext uri="{BB962C8B-B14F-4D97-AF65-F5344CB8AC3E}">
        <p14:creationId xmlns:p14="http://schemas.microsoft.com/office/powerpoint/2010/main" val="9086096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3539430"/>
          </a:xfrm>
          <a:prstGeom prst="rect">
            <a:avLst/>
          </a:prstGeom>
        </p:spPr>
        <p:txBody>
          <a:bodyPr wrap="square">
            <a:spAutoFit/>
          </a:bodyPr>
          <a:lstStyle/>
          <a:p>
            <a:pPr algn="just"/>
            <a:r>
              <a:rPr lang="fr-FR" sz="2800" dirty="0">
                <a:latin typeface="Candara" panose="020E0502030303020204" pitchFamily="34" charset="0"/>
              </a:rPr>
              <a:t>Définir un système fiable et évolutif</a:t>
            </a:r>
          </a:p>
          <a:p>
            <a:pPr algn="just"/>
            <a:endParaRPr lang="fr-FR" sz="2800" dirty="0">
              <a:latin typeface="Candara" panose="020E0502030303020204" pitchFamily="34" charset="0"/>
            </a:endParaRPr>
          </a:p>
          <a:p>
            <a:pPr algn="just"/>
            <a:r>
              <a:rPr lang="fr-FR" sz="2800" dirty="0">
                <a:latin typeface="Candara" panose="020E0502030303020204" pitchFamily="34" charset="0"/>
              </a:rPr>
              <a:t>Un diagramme de classe décrit les types d’objets qui composent le système et les différents types de relations statiques qui existent entre eux. Il existe principalement deux sortes de relations statiques :</a:t>
            </a:r>
          </a:p>
          <a:p>
            <a:pPr algn="just"/>
            <a:endParaRPr lang="fr-FR" sz="2800" dirty="0">
              <a:latin typeface="Candara" panose="020E0502030303020204" pitchFamily="34" charset="0"/>
            </a:endParaRPr>
          </a:p>
          <a:p>
            <a:pPr marL="457200" indent="-457200" algn="just">
              <a:buFont typeface="Wingdings" panose="05000000000000000000" pitchFamily="2" charset="2"/>
              <a:buChar char="§"/>
            </a:pPr>
            <a:r>
              <a:rPr lang="fr-FR" sz="2800" dirty="0">
                <a:latin typeface="Candara" panose="020E0502030303020204" pitchFamily="34" charset="0"/>
              </a:rPr>
              <a:t>Les associations ;</a:t>
            </a:r>
          </a:p>
          <a:p>
            <a:pPr marL="457200" indent="-457200" algn="just">
              <a:buFont typeface="Wingdings" panose="05000000000000000000" pitchFamily="2" charset="2"/>
              <a:buChar char="§"/>
            </a:pPr>
            <a:r>
              <a:rPr lang="fr-FR" sz="2800" dirty="0">
                <a:latin typeface="Candara" panose="020E0502030303020204" pitchFamily="34" charset="0"/>
              </a:rPr>
              <a:t>Les sous-types ;</a:t>
            </a:r>
          </a:p>
        </p:txBody>
      </p:sp>
    </p:spTree>
    <p:extLst>
      <p:ext uri="{BB962C8B-B14F-4D97-AF65-F5344CB8AC3E}">
        <p14:creationId xmlns:p14="http://schemas.microsoft.com/office/powerpoint/2010/main" val="3791145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18EB-541A-88B3-B220-AD988429D1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E92D08-15CE-2DFB-939F-08AEFC51801D}"/>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2EEEA49C-F9F5-B85E-FCA7-CEBD17D5E7E0}"/>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97BC31D0-71CE-309B-BEB5-4D32652B13C3}"/>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17BF5E89-3BA6-CB82-E1FB-8DE4CC3350B3}"/>
              </a:ext>
            </a:extLst>
          </p:cNvPr>
          <p:cNvSpPr/>
          <p:nvPr/>
        </p:nvSpPr>
        <p:spPr>
          <a:xfrm>
            <a:off x="710212" y="1971819"/>
            <a:ext cx="11135559" cy="2246769"/>
          </a:xfrm>
          <a:prstGeom prst="rect">
            <a:avLst/>
          </a:prstGeom>
        </p:spPr>
        <p:txBody>
          <a:bodyPr wrap="square">
            <a:spAutoFit/>
          </a:bodyPr>
          <a:lstStyle/>
          <a:p>
            <a:pPr algn="just"/>
            <a:r>
              <a:rPr lang="fr-FR" sz="2800" dirty="0">
                <a:latin typeface="Candara" panose="020E0502030303020204" pitchFamily="34" charset="0"/>
              </a:rPr>
              <a:t>Les diagrammes de classe représentent également  les attributs et les opérations d’une classe et les contraintes qui s’appliquent à la façon dont les objets sont connectés.</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Un des plus utiles des diagrammes UML</a:t>
            </a:r>
          </a:p>
        </p:txBody>
      </p:sp>
    </p:spTree>
    <p:extLst>
      <p:ext uri="{BB962C8B-B14F-4D97-AF65-F5344CB8AC3E}">
        <p14:creationId xmlns:p14="http://schemas.microsoft.com/office/powerpoint/2010/main" val="38396894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3108543"/>
          </a:xfrm>
          <a:prstGeom prst="rect">
            <a:avLst/>
          </a:prstGeom>
        </p:spPr>
        <p:txBody>
          <a:bodyPr wrap="square">
            <a:spAutoFit/>
          </a:bodyPr>
          <a:lstStyle/>
          <a:p>
            <a:pPr algn="just"/>
            <a:r>
              <a:rPr lang="fr-FR" sz="2800" dirty="0">
                <a:latin typeface="Candara" panose="020E0502030303020204" pitchFamily="34" charset="0"/>
              </a:rPr>
              <a:t>Décrypter le « langage » du terrain avant de commencer</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Les données doivent émerger de l’analyse</a:t>
            </a:r>
          </a:p>
          <a:p>
            <a:pPr marL="457200" indent="-457200" algn="just">
              <a:buFont typeface="Symbol" panose="05050102010706020507" pitchFamily="18" charset="2"/>
              <a:buChar char="Þ"/>
            </a:pPr>
            <a:r>
              <a:rPr lang="fr-FR" sz="2800" dirty="0">
                <a:latin typeface="Candara" panose="020E0502030303020204" pitchFamily="34" charset="0"/>
              </a:rPr>
              <a:t>Bien clarifier tous les termes (assertions simples et précises)</a:t>
            </a:r>
          </a:p>
          <a:p>
            <a:pPr marL="914400" lvl="1" indent="-457200" algn="just">
              <a:buFont typeface="Wingdings" panose="05000000000000000000" pitchFamily="2" charset="2"/>
              <a:buChar char="§"/>
            </a:pPr>
            <a:r>
              <a:rPr lang="fr-FR" sz="2800" dirty="0">
                <a:latin typeface="Candara" panose="020E0502030303020204" pitchFamily="34" charset="0"/>
              </a:rPr>
              <a:t>Les mouvements bancaires ne seront visibles qu’après le week-end</a:t>
            </a:r>
          </a:p>
          <a:p>
            <a:pPr marL="914400" lvl="1" indent="-457200" algn="just">
              <a:buFont typeface="Wingdings" panose="05000000000000000000" pitchFamily="2" charset="2"/>
              <a:buChar char="§"/>
            </a:pPr>
            <a:r>
              <a:rPr lang="fr-FR" sz="2800" dirty="0">
                <a:latin typeface="Candara" panose="020E0502030303020204" pitchFamily="34" charset="0"/>
              </a:rPr>
              <a:t>L’ancienneté est calculée après validation du contrat</a:t>
            </a:r>
          </a:p>
          <a:p>
            <a:pPr marL="914400" lvl="1" indent="-457200" algn="just">
              <a:buFont typeface="Wingdings" panose="05000000000000000000" pitchFamily="2" charset="2"/>
              <a:buChar char="§"/>
            </a:pPr>
            <a:r>
              <a:rPr lang="fr-FR" sz="2800" dirty="0">
                <a:latin typeface="Candara" panose="020E0502030303020204" pitchFamily="34" charset="0"/>
              </a:rPr>
              <a:t>…</a:t>
            </a:r>
          </a:p>
        </p:txBody>
      </p:sp>
    </p:spTree>
    <p:extLst>
      <p:ext uri="{BB962C8B-B14F-4D97-AF65-F5344CB8AC3E}">
        <p14:creationId xmlns:p14="http://schemas.microsoft.com/office/powerpoint/2010/main" val="11891869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3539430"/>
          </a:xfrm>
          <a:prstGeom prst="rect">
            <a:avLst/>
          </a:prstGeom>
        </p:spPr>
        <p:txBody>
          <a:bodyPr wrap="square">
            <a:spAutoFit/>
          </a:bodyPr>
          <a:lstStyle/>
          <a:p>
            <a:pPr algn="just"/>
            <a:r>
              <a:rPr lang="fr-FR" sz="2800" dirty="0">
                <a:latin typeface="Candara" panose="020E0502030303020204" pitchFamily="34" charset="0"/>
              </a:rPr>
              <a:t>Analyse des besoins :</a:t>
            </a:r>
          </a:p>
          <a:p>
            <a:pPr algn="just"/>
            <a:endParaRPr lang="fr-FR" sz="2800" dirty="0">
              <a:latin typeface="Candara" panose="020E0502030303020204" pitchFamily="34" charset="0"/>
            </a:endParaRPr>
          </a:p>
          <a:p>
            <a:pPr algn="just"/>
            <a:r>
              <a:rPr lang="fr-FR" sz="2800" dirty="0">
                <a:latin typeface="Candara" panose="020E0502030303020204" pitchFamily="34" charset="0"/>
              </a:rPr>
              <a:t>Cahier des charges</a:t>
            </a:r>
          </a:p>
          <a:p>
            <a:pPr algn="just"/>
            <a:r>
              <a:rPr lang="fr-FR" sz="2800" dirty="0">
                <a:latin typeface="Candara" panose="020E0502030303020204" pitchFamily="34" charset="0"/>
              </a:rPr>
              <a:t>Des réunions</a:t>
            </a:r>
          </a:p>
          <a:p>
            <a:pPr algn="just"/>
            <a:r>
              <a:rPr lang="fr-FR" sz="2800" dirty="0">
                <a:latin typeface="Candara" panose="020E0502030303020204" pitchFamily="34" charset="0"/>
              </a:rPr>
              <a:t>Des documents </a:t>
            </a:r>
          </a:p>
          <a:p>
            <a:pPr algn="just"/>
            <a:r>
              <a:rPr lang="fr-FR" sz="2800" dirty="0">
                <a:latin typeface="Candara" panose="020E0502030303020204" pitchFamily="34" charset="0"/>
              </a:rPr>
              <a:t>Des interfaces de saisie</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Créer un dictionnaire des données </a:t>
            </a:r>
          </a:p>
        </p:txBody>
      </p:sp>
    </p:spTree>
    <p:extLst>
      <p:ext uri="{BB962C8B-B14F-4D97-AF65-F5344CB8AC3E}">
        <p14:creationId xmlns:p14="http://schemas.microsoft.com/office/powerpoint/2010/main" val="13863418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343B4309-2F77-4B34-913A-9B8ADBA7AAA3}"/>
              </a:ext>
            </a:extLst>
          </p:cNvPr>
          <p:cNvPicPr>
            <a:picLocks noChangeAspect="1"/>
          </p:cNvPicPr>
          <p:nvPr/>
        </p:nvPicPr>
        <p:blipFill>
          <a:blip r:embed="rId2"/>
          <a:stretch>
            <a:fillRect/>
          </a:stretch>
        </p:blipFill>
        <p:spPr>
          <a:xfrm>
            <a:off x="4986958" y="1796437"/>
            <a:ext cx="6580532" cy="4729757"/>
          </a:xfrm>
          <a:prstGeom prst="rect">
            <a:avLst/>
          </a:prstGeom>
        </p:spPr>
      </p:pic>
      <p:sp>
        <p:nvSpPr>
          <p:cNvPr id="8" name="Rectangle 7">
            <a:extLst>
              <a:ext uri="{FF2B5EF4-FFF2-40B4-BE49-F238E27FC236}">
                <a16:creationId xmlns:a16="http://schemas.microsoft.com/office/drawing/2014/main" id="{9A7D938F-9EF9-4501-A0C9-482093309033}"/>
              </a:ext>
            </a:extLst>
          </p:cNvPr>
          <p:cNvSpPr/>
          <p:nvPr/>
        </p:nvSpPr>
        <p:spPr>
          <a:xfrm>
            <a:off x="710213" y="2276619"/>
            <a:ext cx="4118963" cy="3970318"/>
          </a:xfrm>
          <a:prstGeom prst="rect">
            <a:avLst/>
          </a:prstGeom>
        </p:spPr>
        <p:txBody>
          <a:bodyPr wrap="square">
            <a:spAutoFit/>
          </a:bodyPr>
          <a:lstStyle/>
          <a:p>
            <a:pPr algn="just"/>
            <a:r>
              <a:rPr lang="fr-FR" sz="2800" dirty="0">
                <a:latin typeface="Candara" panose="020E0502030303020204" pitchFamily="34" charset="0"/>
              </a:rPr>
              <a:t>Analyse des besoins :</a:t>
            </a:r>
          </a:p>
          <a:p>
            <a:pPr algn="just"/>
            <a:endParaRPr lang="fr-FR" sz="2800" dirty="0">
              <a:latin typeface="Candara" panose="020E0502030303020204" pitchFamily="34" charset="0"/>
            </a:endParaRPr>
          </a:p>
          <a:p>
            <a:pPr algn="just"/>
            <a:r>
              <a:rPr lang="fr-FR" sz="2800" dirty="0">
                <a:latin typeface="Candara" panose="020E0502030303020204" pitchFamily="34" charset="0"/>
              </a:rPr>
              <a:t>Avoir le maximum d’information permettant ensuite de modéliser le système.</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Créer un dictionnaire des données </a:t>
            </a:r>
          </a:p>
        </p:txBody>
      </p:sp>
    </p:spTree>
    <p:extLst>
      <p:ext uri="{BB962C8B-B14F-4D97-AF65-F5344CB8AC3E}">
        <p14:creationId xmlns:p14="http://schemas.microsoft.com/office/powerpoint/2010/main" val="4107919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9A7D938F-9EF9-4501-A0C9-482093309033}"/>
              </a:ext>
            </a:extLst>
          </p:cNvPr>
          <p:cNvSpPr/>
          <p:nvPr/>
        </p:nvSpPr>
        <p:spPr>
          <a:xfrm>
            <a:off x="710213" y="2276619"/>
            <a:ext cx="4118963" cy="3970318"/>
          </a:xfrm>
          <a:prstGeom prst="rect">
            <a:avLst/>
          </a:prstGeom>
        </p:spPr>
        <p:txBody>
          <a:bodyPr wrap="square">
            <a:spAutoFit/>
          </a:bodyPr>
          <a:lstStyle/>
          <a:p>
            <a:pPr algn="just"/>
            <a:r>
              <a:rPr lang="fr-FR" sz="2800" dirty="0">
                <a:latin typeface="Candara" panose="020E0502030303020204" pitchFamily="34" charset="0"/>
              </a:rPr>
              <a:t>Analyse des besoins :</a:t>
            </a:r>
          </a:p>
          <a:p>
            <a:pPr algn="just"/>
            <a:endParaRPr lang="fr-FR" sz="2800" dirty="0">
              <a:latin typeface="Candara" panose="020E0502030303020204" pitchFamily="34" charset="0"/>
            </a:endParaRPr>
          </a:p>
          <a:p>
            <a:pPr algn="just"/>
            <a:r>
              <a:rPr lang="fr-FR" sz="2800" dirty="0">
                <a:latin typeface="Candara" panose="020E0502030303020204" pitchFamily="34" charset="0"/>
              </a:rPr>
              <a:t>Avoir le maximum d’information permettant ensuite de modéliser le système.</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800" dirty="0">
                <a:latin typeface="Candara" panose="020E0502030303020204" pitchFamily="34" charset="0"/>
              </a:rPr>
              <a:t>Créer un dictionnaire des données </a:t>
            </a:r>
          </a:p>
        </p:txBody>
      </p:sp>
      <p:pic>
        <p:nvPicPr>
          <p:cNvPr id="5" name="Image 4">
            <a:extLst>
              <a:ext uri="{FF2B5EF4-FFF2-40B4-BE49-F238E27FC236}">
                <a16:creationId xmlns:a16="http://schemas.microsoft.com/office/drawing/2014/main" id="{747B836B-B120-4031-AC1F-A64B73A62E62}"/>
              </a:ext>
            </a:extLst>
          </p:cNvPr>
          <p:cNvPicPr>
            <a:picLocks noChangeAspect="1"/>
          </p:cNvPicPr>
          <p:nvPr/>
        </p:nvPicPr>
        <p:blipFill>
          <a:blip r:embed="rId2"/>
          <a:stretch>
            <a:fillRect/>
          </a:stretch>
        </p:blipFill>
        <p:spPr>
          <a:xfrm>
            <a:off x="5109561" y="1995398"/>
            <a:ext cx="6865117" cy="4538663"/>
          </a:xfrm>
          <a:prstGeom prst="rect">
            <a:avLst/>
          </a:prstGeom>
        </p:spPr>
      </p:pic>
    </p:spTree>
    <p:extLst>
      <p:ext uri="{BB962C8B-B14F-4D97-AF65-F5344CB8AC3E}">
        <p14:creationId xmlns:p14="http://schemas.microsoft.com/office/powerpoint/2010/main" val="12060833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Objectif et cible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1815882"/>
          </a:xfrm>
          <a:prstGeom prst="rect">
            <a:avLst/>
          </a:prstGeom>
        </p:spPr>
        <p:txBody>
          <a:bodyPr wrap="square">
            <a:spAutoFit/>
          </a:bodyPr>
          <a:lstStyle/>
          <a:p>
            <a:pPr algn="just"/>
            <a:r>
              <a:rPr lang="fr-FR" sz="2800" dirty="0">
                <a:latin typeface="Candara" panose="020E0502030303020204" pitchFamily="34" charset="0"/>
              </a:rPr>
              <a:t>Le dictionnaire de données :</a:t>
            </a:r>
          </a:p>
          <a:p>
            <a:pPr algn="just"/>
            <a:endParaRPr lang="fr-FR" sz="2800" dirty="0">
              <a:latin typeface="Candara" panose="020E0502030303020204" pitchFamily="34" charset="0"/>
            </a:endParaRPr>
          </a:p>
          <a:p>
            <a:pPr algn="just"/>
            <a:r>
              <a:rPr lang="fr-FR" sz="2800" dirty="0">
                <a:latin typeface="Candara" panose="020E0502030303020204" pitchFamily="34" charset="0"/>
              </a:rPr>
              <a:t>Document qui regroupe toutes les données à conserver (et qui figureront donc dans le MCD*). </a:t>
            </a:r>
          </a:p>
        </p:txBody>
      </p:sp>
      <p:pic>
        <p:nvPicPr>
          <p:cNvPr id="3" name="Image 2">
            <a:extLst>
              <a:ext uri="{FF2B5EF4-FFF2-40B4-BE49-F238E27FC236}">
                <a16:creationId xmlns:a16="http://schemas.microsoft.com/office/drawing/2014/main" id="{CC8F0592-9D1A-4D6F-A3DE-31F73328F76D}"/>
              </a:ext>
            </a:extLst>
          </p:cNvPr>
          <p:cNvPicPr>
            <a:picLocks noChangeAspect="1"/>
          </p:cNvPicPr>
          <p:nvPr/>
        </p:nvPicPr>
        <p:blipFill>
          <a:blip r:embed="rId2"/>
          <a:stretch>
            <a:fillRect/>
          </a:stretch>
        </p:blipFill>
        <p:spPr>
          <a:xfrm>
            <a:off x="980489" y="4249965"/>
            <a:ext cx="10231022" cy="1838269"/>
          </a:xfrm>
          <a:prstGeom prst="rect">
            <a:avLst/>
          </a:prstGeom>
        </p:spPr>
      </p:pic>
      <p:sp>
        <p:nvSpPr>
          <p:cNvPr id="8" name="ZoneTexte 7">
            <a:extLst>
              <a:ext uri="{FF2B5EF4-FFF2-40B4-BE49-F238E27FC236}">
                <a16:creationId xmlns:a16="http://schemas.microsoft.com/office/drawing/2014/main" id="{947830F0-23A6-4940-8DE2-A830CCB7D8EF}"/>
              </a:ext>
            </a:extLst>
          </p:cNvPr>
          <p:cNvSpPr txBox="1"/>
          <p:nvPr/>
        </p:nvSpPr>
        <p:spPr>
          <a:xfrm>
            <a:off x="710212" y="6480132"/>
            <a:ext cx="6110286" cy="338554"/>
          </a:xfrm>
          <a:prstGeom prst="rect">
            <a:avLst/>
          </a:prstGeom>
          <a:noFill/>
        </p:spPr>
        <p:txBody>
          <a:bodyPr wrap="square">
            <a:spAutoFit/>
          </a:bodyPr>
          <a:lstStyle/>
          <a:p>
            <a:r>
              <a:rPr lang="fr-FR" sz="1600" dirty="0">
                <a:latin typeface="Candara" panose="020E0502030303020204" pitchFamily="34" charset="0"/>
              </a:rPr>
              <a:t>*Modèle Conceptuel de Données</a:t>
            </a:r>
            <a:endParaRPr lang="fr-FR" sz="1600" dirty="0"/>
          </a:p>
        </p:txBody>
      </p:sp>
    </p:spTree>
    <p:extLst>
      <p:ext uri="{BB962C8B-B14F-4D97-AF65-F5344CB8AC3E}">
        <p14:creationId xmlns:p14="http://schemas.microsoft.com/office/powerpoint/2010/main" val="13431711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71450" y="1353701"/>
            <a:ext cx="11877675" cy="5047536"/>
          </a:xfrm>
          <a:prstGeom prst="rect">
            <a:avLst/>
          </a:prstGeom>
        </p:spPr>
        <p:txBody>
          <a:bodyPr wrap="square">
            <a:spAutoFit/>
          </a:bodyPr>
          <a:lstStyle/>
          <a:p>
            <a:pPr algn="just"/>
            <a:r>
              <a:rPr lang="fr-FR" sz="2300" dirty="0">
                <a:latin typeface="Candara" panose="020E0502030303020204" pitchFamily="34" charset="0"/>
              </a:rPr>
              <a:t>Pour chaque livre, on doit connaître le titre, l'année de parution, un résumé et le type (roman, poésie, science-fiction, ...).</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livre peut être rédigé par aucun (dans le cas d'une œuvre anonyme), un ou plusieurs auteurs dont on connaît le nom, le prénom, la date de naissance et le pays d'origine.</a:t>
            </a:r>
          </a:p>
          <a:p>
            <a:pPr algn="just"/>
            <a:endParaRPr lang="fr-FR" sz="2300" dirty="0">
              <a:latin typeface="Candara" panose="020E0502030303020204" pitchFamily="34" charset="0"/>
            </a:endParaRPr>
          </a:p>
          <a:p>
            <a:pPr algn="just"/>
            <a:r>
              <a:rPr lang="fr-FR" sz="2300" dirty="0">
                <a:latin typeface="Candara" panose="020E0502030303020204" pitchFamily="34" charset="0"/>
              </a:rPr>
              <a:t>Chaque exemplaire d'un livre est identifié par une référence composée de lettres et de chiffres et ne peut être paru que dans une et une seule édition.</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inscrit est identifié par un numéro et on doit mémoriser son nom, prénom, adresse, téléphone et adresse e-mail.</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inscrit peut faire zéro, un ou plusieurs emprunts qui concernent chacun un et un seul exemplaire. Pour chaque emprunt, on connaît la date et le délai accordé (en nombre de jours).</a:t>
            </a:r>
          </a:p>
        </p:txBody>
      </p:sp>
    </p:spTree>
    <p:extLst>
      <p:ext uri="{BB962C8B-B14F-4D97-AF65-F5344CB8AC3E}">
        <p14:creationId xmlns:p14="http://schemas.microsoft.com/office/powerpoint/2010/main" val="703529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2246769"/>
          </a:xfrm>
          <a:prstGeom prst="rect">
            <a:avLst/>
          </a:prstGeom>
        </p:spPr>
        <p:txBody>
          <a:bodyPr wrap="square">
            <a:spAutoFit/>
          </a:bodyPr>
          <a:lstStyle/>
          <a:p>
            <a:pPr algn="just"/>
            <a:r>
              <a:rPr lang="fr-FR" sz="2800" dirty="0">
                <a:latin typeface="Candara" panose="020E0502030303020204" pitchFamily="34" charset="0"/>
              </a:rPr>
              <a:t>Deux composants majeurs :</a:t>
            </a:r>
          </a:p>
          <a:p>
            <a:pPr algn="just"/>
            <a:endParaRPr lang="fr-FR" sz="2800" dirty="0">
              <a:latin typeface="Candara" panose="020E0502030303020204" pitchFamily="34" charset="0"/>
            </a:endParaRPr>
          </a:p>
          <a:p>
            <a:pPr algn="ctr"/>
            <a:r>
              <a:rPr lang="fr-FR" sz="2800" dirty="0">
                <a:latin typeface="Candara" panose="020E0502030303020204" pitchFamily="34" charset="0"/>
              </a:rPr>
              <a:t>Les classes</a:t>
            </a:r>
          </a:p>
          <a:p>
            <a:pPr algn="ctr"/>
            <a:endParaRPr lang="fr-FR" sz="2800" dirty="0">
              <a:latin typeface="Candara" panose="020E0502030303020204" pitchFamily="34" charset="0"/>
            </a:endParaRPr>
          </a:p>
          <a:p>
            <a:pPr algn="ctr"/>
            <a:r>
              <a:rPr lang="fr-FR" sz="2800" dirty="0">
                <a:latin typeface="Candara" panose="020E0502030303020204" pitchFamily="34" charset="0"/>
              </a:rPr>
              <a:t>Les associations</a:t>
            </a:r>
          </a:p>
        </p:txBody>
      </p:sp>
    </p:spTree>
    <p:extLst>
      <p:ext uri="{BB962C8B-B14F-4D97-AF65-F5344CB8AC3E}">
        <p14:creationId xmlns:p14="http://schemas.microsoft.com/office/powerpoint/2010/main" val="1578125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4401205"/>
          </a:xfrm>
          <a:prstGeom prst="rect">
            <a:avLst/>
          </a:prstGeom>
        </p:spPr>
        <p:txBody>
          <a:bodyPr wrap="square">
            <a:spAutoFit/>
          </a:bodyPr>
          <a:lstStyle/>
          <a:p>
            <a:pPr algn="just"/>
            <a:r>
              <a:rPr lang="fr-FR" sz="2800" dirty="0">
                <a:latin typeface="Candara" panose="020E0502030303020204" pitchFamily="34" charset="0"/>
              </a:rPr>
              <a:t>Les classes (les entités)</a:t>
            </a:r>
          </a:p>
          <a:p>
            <a:pPr algn="just"/>
            <a:endParaRPr lang="fr-FR" sz="2800" dirty="0">
              <a:latin typeface="Candara" panose="020E0502030303020204" pitchFamily="34" charset="0"/>
            </a:endParaRPr>
          </a:p>
          <a:p>
            <a:pPr algn="just"/>
            <a:r>
              <a:rPr lang="fr-FR" sz="2800" dirty="0">
                <a:latin typeface="Candara" panose="020E0502030303020204" pitchFamily="34" charset="0"/>
              </a:rPr>
              <a:t>Regroupement d’objets concrets ou abstraits possédant une structure et un comportement communs.</a:t>
            </a:r>
          </a:p>
          <a:p>
            <a:pPr algn="just"/>
            <a:endParaRPr lang="fr-FR" sz="2800" dirty="0">
              <a:latin typeface="Candara" panose="020E0502030303020204" pitchFamily="34" charset="0"/>
            </a:endParaRPr>
          </a:p>
          <a:p>
            <a:pPr algn="just"/>
            <a:r>
              <a:rPr lang="fr-FR" sz="2800" dirty="0">
                <a:latin typeface="Candara" panose="020E0502030303020204" pitchFamily="34" charset="0"/>
              </a:rPr>
              <a:t>Une classe est dotée des attributs (dont un identifiant) et/ou des méthodes.</a:t>
            </a:r>
          </a:p>
          <a:p>
            <a:pPr algn="just"/>
            <a:endParaRPr lang="fr-FR" sz="2800" dirty="0">
              <a:latin typeface="Candara" panose="020E0502030303020204" pitchFamily="34" charset="0"/>
            </a:endParaRPr>
          </a:p>
          <a:p>
            <a:pPr algn="just"/>
            <a:r>
              <a:rPr lang="fr-FR" sz="2800" dirty="0">
                <a:latin typeface="Candara" panose="020E0502030303020204" pitchFamily="34" charset="0"/>
              </a:rPr>
              <a:t>Attribut = élément qui caractérise une classe.</a:t>
            </a:r>
          </a:p>
          <a:p>
            <a:pPr algn="just"/>
            <a:r>
              <a:rPr lang="fr-FR" sz="2800" dirty="0">
                <a:latin typeface="Candara" panose="020E0502030303020204" pitchFamily="34" charset="0"/>
              </a:rPr>
              <a:t>Méthodes = opérations qui décrivent les procédures de la classe.</a:t>
            </a:r>
          </a:p>
        </p:txBody>
      </p:sp>
    </p:spTree>
    <p:extLst>
      <p:ext uri="{BB962C8B-B14F-4D97-AF65-F5344CB8AC3E}">
        <p14:creationId xmlns:p14="http://schemas.microsoft.com/office/powerpoint/2010/main" val="35077015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038686" y="2158251"/>
            <a:ext cx="4838332" cy="3970318"/>
          </a:xfrm>
          <a:prstGeom prst="rect">
            <a:avLst/>
          </a:prstGeom>
        </p:spPr>
        <p:txBody>
          <a:bodyPr wrap="square">
            <a:spAutoFit/>
          </a:bodyPr>
          <a:lstStyle/>
          <a:p>
            <a:pPr algn="just"/>
            <a:r>
              <a:rPr lang="fr-FR" sz="2800" dirty="0">
                <a:latin typeface="Candara" panose="020E0502030303020204" pitchFamily="34" charset="0"/>
              </a:rPr>
              <a:t>Les classes (les entités)</a:t>
            </a:r>
          </a:p>
          <a:p>
            <a:pPr algn="just"/>
            <a:endParaRPr lang="fr-FR" sz="2800" dirty="0">
              <a:latin typeface="Candara" panose="020E0502030303020204" pitchFamily="34" charset="0"/>
            </a:endParaRPr>
          </a:p>
          <a:p>
            <a:pPr algn="just"/>
            <a:r>
              <a:rPr lang="fr-FR" sz="2800" dirty="0">
                <a:latin typeface="Candara" panose="020E0502030303020204" pitchFamily="34" charset="0"/>
              </a:rPr>
              <a:t>En UML, une classe est représentée par un rectangle divisé en trois parties :</a:t>
            </a:r>
          </a:p>
          <a:p>
            <a:pPr algn="just"/>
            <a:endParaRPr lang="fr-FR" sz="2800" dirty="0">
              <a:latin typeface="Candara" panose="020E0502030303020204" pitchFamily="34" charset="0"/>
            </a:endParaRPr>
          </a:p>
          <a:p>
            <a:pPr marL="514350" indent="-514350" algn="just">
              <a:buAutoNum type="arabicParenBoth"/>
            </a:pPr>
            <a:r>
              <a:rPr lang="fr-FR" sz="2800" dirty="0">
                <a:latin typeface="Candara" panose="020E0502030303020204" pitchFamily="34" charset="0"/>
              </a:rPr>
              <a:t>Nom de la classe</a:t>
            </a:r>
          </a:p>
          <a:p>
            <a:pPr marL="514350" indent="-514350" algn="just">
              <a:buAutoNum type="arabicParenBoth"/>
            </a:pPr>
            <a:r>
              <a:rPr lang="fr-FR" sz="2800" dirty="0">
                <a:latin typeface="Candara" panose="020E0502030303020204" pitchFamily="34" charset="0"/>
              </a:rPr>
              <a:t>Les attributs de la classe</a:t>
            </a:r>
          </a:p>
          <a:p>
            <a:pPr marL="514350" indent="-514350" algn="just">
              <a:buAutoNum type="arabicParenBoth"/>
            </a:pPr>
            <a:r>
              <a:rPr lang="fr-FR" sz="2800" dirty="0">
                <a:latin typeface="Candara" panose="020E0502030303020204" pitchFamily="34" charset="0"/>
              </a:rPr>
              <a:t>Les méthodes de la classe</a:t>
            </a:r>
          </a:p>
        </p:txBody>
      </p:sp>
      <p:sp>
        <p:nvSpPr>
          <p:cNvPr id="3" name="Rectangle 2">
            <a:extLst>
              <a:ext uri="{FF2B5EF4-FFF2-40B4-BE49-F238E27FC236}">
                <a16:creationId xmlns:a16="http://schemas.microsoft.com/office/drawing/2014/main" id="{7D5BFA50-3045-46AF-99DF-8CFBDD03BD3D}"/>
              </a:ext>
            </a:extLst>
          </p:cNvPr>
          <p:cNvSpPr/>
          <p:nvPr/>
        </p:nvSpPr>
        <p:spPr>
          <a:xfrm>
            <a:off x="7162058" y="1687076"/>
            <a:ext cx="3817398" cy="472260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AE975332-3B8F-4128-AF1A-D417205E6112}"/>
              </a:ext>
            </a:extLst>
          </p:cNvPr>
          <p:cNvCxnSpPr>
            <a:cxnSpLocks/>
          </p:cNvCxnSpPr>
          <p:nvPr/>
        </p:nvCxnSpPr>
        <p:spPr>
          <a:xfrm>
            <a:off x="7162058" y="2299090"/>
            <a:ext cx="3817398"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F586CC24-4264-4FAE-800C-1A17595E255B}"/>
              </a:ext>
            </a:extLst>
          </p:cNvPr>
          <p:cNvCxnSpPr>
            <a:cxnSpLocks/>
          </p:cNvCxnSpPr>
          <p:nvPr/>
        </p:nvCxnSpPr>
        <p:spPr>
          <a:xfrm>
            <a:off x="7162058" y="4936273"/>
            <a:ext cx="3817398"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B4010090-B510-4DC8-81A8-00C4D3FC21B7}"/>
              </a:ext>
            </a:extLst>
          </p:cNvPr>
          <p:cNvSpPr txBox="1"/>
          <p:nvPr/>
        </p:nvSpPr>
        <p:spPr>
          <a:xfrm>
            <a:off x="8162982" y="1810743"/>
            <a:ext cx="1815549" cy="369332"/>
          </a:xfrm>
          <a:prstGeom prst="rect">
            <a:avLst/>
          </a:prstGeom>
          <a:noFill/>
        </p:spPr>
        <p:txBody>
          <a:bodyPr wrap="square">
            <a:spAutoFit/>
          </a:bodyPr>
          <a:lstStyle/>
          <a:p>
            <a:r>
              <a:rPr lang="fr-FR" sz="1800" dirty="0">
                <a:latin typeface="Candara" panose="020E0502030303020204" pitchFamily="34" charset="0"/>
              </a:rPr>
              <a:t>Nom de la classe</a:t>
            </a:r>
            <a:endParaRPr lang="fr-FR" dirty="0"/>
          </a:p>
        </p:txBody>
      </p:sp>
      <p:sp>
        <p:nvSpPr>
          <p:cNvPr id="12" name="ZoneTexte 11">
            <a:extLst>
              <a:ext uri="{FF2B5EF4-FFF2-40B4-BE49-F238E27FC236}">
                <a16:creationId xmlns:a16="http://schemas.microsoft.com/office/drawing/2014/main" id="{7D3EE192-8A8A-40D8-8953-58EE15D66496}"/>
              </a:ext>
            </a:extLst>
          </p:cNvPr>
          <p:cNvSpPr txBox="1"/>
          <p:nvPr/>
        </p:nvSpPr>
        <p:spPr>
          <a:xfrm>
            <a:off x="7420861" y="2792089"/>
            <a:ext cx="1815549" cy="1477328"/>
          </a:xfrm>
          <a:prstGeom prst="rect">
            <a:avLst/>
          </a:prstGeom>
          <a:noFill/>
        </p:spPr>
        <p:txBody>
          <a:bodyPr wrap="square">
            <a:spAutoFit/>
          </a:bodyPr>
          <a:lstStyle/>
          <a:p>
            <a:r>
              <a:rPr lang="fr-FR" sz="1800" dirty="0">
                <a:latin typeface="Candara" panose="020E0502030303020204" pitchFamily="34" charset="0"/>
              </a:rPr>
              <a:t>Attribut1 : type</a:t>
            </a:r>
          </a:p>
          <a:p>
            <a:r>
              <a:rPr lang="fr-FR" dirty="0">
                <a:latin typeface="Candara" panose="020E0502030303020204" pitchFamily="34" charset="0"/>
              </a:rPr>
              <a:t>Atrribut2 : type</a:t>
            </a:r>
          </a:p>
          <a:p>
            <a:r>
              <a:rPr lang="fr-FR" dirty="0">
                <a:latin typeface="Candara" panose="020E0502030303020204" pitchFamily="34" charset="0"/>
              </a:rPr>
              <a:t>Attribut3 : type</a:t>
            </a:r>
          </a:p>
          <a:p>
            <a:r>
              <a:rPr lang="fr-FR" dirty="0">
                <a:latin typeface="Candara" panose="020E0502030303020204" pitchFamily="34" charset="0"/>
              </a:rPr>
              <a:t>Attribut4 : type</a:t>
            </a:r>
            <a:endParaRPr lang="fr-FR" dirty="0"/>
          </a:p>
          <a:p>
            <a:r>
              <a:rPr lang="fr-FR" dirty="0">
                <a:latin typeface="Candara" panose="020E0502030303020204" pitchFamily="34" charset="0"/>
              </a:rPr>
              <a:t>Attribut5 : type</a:t>
            </a:r>
            <a:endParaRPr lang="fr-FR" dirty="0"/>
          </a:p>
        </p:txBody>
      </p:sp>
      <p:sp>
        <p:nvSpPr>
          <p:cNvPr id="13" name="ZoneTexte 12">
            <a:extLst>
              <a:ext uri="{FF2B5EF4-FFF2-40B4-BE49-F238E27FC236}">
                <a16:creationId xmlns:a16="http://schemas.microsoft.com/office/drawing/2014/main" id="{76AAD280-1061-4F49-8126-47F6FA4433ED}"/>
              </a:ext>
            </a:extLst>
          </p:cNvPr>
          <p:cNvSpPr txBox="1"/>
          <p:nvPr/>
        </p:nvSpPr>
        <p:spPr>
          <a:xfrm>
            <a:off x="7420861" y="5211311"/>
            <a:ext cx="1815549" cy="646331"/>
          </a:xfrm>
          <a:prstGeom prst="rect">
            <a:avLst/>
          </a:prstGeom>
          <a:noFill/>
        </p:spPr>
        <p:txBody>
          <a:bodyPr wrap="square">
            <a:spAutoFit/>
          </a:bodyPr>
          <a:lstStyle/>
          <a:p>
            <a:r>
              <a:rPr lang="fr-FR" sz="1800" dirty="0">
                <a:latin typeface="Candara" panose="020E0502030303020204" pitchFamily="34" charset="0"/>
              </a:rPr>
              <a:t>Méthode1()</a:t>
            </a:r>
          </a:p>
          <a:p>
            <a:r>
              <a:rPr lang="fr-FR" dirty="0">
                <a:latin typeface="Candara" panose="020E0502030303020204" pitchFamily="34" charset="0"/>
              </a:rPr>
              <a:t>Méthode2()</a:t>
            </a:r>
            <a:endParaRPr lang="fr-FR" dirty="0"/>
          </a:p>
        </p:txBody>
      </p:sp>
    </p:spTree>
    <p:extLst>
      <p:ext uri="{BB962C8B-B14F-4D97-AF65-F5344CB8AC3E}">
        <p14:creationId xmlns:p14="http://schemas.microsoft.com/office/powerpoint/2010/main" val="9839718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D5BFA50-3045-46AF-99DF-8CFBDD03BD3D}"/>
              </a:ext>
            </a:extLst>
          </p:cNvPr>
          <p:cNvSpPr/>
          <p:nvPr/>
        </p:nvSpPr>
        <p:spPr>
          <a:xfrm>
            <a:off x="4187301" y="2462263"/>
            <a:ext cx="3817398" cy="335261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AE975332-3B8F-4128-AF1A-D417205E6112}"/>
              </a:ext>
            </a:extLst>
          </p:cNvPr>
          <p:cNvCxnSpPr>
            <a:cxnSpLocks/>
          </p:cNvCxnSpPr>
          <p:nvPr/>
        </p:nvCxnSpPr>
        <p:spPr>
          <a:xfrm>
            <a:off x="4187301" y="3074276"/>
            <a:ext cx="3817398"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F586CC24-4264-4FAE-800C-1A17595E255B}"/>
              </a:ext>
            </a:extLst>
          </p:cNvPr>
          <p:cNvCxnSpPr>
            <a:cxnSpLocks/>
          </p:cNvCxnSpPr>
          <p:nvPr/>
        </p:nvCxnSpPr>
        <p:spPr>
          <a:xfrm>
            <a:off x="4187301" y="4433069"/>
            <a:ext cx="3817398"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B4010090-B510-4DC8-81A8-00C4D3FC21B7}"/>
              </a:ext>
            </a:extLst>
          </p:cNvPr>
          <p:cNvSpPr txBox="1"/>
          <p:nvPr/>
        </p:nvSpPr>
        <p:spPr>
          <a:xfrm>
            <a:off x="5188225" y="2585929"/>
            <a:ext cx="1815549" cy="369332"/>
          </a:xfrm>
          <a:prstGeom prst="rect">
            <a:avLst/>
          </a:prstGeom>
          <a:noFill/>
        </p:spPr>
        <p:txBody>
          <a:bodyPr wrap="square">
            <a:spAutoFit/>
          </a:bodyPr>
          <a:lstStyle/>
          <a:p>
            <a:r>
              <a:rPr lang="fr-FR" sz="1800" dirty="0" err="1">
                <a:latin typeface="Candara" panose="020E0502030303020204" pitchFamily="34" charset="0"/>
              </a:rPr>
              <a:t>CompteBancaire</a:t>
            </a:r>
            <a:endParaRPr lang="fr-FR" dirty="0"/>
          </a:p>
        </p:txBody>
      </p:sp>
      <p:sp>
        <p:nvSpPr>
          <p:cNvPr id="12" name="ZoneTexte 11">
            <a:extLst>
              <a:ext uri="{FF2B5EF4-FFF2-40B4-BE49-F238E27FC236}">
                <a16:creationId xmlns:a16="http://schemas.microsoft.com/office/drawing/2014/main" id="{7D3EE192-8A8A-40D8-8953-58EE15D66496}"/>
              </a:ext>
            </a:extLst>
          </p:cNvPr>
          <p:cNvSpPr txBox="1"/>
          <p:nvPr/>
        </p:nvSpPr>
        <p:spPr>
          <a:xfrm>
            <a:off x="4446104" y="3300942"/>
            <a:ext cx="3419512" cy="923330"/>
          </a:xfrm>
          <a:prstGeom prst="rect">
            <a:avLst/>
          </a:prstGeom>
          <a:noFill/>
        </p:spPr>
        <p:txBody>
          <a:bodyPr wrap="square">
            <a:spAutoFit/>
          </a:bodyPr>
          <a:lstStyle/>
          <a:p>
            <a:r>
              <a:rPr lang="fr-FR" sz="1800" dirty="0">
                <a:latin typeface="Candara" panose="020E0502030303020204" pitchFamily="34" charset="0"/>
              </a:rPr>
              <a:t>Identifiant : Entier</a:t>
            </a:r>
          </a:p>
          <a:p>
            <a:r>
              <a:rPr lang="fr-FR" dirty="0">
                <a:latin typeface="Candara" panose="020E0502030303020204" pitchFamily="34" charset="0"/>
              </a:rPr>
              <a:t>Propriétaire : Chaine de caractère</a:t>
            </a:r>
          </a:p>
          <a:p>
            <a:r>
              <a:rPr lang="fr-FR" dirty="0">
                <a:latin typeface="Candara" panose="020E0502030303020204" pitchFamily="34" charset="0"/>
              </a:rPr>
              <a:t>Solde : Numérique</a:t>
            </a:r>
          </a:p>
        </p:txBody>
      </p:sp>
      <p:sp>
        <p:nvSpPr>
          <p:cNvPr id="13" name="ZoneTexte 12">
            <a:extLst>
              <a:ext uri="{FF2B5EF4-FFF2-40B4-BE49-F238E27FC236}">
                <a16:creationId xmlns:a16="http://schemas.microsoft.com/office/drawing/2014/main" id="{76AAD280-1061-4F49-8126-47F6FA4433ED}"/>
              </a:ext>
            </a:extLst>
          </p:cNvPr>
          <p:cNvSpPr txBox="1"/>
          <p:nvPr/>
        </p:nvSpPr>
        <p:spPr>
          <a:xfrm>
            <a:off x="4446104" y="4681478"/>
            <a:ext cx="1815549" cy="923330"/>
          </a:xfrm>
          <a:prstGeom prst="rect">
            <a:avLst/>
          </a:prstGeom>
          <a:noFill/>
        </p:spPr>
        <p:txBody>
          <a:bodyPr wrap="square">
            <a:spAutoFit/>
          </a:bodyPr>
          <a:lstStyle/>
          <a:p>
            <a:r>
              <a:rPr lang="fr-FR" sz="1800" dirty="0" err="1">
                <a:latin typeface="Candara" panose="020E0502030303020204" pitchFamily="34" charset="0"/>
              </a:rPr>
              <a:t>ConsulterSolde</a:t>
            </a:r>
            <a:r>
              <a:rPr lang="fr-FR" sz="1800" dirty="0">
                <a:latin typeface="Candara" panose="020E0502030303020204" pitchFamily="34" charset="0"/>
              </a:rPr>
              <a:t>()</a:t>
            </a:r>
          </a:p>
          <a:p>
            <a:r>
              <a:rPr lang="fr-FR" dirty="0">
                <a:latin typeface="Candara" panose="020E0502030303020204" pitchFamily="34" charset="0"/>
              </a:rPr>
              <a:t>Créditer()</a:t>
            </a:r>
          </a:p>
          <a:p>
            <a:r>
              <a:rPr lang="fr-FR" dirty="0">
                <a:latin typeface="Candara" panose="020E0502030303020204" pitchFamily="34" charset="0"/>
              </a:rPr>
              <a:t>Débiter()</a:t>
            </a:r>
            <a:endParaRPr lang="fr-FR" dirty="0"/>
          </a:p>
        </p:txBody>
      </p:sp>
    </p:spTree>
    <p:extLst>
      <p:ext uri="{BB962C8B-B14F-4D97-AF65-F5344CB8AC3E}">
        <p14:creationId xmlns:p14="http://schemas.microsoft.com/office/powerpoint/2010/main" val="15559626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3539430"/>
          </a:xfrm>
          <a:prstGeom prst="rect">
            <a:avLst/>
          </a:prstGeom>
        </p:spPr>
        <p:txBody>
          <a:bodyPr wrap="square">
            <a:spAutoFit/>
          </a:bodyPr>
          <a:lstStyle/>
          <a:p>
            <a:pPr algn="just"/>
            <a:r>
              <a:rPr lang="fr-FR" sz="2800" dirty="0">
                <a:latin typeface="Candara" panose="020E0502030303020204" pitchFamily="34" charset="0"/>
              </a:rPr>
              <a:t>Les associations</a:t>
            </a:r>
          </a:p>
          <a:p>
            <a:pPr algn="just"/>
            <a:endParaRPr lang="fr-FR" sz="2800" dirty="0">
              <a:latin typeface="Candara" panose="020E0502030303020204" pitchFamily="34" charset="0"/>
            </a:endParaRPr>
          </a:p>
          <a:p>
            <a:pPr algn="just"/>
            <a:r>
              <a:rPr lang="fr-FR" sz="2800" dirty="0">
                <a:latin typeface="Candara" panose="020E0502030303020204" pitchFamily="34" charset="0"/>
              </a:rPr>
              <a:t>Relation par défaut entre deux classes (binaire). </a:t>
            </a:r>
          </a:p>
          <a:p>
            <a:pPr algn="just"/>
            <a:endParaRPr lang="fr-FR" sz="2800" dirty="0">
              <a:latin typeface="Candara" panose="020E0502030303020204" pitchFamily="34" charset="0"/>
            </a:endParaRPr>
          </a:p>
          <a:p>
            <a:pPr algn="just"/>
            <a:r>
              <a:rPr lang="fr-FR" sz="2800" dirty="0">
                <a:latin typeface="Candara" panose="020E0502030303020204" pitchFamily="34" charset="0"/>
              </a:rPr>
              <a:t>Chacune des deux classes a conscience de l'existence de l'autre et de sa relation avec elle. </a:t>
            </a:r>
          </a:p>
          <a:p>
            <a:pPr algn="just"/>
            <a:endParaRPr lang="fr-FR" sz="2800" dirty="0">
              <a:latin typeface="Candara" panose="020E0502030303020204" pitchFamily="34" charset="0"/>
            </a:endParaRPr>
          </a:p>
          <a:p>
            <a:pPr algn="just"/>
            <a:r>
              <a:rPr lang="fr-FR" sz="2800" dirty="0">
                <a:latin typeface="Candara" panose="020E0502030303020204" pitchFamily="34" charset="0"/>
              </a:rPr>
              <a:t>Représentée par une ligne droite entre deux classes.</a:t>
            </a:r>
          </a:p>
        </p:txBody>
      </p:sp>
    </p:spTree>
    <p:extLst>
      <p:ext uri="{BB962C8B-B14F-4D97-AF65-F5344CB8AC3E}">
        <p14:creationId xmlns:p14="http://schemas.microsoft.com/office/powerpoint/2010/main" val="4344315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523220"/>
          </a:xfrm>
          <a:prstGeom prst="rect">
            <a:avLst/>
          </a:prstGeom>
        </p:spPr>
        <p:txBody>
          <a:bodyPr wrap="square">
            <a:spAutoFit/>
          </a:bodyPr>
          <a:lstStyle/>
          <a:p>
            <a:pPr algn="just"/>
            <a:r>
              <a:rPr lang="fr-FR" sz="2800" dirty="0">
                <a:latin typeface="Candara" panose="020E0502030303020204" pitchFamily="34" charset="0"/>
              </a:rPr>
              <a:t>Les associations</a:t>
            </a:r>
          </a:p>
        </p:txBody>
      </p:sp>
      <p:pic>
        <p:nvPicPr>
          <p:cNvPr id="3" name="Image 2">
            <a:extLst>
              <a:ext uri="{FF2B5EF4-FFF2-40B4-BE49-F238E27FC236}">
                <a16:creationId xmlns:a16="http://schemas.microsoft.com/office/drawing/2014/main" id="{64AD8E57-542F-44D2-851A-791D29322BC4}"/>
              </a:ext>
            </a:extLst>
          </p:cNvPr>
          <p:cNvPicPr>
            <a:picLocks noChangeAspect="1"/>
          </p:cNvPicPr>
          <p:nvPr/>
        </p:nvPicPr>
        <p:blipFill>
          <a:blip r:embed="rId2"/>
          <a:stretch>
            <a:fillRect/>
          </a:stretch>
        </p:blipFill>
        <p:spPr>
          <a:xfrm>
            <a:off x="1576950" y="2779782"/>
            <a:ext cx="2755352" cy="3393205"/>
          </a:xfrm>
          <a:prstGeom prst="rect">
            <a:avLst/>
          </a:prstGeom>
        </p:spPr>
      </p:pic>
      <p:pic>
        <p:nvPicPr>
          <p:cNvPr id="8" name="Image 7">
            <a:extLst>
              <a:ext uri="{FF2B5EF4-FFF2-40B4-BE49-F238E27FC236}">
                <a16:creationId xmlns:a16="http://schemas.microsoft.com/office/drawing/2014/main" id="{333C6141-F145-42E9-811C-ECE48AB8EDF1}"/>
              </a:ext>
            </a:extLst>
          </p:cNvPr>
          <p:cNvPicPr>
            <a:picLocks noChangeAspect="1"/>
          </p:cNvPicPr>
          <p:nvPr/>
        </p:nvPicPr>
        <p:blipFill>
          <a:blip r:embed="rId2"/>
          <a:stretch>
            <a:fillRect/>
          </a:stretch>
        </p:blipFill>
        <p:spPr>
          <a:xfrm>
            <a:off x="7859698" y="2779782"/>
            <a:ext cx="2755352" cy="3393205"/>
          </a:xfrm>
          <a:prstGeom prst="rect">
            <a:avLst/>
          </a:prstGeom>
        </p:spPr>
      </p:pic>
      <p:cxnSp>
        <p:nvCxnSpPr>
          <p:cNvPr id="9" name="Connecteur droit 8">
            <a:extLst>
              <a:ext uri="{FF2B5EF4-FFF2-40B4-BE49-F238E27FC236}">
                <a16:creationId xmlns:a16="http://schemas.microsoft.com/office/drawing/2014/main" id="{C9361A79-E8F0-47C5-9AB4-3F81A1F18013}"/>
              </a:ext>
            </a:extLst>
          </p:cNvPr>
          <p:cNvCxnSpPr>
            <a:stCxn id="3" idx="3"/>
            <a:endCxn id="8" idx="1"/>
          </p:cNvCxnSpPr>
          <p:nvPr/>
        </p:nvCxnSpPr>
        <p:spPr>
          <a:xfrm>
            <a:off x="4332302" y="4476385"/>
            <a:ext cx="3527396"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3F56551E-4FEB-42AC-946D-6B16C9A9E70F}"/>
              </a:ext>
            </a:extLst>
          </p:cNvPr>
          <p:cNvSpPr txBox="1"/>
          <p:nvPr/>
        </p:nvSpPr>
        <p:spPr>
          <a:xfrm>
            <a:off x="4332302" y="4076549"/>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12" name="ZoneTexte 11">
            <a:extLst>
              <a:ext uri="{FF2B5EF4-FFF2-40B4-BE49-F238E27FC236}">
                <a16:creationId xmlns:a16="http://schemas.microsoft.com/office/drawing/2014/main" id="{F6F68C00-D4D3-4EE7-BAB6-F77E96D43120}"/>
              </a:ext>
            </a:extLst>
          </p:cNvPr>
          <p:cNvSpPr txBox="1"/>
          <p:nvPr/>
        </p:nvSpPr>
        <p:spPr>
          <a:xfrm>
            <a:off x="7267658" y="4086858"/>
            <a:ext cx="547811" cy="369332"/>
          </a:xfrm>
          <a:prstGeom prst="rect">
            <a:avLst/>
          </a:prstGeom>
          <a:noFill/>
        </p:spPr>
        <p:txBody>
          <a:bodyPr wrap="square">
            <a:spAutoFit/>
          </a:bodyPr>
          <a:lstStyle/>
          <a:p>
            <a:pPr algn="r"/>
            <a:r>
              <a:rPr lang="fr-FR" sz="1800" dirty="0">
                <a:latin typeface="Candara" panose="020E0502030303020204" pitchFamily="34" charset="0"/>
              </a:rPr>
              <a:t>1..*</a:t>
            </a:r>
            <a:endParaRPr lang="fr-FR" dirty="0"/>
          </a:p>
        </p:txBody>
      </p:sp>
      <p:sp>
        <p:nvSpPr>
          <p:cNvPr id="13" name="ZoneTexte 12">
            <a:extLst>
              <a:ext uri="{FF2B5EF4-FFF2-40B4-BE49-F238E27FC236}">
                <a16:creationId xmlns:a16="http://schemas.microsoft.com/office/drawing/2014/main" id="{35933167-3DF5-4A02-9941-427565CF6B10}"/>
              </a:ext>
            </a:extLst>
          </p:cNvPr>
          <p:cNvSpPr txBox="1"/>
          <p:nvPr/>
        </p:nvSpPr>
        <p:spPr>
          <a:xfrm>
            <a:off x="4760843" y="4506890"/>
            <a:ext cx="2663687" cy="369332"/>
          </a:xfrm>
          <a:prstGeom prst="rect">
            <a:avLst/>
          </a:prstGeom>
          <a:noFill/>
        </p:spPr>
        <p:txBody>
          <a:bodyPr wrap="square">
            <a:spAutoFit/>
          </a:bodyPr>
          <a:lstStyle/>
          <a:p>
            <a:pPr algn="ctr"/>
            <a:r>
              <a:rPr lang="fr-FR" sz="1800" dirty="0">
                <a:latin typeface="Candara" panose="020E0502030303020204" pitchFamily="34" charset="0"/>
              </a:rPr>
              <a:t>Rôles</a:t>
            </a:r>
            <a:endParaRPr lang="fr-FR" dirty="0"/>
          </a:p>
        </p:txBody>
      </p:sp>
    </p:spTree>
    <p:extLst>
      <p:ext uri="{BB962C8B-B14F-4D97-AF65-F5344CB8AC3E}">
        <p14:creationId xmlns:p14="http://schemas.microsoft.com/office/powerpoint/2010/main" val="10314077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4100327" cy="523220"/>
          </a:xfrm>
          <a:prstGeom prst="rect">
            <a:avLst/>
          </a:prstGeom>
        </p:spPr>
        <p:txBody>
          <a:bodyPr wrap="square">
            <a:spAutoFit/>
          </a:bodyPr>
          <a:lstStyle/>
          <a:p>
            <a:pPr algn="just"/>
            <a:r>
              <a:rPr lang="fr-FR" sz="2800" dirty="0">
                <a:latin typeface="Candara" panose="020E0502030303020204" pitchFamily="34" charset="0"/>
              </a:rPr>
              <a:t>Exemples d’association :</a:t>
            </a:r>
          </a:p>
        </p:txBody>
      </p:sp>
      <p:sp>
        <p:nvSpPr>
          <p:cNvPr id="14" name="Rectangle 13">
            <a:extLst>
              <a:ext uri="{FF2B5EF4-FFF2-40B4-BE49-F238E27FC236}">
                <a16:creationId xmlns:a16="http://schemas.microsoft.com/office/drawing/2014/main" id="{64DA0984-A9FA-43FB-96E2-761D3A8FA59D}"/>
              </a:ext>
            </a:extLst>
          </p:cNvPr>
          <p:cNvSpPr/>
          <p:nvPr/>
        </p:nvSpPr>
        <p:spPr>
          <a:xfrm>
            <a:off x="710212" y="3207769"/>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5" name="Connecteur droit 14">
            <a:extLst>
              <a:ext uri="{FF2B5EF4-FFF2-40B4-BE49-F238E27FC236}">
                <a16:creationId xmlns:a16="http://schemas.microsoft.com/office/drawing/2014/main" id="{B083EE42-24FB-4457-9347-0D890DA32914}"/>
              </a:ext>
            </a:extLst>
          </p:cNvPr>
          <p:cNvCxnSpPr>
            <a:cxnSpLocks/>
          </p:cNvCxnSpPr>
          <p:nvPr/>
        </p:nvCxnSpPr>
        <p:spPr>
          <a:xfrm>
            <a:off x="710212" y="381978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02450ABB-D20F-4B2A-BC35-1A4CBDDDA28D}"/>
              </a:ext>
            </a:extLst>
          </p:cNvPr>
          <p:cNvCxnSpPr>
            <a:cxnSpLocks/>
          </p:cNvCxnSpPr>
          <p:nvPr/>
        </p:nvCxnSpPr>
        <p:spPr>
          <a:xfrm>
            <a:off x="710212" y="476113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CA38B1F9-D942-4F56-9500-A25A9A91434E}"/>
              </a:ext>
            </a:extLst>
          </p:cNvPr>
          <p:cNvSpPr txBox="1"/>
          <p:nvPr/>
        </p:nvSpPr>
        <p:spPr>
          <a:xfrm>
            <a:off x="969016" y="3331435"/>
            <a:ext cx="911086" cy="369332"/>
          </a:xfrm>
          <a:prstGeom prst="rect">
            <a:avLst/>
          </a:prstGeom>
          <a:noFill/>
        </p:spPr>
        <p:txBody>
          <a:bodyPr wrap="square">
            <a:spAutoFit/>
          </a:bodyPr>
          <a:lstStyle/>
          <a:p>
            <a:r>
              <a:rPr lang="fr-FR" sz="1800" dirty="0">
                <a:latin typeface="Candara" panose="020E0502030303020204" pitchFamily="34" charset="0"/>
              </a:rPr>
              <a:t>Maison</a:t>
            </a:r>
            <a:endParaRPr lang="fr-FR" dirty="0"/>
          </a:p>
        </p:txBody>
      </p:sp>
      <p:sp>
        <p:nvSpPr>
          <p:cNvPr id="18" name="ZoneTexte 17">
            <a:extLst>
              <a:ext uri="{FF2B5EF4-FFF2-40B4-BE49-F238E27FC236}">
                <a16:creationId xmlns:a16="http://schemas.microsoft.com/office/drawing/2014/main" id="{8B4D31E9-9132-44F5-8876-CC582AE0E53D}"/>
              </a:ext>
            </a:extLst>
          </p:cNvPr>
          <p:cNvSpPr txBox="1"/>
          <p:nvPr/>
        </p:nvSpPr>
        <p:spPr>
          <a:xfrm>
            <a:off x="969015" y="4046448"/>
            <a:ext cx="1060174" cy="369332"/>
          </a:xfrm>
          <a:prstGeom prst="rect">
            <a:avLst/>
          </a:prstGeom>
          <a:noFill/>
        </p:spPr>
        <p:txBody>
          <a:bodyPr wrap="square">
            <a:spAutoFit/>
          </a:bodyPr>
          <a:lstStyle/>
          <a:p>
            <a:r>
              <a:rPr lang="fr-FR" sz="1800" dirty="0">
                <a:latin typeface="Candara" panose="020E0502030303020204" pitchFamily="34" charset="0"/>
              </a:rPr>
              <a:t>Adresse</a:t>
            </a:r>
            <a:endParaRPr lang="fr-FR" dirty="0">
              <a:latin typeface="Candara" panose="020E0502030303020204" pitchFamily="34" charset="0"/>
            </a:endParaRPr>
          </a:p>
        </p:txBody>
      </p:sp>
      <p:sp>
        <p:nvSpPr>
          <p:cNvPr id="20" name="Rectangle 19">
            <a:extLst>
              <a:ext uri="{FF2B5EF4-FFF2-40B4-BE49-F238E27FC236}">
                <a16:creationId xmlns:a16="http://schemas.microsoft.com/office/drawing/2014/main" id="{E761E8B8-D050-43FE-BECB-ACB12CD15B7F}"/>
              </a:ext>
            </a:extLst>
          </p:cNvPr>
          <p:cNvSpPr/>
          <p:nvPr/>
        </p:nvSpPr>
        <p:spPr>
          <a:xfrm>
            <a:off x="3834412" y="3207769"/>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1" name="Connecteur droit 20">
            <a:extLst>
              <a:ext uri="{FF2B5EF4-FFF2-40B4-BE49-F238E27FC236}">
                <a16:creationId xmlns:a16="http://schemas.microsoft.com/office/drawing/2014/main" id="{D0CF15B6-39E8-4552-8118-85CE1C67A931}"/>
              </a:ext>
            </a:extLst>
          </p:cNvPr>
          <p:cNvCxnSpPr>
            <a:cxnSpLocks/>
          </p:cNvCxnSpPr>
          <p:nvPr/>
        </p:nvCxnSpPr>
        <p:spPr>
          <a:xfrm>
            <a:off x="3834412" y="3819782"/>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3032791-3BAA-4C35-BB60-0F32A16241D7}"/>
              </a:ext>
            </a:extLst>
          </p:cNvPr>
          <p:cNvCxnSpPr>
            <a:cxnSpLocks/>
          </p:cNvCxnSpPr>
          <p:nvPr/>
        </p:nvCxnSpPr>
        <p:spPr>
          <a:xfrm>
            <a:off x="3834412" y="4761132"/>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5114C8BE-C996-4B26-9251-313760A96A93}"/>
              </a:ext>
            </a:extLst>
          </p:cNvPr>
          <p:cNvSpPr txBox="1"/>
          <p:nvPr/>
        </p:nvSpPr>
        <p:spPr>
          <a:xfrm>
            <a:off x="4093216" y="3331435"/>
            <a:ext cx="1355033" cy="369332"/>
          </a:xfrm>
          <a:prstGeom prst="rect">
            <a:avLst/>
          </a:prstGeom>
          <a:noFill/>
        </p:spPr>
        <p:txBody>
          <a:bodyPr wrap="square">
            <a:spAutoFit/>
          </a:bodyPr>
          <a:lstStyle/>
          <a:p>
            <a:r>
              <a:rPr lang="fr-FR" sz="1800" dirty="0">
                <a:latin typeface="Candara" panose="020E0502030303020204" pitchFamily="34" charset="0"/>
              </a:rPr>
              <a:t>Personne</a:t>
            </a:r>
            <a:endParaRPr lang="fr-FR" dirty="0"/>
          </a:p>
        </p:txBody>
      </p:sp>
      <p:sp>
        <p:nvSpPr>
          <p:cNvPr id="24" name="ZoneTexte 23">
            <a:extLst>
              <a:ext uri="{FF2B5EF4-FFF2-40B4-BE49-F238E27FC236}">
                <a16:creationId xmlns:a16="http://schemas.microsoft.com/office/drawing/2014/main" id="{EEA21D14-BF7D-4413-A245-24B623D3CB2F}"/>
              </a:ext>
            </a:extLst>
          </p:cNvPr>
          <p:cNvSpPr txBox="1"/>
          <p:nvPr/>
        </p:nvSpPr>
        <p:spPr>
          <a:xfrm>
            <a:off x="4093215" y="4046448"/>
            <a:ext cx="831574" cy="369332"/>
          </a:xfrm>
          <a:prstGeom prst="rect">
            <a:avLst/>
          </a:prstGeom>
          <a:noFill/>
        </p:spPr>
        <p:txBody>
          <a:bodyPr wrap="square">
            <a:spAutoFit/>
          </a:bodyPr>
          <a:lstStyle/>
          <a:p>
            <a:r>
              <a:rPr lang="fr-FR" sz="1800" dirty="0">
                <a:latin typeface="Candara" panose="020E0502030303020204" pitchFamily="34" charset="0"/>
              </a:rPr>
              <a:t>Nom</a:t>
            </a:r>
            <a:endParaRPr lang="fr-FR" dirty="0">
              <a:latin typeface="Candara" panose="020E0502030303020204" pitchFamily="34" charset="0"/>
            </a:endParaRPr>
          </a:p>
        </p:txBody>
      </p:sp>
      <p:cxnSp>
        <p:nvCxnSpPr>
          <p:cNvPr id="28" name="Connecteur droit 27">
            <a:extLst>
              <a:ext uri="{FF2B5EF4-FFF2-40B4-BE49-F238E27FC236}">
                <a16:creationId xmlns:a16="http://schemas.microsoft.com/office/drawing/2014/main" id="{F1172192-893F-49CF-B94C-68CB53DEE0BD}"/>
              </a:ext>
            </a:extLst>
          </p:cNvPr>
          <p:cNvCxnSpPr>
            <a:cxnSpLocks/>
            <a:stCxn id="14" idx="3"/>
            <a:endCxn id="20" idx="1"/>
          </p:cNvCxnSpPr>
          <p:nvPr/>
        </p:nvCxnSpPr>
        <p:spPr>
          <a:xfrm>
            <a:off x="2168337" y="4183391"/>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D29FF881-6C3C-49C1-9934-D7088E5B18FC}"/>
              </a:ext>
            </a:extLst>
          </p:cNvPr>
          <p:cNvSpPr txBox="1"/>
          <p:nvPr/>
        </p:nvSpPr>
        <p:spPr>
          <a:xfrm>
            <a:off x="2287992" y="3730268"/>
            <a:ext cx="547811" cy="369332"/>
          </a:xfrm>
          <a:prstGeom prst="rect">
            <a:avLst/>
          </a:prstGeom>
          <a:noFill/>
        </p:spPr>
        <p:txBody>
          <a:bodyPr wrap="square">
            <a:spAutoFit/>
          </a:bodyPr>
          <a:lstStyle/>
          <a:p>
            <a:r>
              <a:rPr lang="fr-FR" sz="1800" dirty="0">
                <a:latin typeface="Candara" panose="020E0502030303020204" pitchFamily="34" charset="0"/>
              </a:rPr>
              <a:t>1</a:t>
            </a:r>
            <a:endParaRPr lang="fr-FR" dirty="0"/>
          </a:p>
        </p:txBody>
      </p:sp>
      <p:sp>
        <p:nvSpPr>
          <p:cNvPr id="31" name="ZoneTexte 30">
            <a:extLst>
              <a:ext uri="{FF2B5EF4-FFF2-40B4-BE49-F238E27FC236}">
                <a16:creationId xmlns:a16="http://schemas.microsoft.com/office/drawing/2014/main" id="{D97EAB69-814A-4AF3-B056-059B5C98FD53}"/>
              </a:ext>
            </a:extLst>
          </p:cNvPr>
          <p:cNvSpPr txBox="1"/>
          <p:nvPr/>
        </p:nvSpPr>
        <p:spPr>
          <a:xfrm>
            <a:off x="3221885" y="3730268"/>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25" name="ZoneTexte 24">
            <a:extLst>
              <a:ext uri="{FF2B5EF4-FFF2-40B4-BE49-F238E27FC236}">
                <a16:creationId xmlns:a16="http://schemas.microsoft.com/office/drawing/2014/main" id="{55AE74EB-B724-45B6-9D5F-1B63F0E7ACC1}"/>
              </a:ext>
            </a:extLst>
          </p:cNvPr>
          <p:cNvSpPr txBox="1"/>
          <p:nvPr/>
        </p:nvSpPr>
        <p:spPr>
          <a:xfrm>
            <a:off x="2237139" y="4203804"/>
            <a:ext cx="1458125" cy="369332"/>
          </a:xfrm>
          <a:prstGeom prst="rect">
            <a:avLst/>
          </a:prstGeom>
          <a:noFill/>
        </p:spPr>
        <p:txBody>
          <a:bodyPr wrap="square">
            <a:spAutoFit/>
          </a:bodyPr>
          <a:lstStyle/>
          <a:p>
            <a:pPr algn="ctr"/>
            <a:r>
              <a:rPr lang="fr-FR" sz="1800" dirty="0">
                <a:latin typeface="Candara" panose="020E0502030303020204" pitchFamily="34" charset="0"/>
              </a:rPr>
              <a:t>héberge</a:t>
            </a:r>
            <a:endParaRPr lang="fr-FR" dirty="0"/>
          </a:p>
        </p:txBody>
      </p:sp>
      <p:sp>
        <p:nvSpPr>
          <p:cNvPr id="26" name="Rectangle 25">
            <a:extLst>
              <a:ext uri="{FF2B5EF4-FFF2-40B4-BE49-F238E27FC236}">
                <a16:creationId xmlns:a16="http://schemas.microsoft.com/office/drawing/2014/main" id="{E36157F7-FE63-4692-89BF-7D6E664960EF}"/>
              </a:ext>
            </a:extLst>
          </p:cNvPr>
          <p:cNvSpPr/>
          <p:nvPr/>
        </p:nvSpPr>
        <p:spPr>
          <a:xfrm>
            <a:off x="7545020" y="1455087"/>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7" name="Connecteur droit 26">
            <a:extLst>
              <a:ext uri="{FF2B5EF4-FFF2-40B4-BE49-F238E27FC236}">
                <a16:creationId xmlns:a16="http://schemas.microsoft.com/office/drawing/2014/main" id="{BD75F291-3AC6-4122-B8FA-7D292458AF9B}"/>
              </a:ext>
            </a:extLst>
          </p:cNvPr>
          <p:cNvCxnSpPr>
            <a:cxnSpLocks/>
          </p:cNvCxnSpPr>
          <p:nvPr/>
        </p:nvCxnSpPr>
        <p:spPr>
          <a:xfrm>
            <a:off x="7545020" y="2067100"/>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62CE45B7-A72D-4342-816C-D23CFD4D94EC}"/>
              </a:ext>
            </a:extLst>
          </p:cNvPr>
          <p:cNvCxnSpPr>
            <a:cxnSpLocks/>
          </p:cNvCxnSpPr>
          <p:nvPr/>
        </p:nvCxnSpPr>
        <p:spPr>
          <a:xfrm>
            <a:off x="7545020" y="3008450"/>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ZoneTexte 31">
            <a:extLst>
              <a:ext uri="{FF2B5EF4-FFF2-40B4-BE49-F238E27FC236}">
                <a16:creationId xmlns:a16="http://schemas.microsoft.com/office/drawing/2014/main" id="{4B063DF1-2554-4F11-9E07-FD31A767F69C}"/>
              </a:ext>
            </a:extLst>
          </p:cNvPr>
          <p:cNvSpPr txBox="1"/>
          <p:nvPr/>
        </p:nvSpPr>
        <p:spPr>
          <a:xfrm>
            <a:off x="7803824" y="1578753"/>
            <a:ext cx="1355033" cy="369332"/>
          </a:xfrm>
          <a:prstGeom prst="rect">
            <a:avLst/>
          </a:prstGeom>
          <a:noFill/>
        </p:spPr>
        <p:txBody>
          <a:bodyPr wrap="square">
            <a:spAutoFit/>
          </a:bodyPr>
          <a:lstStyle/>
          <a:p>
            <a:r>
              <a:rPr lang="fr-FR" sz="1800" dirty="0">
                <a:latin typeface="Candara" panose="020E0502030303020204" pitchFamily="34" charset="0"/>
              </a:rPr>
              <a:t>Université</a:t>
            </a:r>
            <a:endParaRPr lang="fr-FR" dirty="0"/>
          </a:p>
        </p:txBody>
      </p:sp>
      <p:sp>
        <p:nvSpPr>
          <p:cNvPr id="33" name="ZoneTexte 32">
            <a:extLst>
              <a:ext uri="{FF2B5EF4-FFF2-40B4-BE49-F238E27FC236}">
                <a16:creationId xmlns:a16="http://schemas.microsoft.com/office/drawing/2014/main" id="{9EBF07E5-AD5A-446A-9627-C2771F6EBC55}"/>
              </a:ext>
            </a:extLst>
          </p:cNvPr>
          <p:cNvSpPr txBox="1"/>
          <p:nvPr/>
        </p:nvSpPr>
        <p:spPr>
          <a:xfrm>
            <a:off x="7803823" y="2293766"/>
            <a:ext cx="831574" cy="369332"/>
          </a:xfrm>
          <a:prstGeom prst="rect">
            <a:avLst/>
          </a:prstGeom>
          <a:noFill/>
        </p:spPr>
        <p:txBody>
          <a:bodyPr wrap="square">
            <a:spAutoFit/>
          </a:bodyPr>
          <a:lstStyle/>
          <a:p>
            <a:r>
              <a:rPr lang="fr-FR" sz="1800" dirty="0">
                <a:latin typeface="Candara" panose="020E0502030303020204" pitchFamily="34" charset="0"/>
              </a:rPr>
              <a:t>Nom</a:t>
            </a:r>
            <a:endParaRPr lang="fr-FR" dirty="0">
              <a:latin typeface="Candara" panose="020E0502030303020204" pitchFamily="34" charset="0"/>
            </a:endParaRPr>
          </a:p>
        </p:txBody>
      </p:sp>
      <p:sp>
        <p:nvSpPr>
          <p:cNvPr id="34" name="Rectangle 33">
            <a:extLst>
              <a:ext uri="{FF2B5EF4-FFF2-40B4-BE49-F238E27FC236}">
                <a16:creationId xmlns:a16="http://schemas.microsoft.com/office/drawing/2014/main" id="{548C976F-F4F9-42EE-851A-9FAE1F61EC7A}"/>
              </a:ext>
            </a:extLst>
          </p:cNvPr>
          <p:cNvSpPr/>
          <p:nvPr/>
        </p:nvSpPr>
        <p:spPr>
          <a:xfrm>
            <a:off x="7583068" y="4573136"/>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5" name="Connecteur droit 34">
            <a:extLst>
              <a:ext uri="{FF2B5EF4-FFF2-40B4-BE49-F238E27FC236}">
                <a16:creationId xmlns:a16="http://schemas.microsoft.com/office/drawing/2014/main" id="{190DC4E5-9239-4B1B-83A9-DA7BAD2D9E24}"/>
              </a:ext>
            </a:extLst>
          </p:cNvPr>
          <p:cNvCxnSpPr>
            <a:cxnSpLocks/>
          </p:cNvCxnSpPr>
          <p:nvPr/>
        </p:nvCxnSpPr>
        <p:spPr>
          <a:xfrm>
            <a:off x="7583068" y="5185149"/>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1D68FBA8-7A79-4803-8407-FB34D64F940F}"/>
              </a:ext>
            </a:extLst>
          </p:cNvPr>
          <p:cNvCxnSpPr>
            <a:cxnSpLocks/>
          </p:cNvCxnSpPr>
          <p:nvPr/>
        </p:nvCxnSpPr>
        <p:spPr>
          <a:xfrm>
            <a:off x="7583068" y="6126499"/>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FEAC4C45-04D8-4DB8-B072-651A21DBEBC3}"/>
              </a:ext>
            </a:extLst>
          </p:cNvPr>
          <p:cNvSpPr txBox="1"/>
          <p:nvPr/>
        </p:nvSpPr>
        <p:spPr>
          <a:xfrm>
            <a:off x="7841872" y="4696802"/>
            <a:ext cx="1355033" cy="369332"/>
          </a:xfrm>
          <a:prstGeom prst="rect">
            <a:avLst/>
          </a:prstGeom>
          <a:noFill/>
        </p:spPr>
        <p:txBody>
          <a:bodyPr wrap="square">
            <a:spAutoFit/>
          </a:bodyPr>
          <a:lstStyle/>
          <a:p>
            <a:r>
              <a:rPr lang="fr-FR" sz="1800" dirty="0">
                <a:latin typeface="Candara" panose="020E0502030303020204" pitchFamily="34" charset="0"/>
              </a:rPr>
              <a:t>Personne</a:t>
            </a:r>
            <a:endParaRPr lang="fr-FR" dirty="0"/>
          </a:p>
        </p:txBody>
      </p:sp>
      <p:sp>
        <p:nvSpPr>
          <p:cNvPr id="38" name="ZoneTexte 37">
            <a:extLst>
              <a:ext uri="{FF2B5EF4-FFF2-40B4-BE49-F238E27FC236}">
                <a16:creationId xmlns:a16="http://schemas.microsoft.com/office/drawing/2014/main" id="{18E9DA64-9A95-4037-9005-1CED2DC84C4A}"/>
              </a:ext>
            </a:extLst>
          </p:cNvPr>
          <p:cNvSpPr txBox="1"/>
          <p:nvPr/>
        </p:nvSpPr>
        <p:spPr>
          <a:xfrm>
            <a:off x="7841871" y="5411815"/>
            <a:ext cx="831574" cy="369332"/>
          </a:xfrm>
          <a:prstGeom prst="rect">
            <a:avLst/>
          </a:prstGeom>
          <a:noFill/>
        </p:spPr>
        <p:txBody>
          <a:bodyPr wrap="square">
            <a:spAutoFit/>
          </a:bodyPr>
          <a:lstStyle/>
          <a:p>
            <a:r>
              <a:rPr lang="fr-FR" sz="1800" dirty="0">
                <a:latin typeface="Candara" panose="020E0502030303020204" pitchFamily="34" charset="0"/>
              </a:rPr>
              <a:t>Nom</a:t>
            </a:r>
            <a:endParaRPr lang="fr-FR" dirty="0">
              <a:latin typeface="Candara" panose="020E0502030303020204" pitchFamily="34" charset="0"/>
            </a:endParaRPr>
          </a:p>
        </p:txBody>
      </p:sp>
      <p:cxnSp>
        <p:nvCxnSpPr>
          <p:cNvPr id="39" name="Connecteur droit 38">
            <a:extLst>
              <a:ext uri="{FF2B5EF4-FFF2-40B4-BE49-F238E27FC236}">
                <a16:creationId xmlns:a16="http://schemas.microsoft.com/office/drawing/2014/main" id="{336E97B8-CB08-46A3-8F33-210DA5F66F8A}"/>
              </a:ext>
            </a:extLst>
          </p:cNvPr>
          <p:cNvCxnSpPr>
            <a:cxnSpLocks/>
          </p:cNvCxnSpPr>
          <p:nvPr/>
        </p:nvCxnSpPr>
        <p:spPr>
          <a:xfrm>
            <a:off x="7803823" y="3429000"/>
            <a:ext cx="0" cy="114413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CCF247B9-3ECD-4F2A-9290-600C0A269D6B}"/>
              </a:ext>
            </a:extLst>
          </p:cNvPr>
          <p:cNvCxnSpPr>
            <a:cxnSpLocks/>
          </p:cNvCxnSpPr>
          <p:nvPr/>
        </p:nvCxnSpPr>
        <p:spPr>
          <a:xfrm>
            <a:off x="8900441" y="3429000"/>
            <a:ext cx="0" cy="114413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E3835593-35F3-4F8B-82FA-7060488B1494}"/>
              </a:ext>
            </a:extLst>
          </p:cNvPr>
          <p:cNvSpPr txBox="1"/>
          <p:nvPr/>
        </p:nvSpPr>
        <p:spPr>
          <a:xfrm>
            <a:off x="6625286" y="3816402"/>
            <a:ext cx="1098118" cy="369332"/>
          </a:xfrm>
          <a:prstGeom prst="rect">
            <a:avLst/>
          </a:prstGeom>
          <a:noFill/>
        </p:spPr>
        <p:txBody>
          <a:bodyPr wrap="square">
            <a:spAutoFit/>
          </a:bodyPr>
          <a:lstStyle/>
          <a:p>
            <a:pPr algn="ctr"/>
            <a:r>
              <a:rPr lang="fr-FR" sz="1800" dirty="0">
                <a:latin typeface="Candara" panose="020E0502030303020204" pitchFamily="34" charset="0"/>
              </a:rPr>
              <a:t>Etudiant</a:t>
            </a:r>
            <a:endParaRPr lang="fr-FR" dirty="0"/>
          </a:p>
        </p:txBody>
      </p:sp>
      <p:sp>
        <p:nvSpPr>
          <p:cNvPr id="42" name="ZoneTexte 41">
            <a:extLst>
              <a:ext uri="{FF2B5EF4-FFF2-40B4-BE49-F238E27FC236}">
                <a16:creationId xmlns:a16="http://schemas.microsoft.com/office/drawing/2014/main" id="{7DCB237B-970F-4783-95B5-7C7F294FA61E}"/>
              </a:ext>
            </a:extLst>
          </p:cNvPr>
          <p:cNvSpPr txBox="1"/>
          <p:nvPr/>
        </p:nvSpPr>
        <p:spPr>
          <a:xfrm>
            <a:off x="8900440" y="3461196"/>
            <a:ext cx="1355031" cy="369332"/>
          </a:xfrm>
          <a:prstGeom prst="rect">
            <a:avLst/>
          </a:prstGeom>
          <a:noFill/>
        </p:spPr>
        <p:txBody>
          <a:bodyPr wrap="square">
            <a:spAutoFit/>
          </a:bodyPr>
          <a:lstStyle/>
          <a:p>
            <a:pPr algn="ctr"/>
            <a:r>
              <a:rPr lang="fr-FR" sz="1800" dirty="0">
                <a:latin typeface="Candara" panose="020E0502030303020204" pitchFamily="34" charset="0"/>
              </a:rPr>
              <a:t>Employeur</a:t>
            </a:r>
            <a:endParaRPr lang="fr-FR" dirty="0"/>
          </a:p>
        </p:txBody>
      </p:sp>
      <p:sp>
        <p:nvSpPr>
          <p:cNvPr id="43" name="ZoneTexte 42">
            <a:extLst>
              <a:ext uri="{FF2B5EF4-FFF2-40B4-BE49-F238E27FC236}">
                <a16:creationId xmlns:a16="http://schemas.microsoft.com/office/drawing/2014/main" id="{FD4FCE4B-0FDB-4360-8EBE-9B92ECBD1E74}"/>
              </a:ext>
            </a:extLst>
          </p:cNvPr>
          <p:cNvSpPr txBox="1"/>
          <p:nvPr/>
        </p:nvSpPr>
        <p:spPr>
          <a:xfrm>
            <a:off x="8938485" y="4046448"/>
            <a:ext cx="1355031" cy="369332"/>
          </a:xfrm>
          <a:prstGeom prst="rect">
            <a:avLst/>
          </a:prstGeom>
          <a:noFill/>
        </p:spPr>
        <p:txBody>
          <a:bodyPr wrap="square">
            <a:spAutoFit/>
          </a:bodyPr>
          <a:lstStyle/>
          <a:p>
            <a:pPr algn="ctr"/>
            <a:r>
              <a:rPr lang="fr-FR" sz="1800" dirty="0">
                <a:latin typeface="Candara" panose="020E0502030303020204" pitchFamily="34" charset="0"/>
              </a:rPr>
              <a:t>Enseignant</a:t>
            </a:r>
            <a:endParaRPr lang="fr-FR" dirty="0"/>
          </a:p>
        </p:txBody>
      </p:sp>
    </p:spTree>
    <p:extLst>
      <p:ext uri="{BB962C8B-B14F-4D97-AF65-F5344CB8AC3E}">
        <p14:creationId xmlns:p14="http://schemas.microsoft.com/office/powerpoint/2010/main" val="42185158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618587" y="2155082"/>
            <a:ext cx="3891660" cy="3539430"/>
          </a:xfrm>
          <a:prstGeom prst="rect">
            <a:avLst/>
          </a:prstGeom>
        </p:spPr>
        <p:txBody>
          <a:bodyPr wrap="square">
            <a:spAutoFit/>
          </a:bodyPr>
          <a:lstStyle/>
          <a:p>
            <a:pPr algn="just"/>
            <a:r>
              <a:rPr lang="fr-FR" sz="2800" dirty="0">
                <a:latin typeface="Candara" panose="020E0502030303020204" pitchFamily="34" charset="0"/>
              </a:rPr>
              <a:t>Les associations</a:t>
            </a:r>
          </a:p>
          <a:p>
            <a:pPr algn="just"/>
            <a:endParaRPr lang="fr-FR" sz="2800" dirty="0">
              <a:latin typeface="Candara" panose="020E0502030303020204" pitchFamily="34" charset="0"/>
            </a:endParaRPr>
          </a:p>
          <a:p>
            <a:pPr algn="just"/>
            <a:endParaRPr lang="fr-FR" sz="2800" dirty="0">
              <a:latin typeface="Candara" panose="020E0502030303020204" pitchFamily="34" charset="0"/>
            </a:endParaRPr>
          </a:p>
          <a:p>
            <a:pPr algn="just"/>
            <a:r>
              <a:rPr lang="fr-FR" sz="2800" dirty="0">
                <a:latin typeface="Candara" panose="020E0502030303020204" pitchFamily="34" charset="0"/>
              </a:rPr>
              <a:t>Il existe des associations n-aires.</a:t>
            </a:r>
          </a:p>
          <a:p>
            <a:pPr algn="just"/>
            <a:endParaRPr lang="fr-FR" sz="2800" dirty="0">
              <a:latin typeface="Candara" panose="020E0502030303020204" pitchFamily="34" charset="0"/>
            </a:endParaRPr>
          </a:p>
          <a:p>
            <a:pPr algn="just"/>
            <a:r>
              <a:rPr lang="fr-FR" sz="2800" dirty="0">
                <a:latin typeface="Candara" panose="020E0502030303020204" pitchFamily="34" charset="0"/>
              </a:rPr>
              <a:t>Elles sont généralement difficiles à décrypter. </a:t>
            </a:r>
          </a:p>
        </p:txBody>
      </p:sp>
      <p:pic>
        <p:nvPicPr>
          <p:cNvPr id="8" name="Image 7">
            <a:extLst>
              <a:ext uri="{FF2B5EF4-FFF2-40B4-BE49-F238E27FC236}">
                <a16:creationId xmlns:a16="http://schemas.microsoft.com/office/drawing/2014/main" id="{D8F9CEC1-B460-4D6C-AC7F-BF94D7BF927C}"/>
              </a:ext>
            </a:extLst>
          </p:cNvPr>
          <p:cNvPicPr>
            <a:picLocks noChangeAspect="1"/>
          </p:cNvPicPr>
          <p:nvPr/>
        </p:nvPicPr>
        <p:blipFill>
          <a:blip r:embed="rId2"/>
          <a:stretch>
            <a:fillRect/>
          </a:stretch>
        </p:blipFill>
        <p:spPr>
          <a:xfrm>
            <a:off x="4940971" y="4003760"/>
            <a:ext cx="1752659" cy="2158393"/>
          </a:xfrm>
          <a:prstGeom prst="rect">
            <a:avLst/>
          </a:prstGeom>
        </p:spPr>
      </p:pic>
      <p:pic>
        <p:nvPicPr>
          <p:cNvPr id="9" name="Image 8">
            <a:extLst>
              <a:ext uri="{FF2B5EF4-FFF2-40B4-BE49-F238E27FC236}">
                <a16:creationId xmlns:a16="http://schemas.microsoft.com/office/drawing/2014/main" id="{6208C93D-D0C7-4B27-87C1-4E315E423E13}"/>
              </a:ext>
            </a:extLst>
          </p:cNvPr>
          <p:cNvPicPr>
            <a:picLocks noChangeAspect="1"/>
          </p:cNvPicPr>
          <p:nvPr/>
        </p:nvPicPr>
        <p:blipFill>
          <a:blip r:embed="rId2"/>
          <a:stretch>
            <a:fillRect/>
          </a:stretch>
        </p:blipFill>
        <p:spPr>
          <a:xfrm>
            <a:off x="7474169" y="1796437"/>
            <a:ext cx="1752659" cy="2158393"/>
          </a:xfrm>
          <a:prstGeom prst="rect">
            <a:avLst/>
          </a:prstGeom>
        </p:spPr>
      </p:pic>
      <p:pic>
        <p:nvPicPr>
          <p:cNvPr id="10" name="Image 9">
            <a:extLst>
              <a:ext uri="{FF2B5EF4-FFF2-40B4-BE49-F238E27FC236}">
                <a16:creationId xmlns:a16="http://schemas.microsoft.com/office/drawing/2014/main" id="{AA62B716-B376-44F6-B6F1-0D21000CFEE2}"/>
              </a:ext>
            </a:extLst>
          </p:cNvPr>
          <p:cNvPicPr>
            <a:picLocks noChangeAspect="1"/>
          </p:cNvPicPr>
          <p:nvPr/>
        </p:nvPicPr>
        <p:blipFill>
          <a:blip r:embed="rId2"/>
          <a:stretch>
            <a:fillRect/>
          </a:stretch>
        </p:blipFill>
        <p:spPr>
          <a:xfrm>
            <a:off x="9997484" y="4001165"/>
            <a:ext cx="1752659" cy="2158393"/>
          </a:xfrm>
          <a:prstGeom prst="rect">
            <a:avLst/>
          </a:prstGeom>
        </p:spPr>
      </p:pic>
      <p:sp>
        <p:nvSpPr>
          <p:cNvPr id="3" name="Organigramme : Procédé 2">
            <a:extLst>
              <a:ext uri="{FF2B5EF4-FFF2-40B4-BE49-F238E27FC236}">
                <a16:creationId xmlns:a16="http://schemas.microsoft.com/office/drawing/2014/main" id="{F1A8031E-044A-4509-880B-209763A934B9}"/>
              </a:ext>
            </a:extLst>
          </p:cNvPr>
          <p:cNvSpPr/>
          <p:nvPr/>
        </p:nvSpPr>
        <p:spPr>
          <a:xfrm rot="2572852">
            <a:off x="8116957" y="5115281"/>
            <a:ext cx="457200" cy="489013"/>
          </a:xfrm>
          <a:prstGeom prst="flowChartProcess">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1" name="Connecteur droit 10">
            <a:extLst>
              <a:ext uri="{FF2B5EF4-FFF2-40B4-BE49-F238E27FC236}">
                <a16:creationId xmlns:a16="http://schemas.microsoft.com/office/drawing/2014/main" id="{B3523EBD-D2B8-4818-A6AD-C0F29F2D3FBE}"/>
              </a:ext>
            </a:extLst>
          </p:cNvPr>
          <p:cNvCxnSpPr>
            <a:cxnSpLocks/>
          </p:cNvCxnSpPr>
          <p:nvPr/>
        </p:nvCxnSpPr>
        <p:spPr>
          <a:xfrm flipH="1">
            <a:off x="8335618" y="3944891"/>
            <a:ext cx="4942" cy="107023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C38CBC98-AE24-4340-A830-95F8F18FB5AE}"/>
              </a:ext>
            </a:extLst>
          </p:cNvPr>
          <p:cNvCxnSpPr>
            <a:cxnSpLocks/>
            <a:endCxn id="8" idx="3"/>
          </p:cNvCxnSpPr>
          <p:nvPr/>
        </p:nvCxnSpPr>
        <p:spPr>
          <a:xfrm flipH="1" flipV="1">
            <a:off x="6693630" y="5082957"/>
            <a:ext cx="1318036" cy="27683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796B11F5-B8A9-42EC-B882-8BE1195AB95E}"/>
              </a:ext>
            </a:extLst>
          </p:cNvPr>
          <p:cNvCxnSpPr>
            <a:cxnSpLocks/>
            <a:endCxn id="10" idx="1"/>
          </p:cNvCxnSpPr>
          <p:nvPr/>
        </p:nvCxnSpPr>
        <p:spPr>
          <a:xfrm flipV="1">
            <a:off x="8679450" y="5080362"/>
            <a:ext cx="1318034" cy="27942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067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954107"/>
          </a:xfrm>
          <a:prstGeom prst="rect">
            <a:avLst/>
          </a:prstGeom>
        </p:spPr>
        <p:txBody>
          <a:bodyPr wrap="square">
            <a:spAutoFit/>
          </a:bodyPr>
          <a:lstStyle/>
          <a:p>
            <a:pPr algn="just"/>
            <a:r>
              <a:rPr lang="fr-FR" sz="2800" dirty="0">
                <a:latin typeface="Candara" panose="020E0502030303020204" pitchFamily="34" charset="0"/>
              </a:rPr>
              <a:t>Les classes associations permettent de composer deux couples sans doublons.</a:t>
            </a:r>
          </a:p>
        </p:txBody>
      </p:sp>
      <p:pic>
        <p:nvPicPr>
          <p:cNvPr id="3" name="Image 2">
            <a:extLst>
              <a:ext uri="{FF2B5EF4-FFF2-40B4-BE49-F238E27FC236}">
                <a16:creationId xmlns:a16="http://schemas.microsoft.com/office/drawing/2014/main" id="{DCA2361C-6473-4D59-B9AA-724E4E3815D8}"/>
              </a:ext>
            </a:extLst>
          </p:cNvPr>
          <p:cNvPicPr>
            <a:picLocks noChangeAspect="1"/>
          </p:cNvPicPr>
          <p:nvPr/>
        </p:nvPicPr>
        <p:blipFill>
          <a:blip r:embed="rId2"/>
          <a:stretch>
            <a:fillRect/>
          </a:stretch>
        </p:blipFill>
        <p:spPr>
          <a:xfrm>
            <a:off x="3381326" y="2851448"/>
            <a:ext cx="5429348" cy="2040585"/>
          </a:xfrm>
          <a:prstGeom prst="rect">
            <a:avLst/>
          </a:prstGeom>
        </p:spPr>
      </p:pic>
      <p:pic>
        <p:nvPicPr>
          <p:cNvPr id="5" name="Image 4">
            <a:extLst>
              <a:ext uri="{FF2B5EF4-FFF2-40B4-BE49-F238E27FC236}">
                <a16:creationId xmlns:a16="http://schemas.microsoft.com/office/drawing/2014/main" id="{5B8B9604-D88D-43AB-83D7-40FE83C4DDE2}"/>
              </a:ext>
            </a:extLst>
          </p:cNvPr>
          <p:cNvPicPr>
            <a:picLocks noChangeAspect="1"/>
          </p:cNvPicPr>
          <p:nvPr/>
        </p:nvPicPr>
        <p:blipFill>
          <a:blip r:embed="rId3"/>
          <a:stretch>
            <a:fillRect/>
          </a:stretch>
        </p:blipFill>
        <p:spPr>
          <a:xfrm>
            <a:off x="5149083" y="5170506"/>
            <a:ext cx="1893831" cy="1664185"/>
          </a:xfrm>
          <a:prstGeom prst="rect">
            <a:avLst/>
          </a:prstGeom>
        </p:spPr>
      </p:pic>
      <p:cxnSp>
        <p:nvCxnSpPr>
          <p:cNvPr id="9" name="Connecteur droit 8">
            <a:extLst>
              <a:ext uri="{FF2B5EF4-FFF2-40B4-BE49-F238E27FC236}">
                <a16:creationId xmlns:a16="http://schemas.microsoft.com/office/drawing/2014/main" id="{BB4267C7-457D-4442-805A-06337EAE6076}"/>
              </a:ext>
            </a:extLst>
          </p:cNvPr>
          <p:cNvCxnSpPr/>
          <p:nvPr/>
        </p:nvCxnSpPr>
        <p:spPr>
          <a:xfrm>
            <a:off x="6086060" y="3871740"/>
            <a:ext cx="0" cy="2828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851B1F76-B9E0-47CD-9A3F-58E6094DC006}"/>
              </a:ext>
            </a:extLst>
          </p:cNvPr>
          <p:cNvCxnSpPr/>
          <p:nvPr/>
        </p:nvCxnSpPr>
        <p:spPr>
          <a:xfrm>
            <a:off x="6086059" y="4372009"/>
            <a:ext cx="0" cy="2828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8625D27-DD13-47C9-A68F-7E70B0509367}"/>
              </a:ext>
            </a:extLst>
          </p:cNvPr>
          <p:cNvCxnSpPr/>
          <p:nvPr/>
        </p:nvCxnSpPr>
        <p:spPr>
          <a:xfrm>
            <a:off x="6082744" y="4887689"/>
            <a:ext cx="0" cy="2828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6372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6B1BDA21-345E-40DC-8E8F-430E07446B63}"/>
              </a:ext>
            </a:extLst>
          </p:cNvPr>
          <p:cNvPicPr>
            <a:picLocks noChangeAspect="1"/>
          </p:cNvPicPr>
          <p:nvPr/>
        </p:nvPicPr>
        <p:blipFill>
          <a:blip r:embed="rId2"/>
          <a:stretch>
            <a:fillRect/>
          </a:stretch>
        </p:blipFill>
        <p:spPr>
          <a:xfrm>
            <a:off x="4712833" y="1687076"/>
            <a:ext cx="7132938" cy="5017443"/>
          </a:xfrm>
          <a:prstGeom prst="rect">
            <a:avLst/>
          </a:prstGeom>
        </p:spPr>
      </p:pic>
      <p:sp>
        <p:nvSpPr>
          <p:cNvPr id="12" name="Rectangle 11">
            <a:extLst>
              <a:ext uri="{FF2B5EF4-FFF2-40B4-BE49-F238E27FC236}">
                <a16:creationId xmlns:a16="http://schemas.microsoft.com/office/drawing/2014/main" id="{ECF896E8-BCAA-4348-BA2A-5F429F74FC1C}"/>
              </a:ext>
            </a:extLst>
          </p:cNvPr>
          <p:cNvSpPr/>
          <p:nvPr/>
        </p:nvSpPr>
        <p:spPr>
          <a:xfrm>
            <a:off x="710213" y="2379323"/>
            <a:ext cx="3344953" cy="954107"/>
          </a:xfrm>
          <a:prstGeom prst="rect">
            <a:avLst/>
          </a:prstGeom>
        </p:spPr>
        <p:txBody>
          <a:bodyPr wrap="square">
            <a:spAutoFit/>
          </a:bodyPr>
          <a:lstStyle/>
          <a:p>
            <a:pPr algn="just"/>
            <a:r>
              <a:rPr lang="fr-FR" sz="2800" dirty="0">
                <a:latin typeface="Candara" panose="020E0502030303020204" pitchFamily="34" charset="0"/>
              </a:rPr>
              <a:t>Exemple de classe d’association :</a:t>
            </a:r>
          </a:p>
        </p:txBody>
      </p:sp>
    </p:spTree>
    <p:extLst>
      <p:ext uri="{BB962C8B-B14F-4D97-AF65-F5344CB8AC3E}">
        <p14:creationId xmlns:p14="http://schemas.microsoft.com/office/powerpoint/2010/main" val="1658252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4845761" cy="3970318"/>
          </a:xfrm>
          <a:prstGeom prst="rect">
            <a:avLst/>
          </a:prstGeom>
        </p:spPr>
        <p:txBody>
          <a:bodyPr wrap="square">
            <a:spAutoFit/>
          </a:bodyPr>
          <a:lstStyle/>
          <a:p>
            <a:pPr algn="just"/>
            <a:r>
              <a:rPr lang="fr-FR" sz="2800" dirty="0">
                <a:latin typeface="Candara" panose="020E0502030303020204" pitchFamily="34" charset="0"/>
              </a:rPr>
              <a:t>Les autres associations </a:t>
            </a:r>
          </a:p>
          <a:p>
            <a:pPr algn="just"/>
            <a:endParaRPr lang="fr-FR" sz="2800" dirty="0">
              <a:latin typeface="Candara" panose="020E0502030303020204" pitchFamily="34" charset="0"/>
            </a:endParaRPr>
          </a:p>
          <a:p>
            <a:pPr algn="just"/>
            <a:r>
              <a:rPr lang="fr-FR" sz="2800" dirty="0">
                <a:latin typeface="Candara" panose="020E0502030303020204" pitchFamily="34" charset="0"/>
              </a:rPr>
              <a:t>Agrégation : association non symétrique, qui exprime un couplage fort et une relation de subordination.</a:t>
            </a:r>
          </a:p>
          <a:p>
            <a:pPr algn="just"/>
            <a:endParaRPr lang="fr-FR" sz="2800" dirty="0">
              <a:latin typeface="Candara" panose="020E0502030303020204" pitchFamily="34" charset="0"/>
            </a:endParaRPr>
          </a:p>
          <a:p>
            <a:pPr algn="just"/>
            <a:r>
              <a:rPr lang="fr-FR" sz="2800" dirty="0">
                <a:latin typeface="Candara" panose="020E0502030303020204" pitchFamily="34" charset="0"/>
              </a:rPr>
              <a:t>Elle représente une relation de type "ensemble / élément".</a:t>
            </a:r>
          </a:p>
        </p:txBody>
      </p:sp>
      <p:sp>
        <p:nvSpPr>
          <p:cNvPr id="66" name="Rectangle 65">
            <a:extLst>
              <a:ext uri="{FF2B5EF4-FFF2-40B4-BE49-F238E27FC236}">
                <a16:creationId xmlns:a16="http://schemas.microsoft.com/office/drawing/2014/main" id="{E6FED228-0E6B-4B45-9707-9B2CA5929CAF}"/>
              </a:ext>
            </a:extLst>
          </p:cNvPr>
          <p:cNvSpPr/>
          <p:nvPr/>
        </p:nvSpPr>
        <p:spPr>
          <a:xfrm>
            <a:off x="8232530" y="5356230"/>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67" name="Connecteur droit 66">
            <a:extLst>
              <a:ext uri="{FF2B5EF4-FFF2-40B4-BE49-F238E27FC236}">
                <a16:creationId xmlns:a16="http://schemas.microsoft.com/office/drawing/2014/main" id="{052A9EE3-A858-439E-807B-0AD8A0931645}"/>
              </a:ext>
            </a:extLst>
          </p:cNvPr>
          <p:cNvCxnSpPr>
            <a:cxnSpLocks/>
          </p:cNvCxnSpPr>
          <p:nvPr/>
        </p:nvCxnSpPr>
        <p:spPr>
          <a:xfrm>
            <a:off x="8232529" y="574983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1E15683D-91E3-4A9C-BC52-3618B1D318BD}"/>
              </a:ext>
            </a:extLst>
          </p:cNvPr>
          <p:cNvCxnSpPr>
            <a:cxnSpLocks/>
          </p:cNvCxnSpPr>
          <p:nvPr/>
        </p:nvCxnSpPr>
        <p:spPr>
          <a:xfrm>
            <a:off x="8232529" y="640269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ZoneTexte 68">
            <a:extLst>
              <a:ext uri="{FF2B5EF4-FFF2-40B4-BE49-F238E27FC236}">
                <a16:creationId xmlns:a16="http://schemas.microsoft.com/office/drawing/2014/main" id="{A0EA0829-1582-4ED1-AD42-3A7EC43FD7A1}"/>
              </a:ext>
            </a:extLst>
          </p:cNvPr>
          <p:cNvSpPr txBox="1"/>
          <p:nvPr/>
        </p:nvSpPr>
        <p:spPr>
          <a:xfrm>
            <a:off x="8491334" y="5350688"/>
            <a:ext cx="911086" cy="369332"/>
          </a:xfrm>
          <a:prstGeom prst="rect">
            <a:avLst/>
          </a:prstGeom>
          <a:noFill/>
        </p:spPr>
        <p:txBody>
          <a:bodyPr wrap="square">
            <a:spAutoFit/>
          </a:bodyPr>
          <a:lstStyle/>
          <a:p>
            <a:r>
              <a:rPr lang="fr-FR" sz="1800" dirty="0">
                <a:latin typeface="Candara" panose="020E0502030303020204" pitchFamily="34" charset="0"/>
              </a:rPr>
              <a:t>Texte</a:t>
            </a:r>
            <a:endParaRPr lang="fr-FR" dirty="0"/>
          </a:p>
        </p:txBody>
      </p:sp>
      <p:cxnSp>
        <p:nvCxnSpPr>
          <p:cNvPr id="71" name="Connecteur droit 70">
            <a:extLst>
              <a:ext uri="{FF2B5EF4-FFF2-40B4-BE49-F238E27FC236}">
                <a16:creationId xmlns:a16="http://schemas.microsoft.com/office/drawing/2014/main" id="{697A753C-9866-439A-9F02-DD9992C9B880}"/>
              </a:ext>
            </a:extLst>
          </p:cNvPr>
          <p:cNvCxnSpPr>
            <a:cxnSpLocks/>
            <a:stCxn id="66" idx="0"/>
          </p:cNvCxnSpPr>
          <p:nvPr/>
        </p:nvCxnSpPr>
        <p:spPr>
          <a:xfrm flipV="1">
            <a:off x="8961593" y="5012108"/>
            <a:ext cx="83016" cy="34412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9E11FFC4-8EDB-4D6F-9084-5D256CFD5323}"/>
              </a:ext>
            </a:extLst>
          </p:cNvPr>
          <p:cNvSpPr/>
          <p:nvPr/>
        </p:nvSpPr>
        <p:spPr>
          <a:xfrm>
            <a:off x="8505272" y="1120540"/>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75" name="Connecteur droit 74">
            <a:extLst>
              <a:ext uri="{FF2B5EF4-FFF2-40B4-BE49-F238E27FC236}">
                <a16:creationId xmlns:a16="http://schemas.microsoft.com/office/drawing/2014/main" id="{68E412A1-ADD3-4A46-B515-0353AB880B3B}"/>
              </a:ext>
            </a:extLst>
          </p:cNvPr>
          <p:cNvCxnSpPr>
            <a:cxnSpLocks/>
          </p:cNvCxnSpPr>
          <p:nvPr/>
        </p:nvCxnSpPr>
        <p:spPr>
          <a:xfrm>
            <a:off x="8505271" y="151414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5739050B-4C9F-4C51-8459-362A6E6ED6D9}"/>
              </a:ext>
            </a:extLst>
          </p:cNvPr>
          <p:cNvCxnSpPr>
            <a:cxnSpLocks/>
          </p:cNvCxnSpPr>
          <p:nvPr/>
        </p:nvCxnSpPr>
        <p:spPr>
          <a:xfrm>
            <a:off x="8505271" y="216700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ZoneTexte 76">
            <a:extLst>
              <a:ext uri="{FF2B5EF4-FFF2-40B4-BE49-F238E27FC236}">
                <a16:creationId xmlns:a16="http://schemas.microsoft.com/office/drawing/2014/main" id="{7FE0E127-8DC3-4048-A7A7-5E3F88E50C7E}"/>
              </a:ext>
            </a:extLst>
          </p:cNvPr>
          <p:cNvSpPr txBox="1"/>
          <p:nvPr/>
        </p:nvSpPr>
        <p:spPr>
          <a:xfrm>
            <a:off x="8764076" y="1114998"/>
            <a:ext cx="911086" cy="369332"/>
          </a:xfrm>
          <a:prstGeom prst="rect">
            <a:avLst/>
          </a:prstGeom>
          <a:noFill/>
        </p:spPr>
        <p:txBody>
          <a:bodyPr wrap="square">
            <a:spAutoFit/>
          </a:bodyPr>
          <a:lstStyle/>
          <a:p>
            <a:r>
              <a:rPr lang="fr-FR" sz="1800" dirty="0">
                <a:latin typeface="Candara" panose="020E0502030303020204" pitchFamily="34" charset="0"/>
              </a:rPr>
              <a:t>Titre</a:t>
            </a:r>
            <a:endParaRPr lang="fr-FR" dirty="0"/>
          </a:p>
        </p:txBody>
      </p:sp>
      <p:cxnSp>
        <p:nvCxnSpPr>
          <p:cNvPr id="78" name="Connecteur droit 77">
            <a:extLst>
              <a:ext uri="{FF2B5EF4-FFF2-40B4-BE49-F238E27FC236}">
                <a16:creationId xmlns:a16="http://schemas.microsoft.com/office/drawing/2014/main" id="{B37C318A-2B95-42A6-A348-A9CA5DF3F4A4}"/>
              </a:ext>
            </a:extLst>
          </p:cNvPr>
          <p:cNvCxnSpPr>
            <a:cxnSpLocks/>
            <a:endCxn id="74" idx="2"/>
          </p:cNvCxnSpPr>
          <p:nvPr/>
        </p:nvCxnSpPr>
        <p:spPr>
          <a:xfrm flipV="1">
            <a:off x="9187971" y="2493312"/>
            <a:ext cx="46364" cy="52719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BAD3EC74-D152-44C6-B4B8-02D3E104168B}"/>
              </a:ext>
            </a:extLst>
          </p:cNvPr>
          <p:cNvSpPr/>
          <p:nvPr/>
        </p:nvSpPr>
        <p:spPr>
          <a:xfrm>
            <a:off x="5769967" y="3418787"/>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2" name="Connecteur droit 81">
            <a:extLst>
              <a:ext uri="{FF2B5EF4-FFF2-40B4-BE49-F238E27FC236}">
                <a16:creationId xmlns:a16="http://schemas.microsoft.com/office/drawing/2014/main" id="{1CCD86AE-1D32-460E-8BB7-A1F4D20804AE}"/>
              </a:ext>
            </a:extLst>
          </p:cNvPr>
          <p:cNvCxnSpPr>
            <a:cxnSpLocks/>
          </p:cNvCxnSpPr>
          <p:nvPr/>
        </p:nvCxnSpPr>
        <p:spPr>
          <a:xfrm>
            <a:off x="5769966" y="381239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8009D624-3F0D-4418-8825-FC2121029353}"/>
              </a:ext>
            </a:extLst>
          </p:cNvPr>
          <p:cNvCxnSpPr>
            <a:cxnSpLocks/>
          </p:cNvCxnSpPr>
          <p:nvPr/>
        </p:nvCxnSpPr>
        <p:spPr>
          <a:xfrm>
            <a:off x="5769966" y="446525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ZoneTexte 83">
            <a:extLst>
              <a:ext uri="{FF2B5EF4-FFF2-40B4-BE49-F238E27FC236}">
                <a16:creationId xmlns:a16="http://schemas.microsoft.com/office/drawing/2014/main" id="{D4E33D0C-8ED0-4DFB-BE28-B98C32654108}"/>
              </a:ext>
            </a:extLst>
          </p:cNvPr>
          <p:cNvSpPr txBox="1"/>
          <p:nvPr/>
        </p:nvSpPr>
        <p:spPr>
          <a:xfrm>
            <a:off x="6028771" y="3413245"/>
            <a:ext cx="911086" cy="369332"/>
          </a:xfrm>
          <a:prstGeom prst="rect">
            <a:avLst/>
          </a:prstGeom>
          <a:noFill/>
        </p:spPr>
        <p:txBody>
          <a:bodyPr wrap="square">
            <a:spAutoFit/>
          </a:bodyPr>
          <a:lstStyle/>
          <a:p>
            <a:r>
              <a:rPr lang="fr-FR" dirty="0">
                <a:latin typeface="Candara" panose="020E0502030303020204" pitchFamily="34" charset="0"/>
              </a:rPr>
              <a:t>Fichier</a:t>
            </a:r>
            <a:endParaRPr lang="fr-FR" dirty="0"/>
          </a:p>
        </p:txBody>
      </p:sp>
      <p:sp>
        <p:nvSpPr>
          <p:cNvPr id="85" name="Rectangle 84">
            <a:extLst>
              <a:ext uri="{FF2B5EF4-FFF2-40B4-BE49-F238E27FC236}">
                <a16:creationId xmlns:a16="http://schemas.microsoft.com/office/drawing/2014/main" id="{DF236F71-6916-4111-AE4C-EE101BDC7944}"/>
              </a:ext>
            </a:extLst>
          </p:cNvPr>
          <p:cNvSpPr/>
          <p:nvPr/>
        </p:nvSpPr>
        <p:spPr>
          <a:xfrm>
            <a:off x="10584787" y="3328589"/>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6" name="Connecteur droit 85">
            <a:extLst>
              <a:ext uri="{FF2B5EF4-FFF2-40B4-BE49-F238E27FC236}">
                <a16:creationId xmlns:a16="http://schemas.microsoft.com/office/drawing/2014/main" id="{4F83D0D1-B9A6-43B7-97DC-80E8F3DA0A8C}"/>
              </a:ext>
            </a:extLst>
          </p:cNvPr>
          <p:cNvCxnSpPr>
            <a:cxnSpLocks/>
          </p:cNvCxnSpPr>
          <p:nvPr/>
        </p:nvCxnSpPr>
        <p:spPr>
          <a:xfrm>
            <a:off x="10584786" y="3722196"/>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C9E2B0FE-DA81-4D07-8170-59D2CA72B35D}"/>
              </a:ext>
            </a:extLst>
          </p:cNvPr>
          <p:cNvCxnSpPr>
            <a:cxnSpLocks/>
          </p:cNvCxnSpPr>
          <p:nvPr/>
        </p:nvCxnSpPr>
        <p:spPr>
          <a:xfrm>
            <a:off x="10584786" y="4375056"/>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ZoneTexte 87">
            <a:extLst>
              <a:ext uri="{FF2B5EF4-FFF2-40B4-BE49-F238E27FC236}">
                <a16:creationId xmlns:a16="http://schemas.microsoft.com/office/drawing/2014/main" id="{80D4AA20-6731-4C59-8EC8-02C0C808125C}"/>
              </a:ext>
            </a:extLst>
          </p:cNvPr>
          <p:cNvSpPr txBox="1"/>
          <p:nvPr/>
        </p:nvSpPr>
        <p:spPr>
          <a:xfrm>
            <a:off x="10670589" y="3323047"/>
            <a:ext cx="1372322" cy="369332"/>
          </a:xfrm>
          <a:prstGeom prst="rect">
            <a:avLst/>
          </a:prstGeom>
          <a:noFill/>
        </p:spPr>
        <p:txBody>
          <a:bodyPr wrap="square">
            <a:spAutoFit/>
          </a:bodyPr>
          <a:lstStyle/>
          <a:p>
            <a:r>
              <a:rPr lang="fr-FR" sz="1800" dirty="0">
                <a:latin typeface="Candara" panose="020E0502030303020204" pitchFamily="34" charset="0"/>
              </a:rPr>
              <a:t>Destinataire</a:t>
            </a:r>
            <a:endParaRPr lang="fr-FR" dirty="0"/>
          </a:p>
        </p:txBody>
      </p:sp>
      <p:cxnSp>
        <p:nvCxnSpPr>
          <p:cNvPr id="89" name="Connecteur droit 88">
            <a:extLst>
              <a:ext uri="{FF2B5EF4-FFF2-40B4-BE49-F238E27FC236}">
                <a16:creationId xmlns:a16="http://schemas.microsoft.com/office/drawing/2014/main" id="{A0565CBF-9D96-4683-A552-54A3E9492691}"/>
              </a:ext>
            </a:extLst>
          </p:cNvPr>
          <p:cNvCxnSpPr>
            <a:cxnSpLocks/>
            <a:endCxn id="81" idx="3"/>
          </p:cNvCxnSpPr>
          <p:nvPr/>
        </p:nvCxnSpPr>
        <p:spPr>
          <a:xfrm flipH="1">
            <a:off x="7228092" y="4105173"/>
            <a:ext cx="54957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D6DF3A62-ADDF-499D-A0A4-07661494F311}"/>
              </a:ext>
            </a:extLst>
          </p:cNvPr>
          <p:cNvCxnSpPr>
            <a:cxnSpLocks/>
            <a:stCxn id="85" idx="1"/>
          </p:cNvCxnSpPr>
          <p:nvPr/>
        </p:nvCxnSpPr>
        <p:spPr>
          <a:xfrm flipH="1">
            <a:off x="10071775" y="4014975"/>
            <a:ext cx="513012" cy="5965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4FEEBFC8-922E-4BB1-A682-C2CC60C5B174}"/>
              </a:ext>
            </a:extLst>
          </p:cNvPr>
          <p:cNvSpPr/>
          <p:nvPr/>
        </p:nvSpPr>
        <p:spPr>
          <a:xfrm>
            <a:off x="8150247" y="3466591"/>
            <a:ext cx="1458125" cy="1124748"/>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96" name="Connecteur droit 95">
            <a:extLst>
              <a:ext uri="{FF2B5EF4-FFF2-40B4-BE49-F238E27FC236}">
                <a16:creationId xmlns:a16="http://schemas.microsoft.com/office/drawing/2014/main" id="{F3CD57AC-BA9A-4895-A9AF-4C407F175B6F}"/>
              </a:ext>
            </a:extLst>
          </p:cNvPr>
          <p:cNvCxnSpPr>
            <a:cxnSpLocks/>
          </p:cNvCxnSpPr>
          <p:nvPr/>
        </p:nvCxnSpPr>
        <p:spPr>
          <a:xfrm>
            <a:off x="8150246" y="3860198"/>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B85471C5-E02B-4931-85D1-DE2C2EF6E1F2}"/>
              </a:ext>
            </a:extLst>
          </p:cNvPr>
          <p:cNvCxnSpPr>
            <a:cxnSpLocks/>
          </p:cNvCxnSpPr>
          <p:nvPr/>
        </p:nvCxnSpPr>
        <p:spPr>
          <a:xfrm>
            <a:off x="8150246" y="436397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ZoneTexte 97">
            <a:extLst>
              <a:ext uri="{FF2B5EF4-FFF2-40B4-BE49-F238E27FC236}">
                <a16:creationId xmlns:a16="http://schemas.microsoft.com/office/drawing/2014/main" id="{7FA4C14C-32EC-4329-AADD-02B803568320}"/>
              </a:ext>
            </a:extLst>
          </p:cNvPr>
          <p:cNvSpPr txBox="1"/>
          <p:nvPr/>
        </p:nvSpPr>
        <p:spPr>
          <a:xfrm>
            <a:off x="8409051" y="3461049"/>
            <a:ext cx="911086" cy="369332"/>
          </a:xfrm>
          <a:prstGeom prst="rect">
            <a:avLst/>
          </a:prstGeom>
          <a:noFill/>
        </p:spPr>
        <p:txBody>
          <a:bodyPr wrap="square">
            <a:spAutoFit/>
          </a:bodyPr>
          <a:lstStyle/>
          <a:p>
            <a:r>
              <a:rPr lang="fr-FR" sz="1800" dirty="0">
                <a:latin typeface="Candara" panose="020E0502030303020204" pitchFamily="34" charset="0"/>
              </a:rPr>
              <a:t>Mail</a:t>
            </a:r>
            <a:endParaRPr lang="fr-FR" dirty="0"/>
          </a:p>
        </p:txBody>
      </p:sp>
      <p:sp>
        <p:nvSpPr>
          <p:cNvPr id="99" name="Rectangle 98">
            <a:extLst>
              <a:ext uri="{FF2B5EF4-FFF2-40B4-BE49-F238E27FC236}">
                <a16:creationId xmlns:a16="http://schemas.microsoft.com/office/drawing/2014/main" id="{A2A653DA-A072-45A1-A47C-239573A33E97}"/>
              </a:ext>
            </a:extLst>
          </p:cNvPr>
          <p:cNvSpPr/>
          <p:nvPr/>
        </p:nvSpPr>
        <p:spPr>
          <a:xfrm rot="2702028">
            <a:off x="7771431" y="3974882"/>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00" name="Rectangle 99">
            <a:extLst>
              <a:ext uri="{FF2B5EF4-FFF2-40B4-BE49-F238E27FC236}">
                <a16:creationId xmlns:a16="http://schemas.microsoft.com/office/drawing/2014/main" id="{2C703A86-0799-414F-B4C5-A2802D8D7837}"/>
              </a:ext>
            </a:extLst>
          </p:cNvPr>
          <p:cNvSpPr/>
          <p:nvPr/>
        </p:nvSpPr>
        <p:spPr>
          <a:xfrm rot="2702028">
            <a:off x="9737017" y="3977563"/>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03" name="Rectangle 102">
            <a:extLst>
              <a:ext uri="{FF2B5EF4-FFF2-40B4-BE49-F238E27FC236}">
                <a16:creationId xmlns:a16="http://schemas.microsoft.com/office/drawing/2014/main" id="{D0D3DF87-3F89-409C-A262-3507AFA5E5E3}"/>
              </a:ext>
            </a:extLst>
          </p:cNvPr>
          <p:cNvSpPr/>
          <p:nvPr/>
        </p:nvSpPr>
        <p:spPr>
          <a:xfrm rot="2702028">
            <a:off x="8918309" y="4684091"/>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06" name="Rectangle 105">
            <a:extLst>
              <a:ext uri="{FF2B5EF4-FFF2-40B4-BE49-F238E27FC236}">
                <a16:creationId xmlns:a16="http://schemas.microsoft.com/office/drawing/2014/main" id="{050DAF47-4683-421A-BF6E-5E5F83C44E04}"/>
              </a:ext>
            </a:extLst>
          </p:cNvPr>
          <p:cNvSpPr/>
          <p:nvPr/>
        </p:nvSpPr>
        <p:spPr>
          <a:xfrm rot="2702028">
            <a:off x="9056816" y="3113257"/>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326729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4960747" cy="1384995"/>
          </a:xfrm>
          <a:prstGeom prst="rect">
            <a:avLst/>
          </a:prstGeom>
        </p:spPr>
        <p:txBody>
          <a:bodyPr wrap="square">
            <a:spAutoFit/>
          </a:bodyPr>
          <a:lstStyle/>
          <a:p>
            <a:pPr algn="just"/>
            <a:r>
              <a:rPr lang="fr-FR" sz="2800" dirty="0">
                <a:latin typeface="Candara" panose="020E0502030303020204" pitchFamily="34" charset="0"/>
              </a:rPr>
              <a:t>Les autres associations </a:t>
            </a:r>
          </a:p>
          <a:p>
            <a:pPr algn="just"/>
            <a:endParaRPr lang="fr-FR" sz="2800" dirty="0">
              <a:latin typeface="Candara" panose="020E0502030303020204" pitchFamily="34" charset="0"/>
            </a:endParaRPr>
          </a:p>
          <a:p>
            <a:pPr algn="just"/>
            <a:r>
              <a:rPr lang="fr-FR" sz="2800" dirty="0">
                <a:latin typeface="Candara" panose="020E0502030303020204" pitchFamily="34" charset="0"/>
              </a:rPr>
              <a:t>Composition : agrégation forte.</a:t>
            </a:r>
          </a:p>
        </p:txBody>
      </p:sp>
      <p:sp>
        <p:nvSpPr>
          <p:cNvPr id="81" name="Rectangle 80">
            <a:extLst>
              <a:ext uri="{FF2B5EF4-FFF2-40B4-BE49-F238E27FC236}">
                <a16:creationId xmlns:a16="http://schemas.microsoft.com/office/drawing/2014/main" id="{BAD3EC74-D152-44C6-B4B8-02D3E104168B}"/>
              </a:ext>
            </a:extLst>
          </p:cNvPr>
          <p:cNvSpPr/>
          <p:nvPr/>
        </p:nvSpPr>
        <p:spPr>
          <a:xfrm>
            <a:off x="1665106" y="4354932"/>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2" name="Connecteur droit 81">
            <a:extLst>
              <a:ext uri="{FF2B5EF4-FFF2-40B4-BE49-F238E27FC236}">
                <a16:creationId xmlns:a16="http://schemas.microsoft.com/office/drawing/2014/main" id="{1CCD86AE-1D32-460E-8BB7-A1F4D20804AE}"/>
              </a:ext>
            </a:extLst>
          </p:cNvPr>
          <p:cNvCxnSpPr>
            <a:cxnSpLocks/>
          </p:cNvCxnSpPr>
          <p:nvPr/>
        </p:nvCxnSpPr>
        <p:spPr>
          <a:xfrm>
            <a:off x="1665105" y="4748539"/>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8009D624-3F0D-4418-8825-FC2121029353}"/>
              </a:ext>
            </a:extLst>
          </p:cNvPr>
          <p:cNvCxnSpPr>
            <a:cxnSpLocks/>
          </p:cNvCxnSpPr>
          <p:nvPr/>
        </p:nvCxnSpPr>
        <p:spPr>
          <a:xfrm>
            <a:off x="1665105" y="5401399"/>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ZoneTexte 83">
            <a:extLst>
              <a:ext uri="{FF2B5EF4-FFF2-40B4-BE49-F238E27FC236}">
                <a16:creationId xmlns:a16="http://schemas.microsoft.com/office/drawing/2014/main" id="{D4E33D0C-8ED0-4DFB-BE28-B98C32654108}"/>
              </a:ext>
            </a:extLst>
          </p:cNvPr>
          <p:cNvSpPr txBox="1"/>
          <p:nvPr/>
        </p:nvSpPr>
        <p:spPr>
          <a:xfrm>
            <a:off x="1660322" y="4349390"/>
            <a:ext cx="1348072" cy="369332"/>
          </a:xfrm>
          <a:prstGeom prst="rect">
            <a:avLst/>
          </a:prstGeom>
          <a:noFill/>
        </p:spPr>
        <p:txBody>
          <a:bodyPr wrap="square">
            <a:spAutoFit/>
          </a:bodyPr>
          <a:lstStyle/>
          <a:p>
            <a:r>
              <a:rPr lang="fr-FR" dirty="0">
                <a:latin typeface="Candara" panose="020E0502030303020204" pitchFamily="34" charset="0"/>
              </a:rPr>
              <a:t>Couverture</a:t>
            </a:r>
            <a:endParaRPr lang="fr-FR" dirty="0"/>
          </a:p>
        </p:txBody>
      </p:sp>
      <p:sp>
        <p:nvSpPr>
          <p:cNvPr id="85" name="Rectangle 84">
            <a:extLst>
              <a:ext uri="{FF2B5EF4-FFF2-40B4-BE49-F238E27FC236}">
                <a16:creationId xmlns:a16="http://schemas.microsoft.com/office/drawing/2014/main" id="{DF236F71-6916-4111-AE4C-EE101BDC7944}"/>
              </a:ext>
            </a:extLst>
          </p:cNvPr>
          <p:cNvSpPr/>
          <p:nvPr/>
        </p:nvSpPr>
        <p:spPr>
          <a:xfrm>
            <a:off x="7776210" y="4342628"/>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6" name="Connecteur droit 85">
            <a:extLst>
              <a:ext uri="{FF2B5EF4-FFF2-40B4-BE49-F238E27FC236}">
                <a16:creationId xmlns:a16="http://schemas.microsoft.com/office/drawing/2014/main" id="{4F83D0D1-B9A6-43B7-97DC-80E8F3DA0A8C}"/>
              </a:ext>
            </a:extLst>
          </p:cNvPr>
          <p:cNvCxnSpPr>
            <a:cxnSpLocks/>
          </p:cNvCxnSpPr>
          <p:nvPr/>
        </p:nvCxnSpPr>
        <p:spPr>
          <a:xfrm>
            <a:off x="7776209" y="4736235"/>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C9E2B0FE-DA81-4D07-8170-59D2CA72B35D}"/>
              </a:ext>
            </a:extLst>
          </p:cNvPr>
          <p:cNvCxnSpPr>
            <a:cxnSpLocks/>
          </p:cNvCxnSpPr>
          <p:nvPr/>
        </p:nvCxnSpPr>
        <p:spPr>
          <a:xfrm>
            <a:off x="7776209" y="5389095"/>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ZoneTexte 87">
            <a:extLst>
              <a:ext uri="{FF2B5EF4-FFF2-40B4-BE49-F238E27FC236}">
                <a16:creationId xmlns:a16="http://schemas.microsoft.com/office/drawing/2014/main" id="{80D4AA20-6731-4C59-8EC8-02C0C808125C}"/>
              </a:ext>
            </a:extLst>
          </p:cNvPr>
          <p:cNvSpPr txBox="1"/>
          <p:nvPr/>
        </p:nvSpPr>
        <p:spPr>
          <a:xfrm>
            <a:off x="7862012" y="4337086"/>
            <a:ext cx="1372322" cy="369332"/>
          </a:xfrm>
          <a:prstGeom prst="rect">
            <a:avLst/>
          </a:prstGeom>
          <a:noFill/>
        </p:spPr>
        <p:txBody>
          <a:bodyPr wrap="square">
            <a:spAutoFit/>
          </a:bodyPr>
          <a:lstStyle/>
          <a:p>
            <a:r>
              <a:rPr lang="fr-FR" sz="1800" dirty="0">
                <a:latin typeface="Candara" panose="020E0502030303020204" pitchFamily="34" charset="0"/>
              </a:rPr>
              <a:t>Page</a:t>
            </a:r>
            <a:endParaRPr lang="fr-FR" dirty="0"/>
          </a:p>
        </p:txBody>
      </p:sp>
      <p:cxnSp>
        <p:nvCxnSpPr>
          <p:cNvPr id="89" name="Connecteur droit 88">
            <a:extLst>
              <a:ext uri="{FF2B5EF4-FFF2-40B4-BE49-F238E27FC236}">
                <a16:creationId xmlns:a16="http://schemas.microsoft.com/office/drawing/2014/main" id="{A0565CBF-9D96-4683-A552-54A3E9492691}"/>
              </a:ext>
            </a:extLst>
          </p:cNvPr>
          <p:cNvCxnSpPr>
            <a:cxnSpLocks/>
            <a:endCxn id="81" idx="3"/>
          </p:cNvCxnSpPr>
          <p:nvPr/>
        </p:nvCxnSpPr>
        <p:spPr>
          <a:xfrm flipH="1">
            <a:off x="3123231" y="5041318"/>
            <a:ext cx="116548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D6DF3A62-ADDF-499D-A0A4-07661494F311}"/>
              </a:ext>
            </a:extLst>
          </p:cNvPr>
          <p:cNvCxnSpPr>
            <a:cxnSpLocks/>
            <a:stCxn id="85" idx="1"/>
          </p:cNvCxnSpPr>
          <p:nvPr/>
        </p:nvCxnSpPr>
        <p:spPr>
          <a:xfrm flipH="1">
            <a:off x="6523714" y="5029014"/>
            <a:ext cx="1252496"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4FEEBFC8-922E-4BB1-A682-C2CC60C5B174}"/>
              </a:ext>
            </a:extLst>
          </p:cNvPr>
          <p:cNvSpPr/>
          <p:nvPr/>
        </p:nvSpPr>
        <p:spPr>
          <a:xfrm>
            <a:off x="4663240" y="4459066"/>
            <a:ext cx="1458125" cy="1124748"/>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96" name="Connecteur droit 95">
            <a:extLst>
              <a:ext uri="{FF2B5EF4-FFF2-40B4-BE49-F238E27FC236}">
                <a16:creationId xmlns:a16="http://schemas.microsoft.com/office/drawing/2014/main" id="{F3CD57AC-BA9A-4895-A9AF-4C407F175B6F}"/>
              </a:ext>
            </a:extLst>
          </p:cNvPr>
          <p:cNvCxnSpPr>
            <a:cxnSpLocks/>
          </p:cNvCxnSpPr>
          <p:nvPr/>
        </p:nvCxnSpPr>
        <p:spPr>
          <a:xfrm>
            <a:off x="4663239" y="485267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B85471C5-E02B-4931-85D1-DE2C2EF6E1F2}"/>
              </a:ext>
            </a:extLst>
          </p:cNvPr>
          <p:cNvCxnSpPr>
            <a:cxnSpLocks/>
          </p:cNvCxnSpPr>
          <p:nvPr/>
        </p:nvCxnSpPr>
        <p:spPr>
          <a:xfrm>
            <a:off x="4663239" y="5356448"/>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ZoneTexte 97">
            <a:extLst>
              <a:ext uri="{FF2B5EF4-FFF2-40B4-BE49-F238E27FC236}">
                <a16:creationId xmlns:a16="http://schemas.microsoft.com/office/drawing/2014/main" id="{7FA4C14C-32EC-4329-AADD-02B803568320}"/>
              </a:ext>
            </a:extLst>
          </p:cNvPr>
          <p:cNvSpPr txBox="1"/>
          <p:nvPr/>
        </p:nvSpPr>
        <p:spPr>
          <a:xfrm>
            <a:off x="4922044" y="4453524"/>
            <a:ext cx="911086" cy="369332"/>
          </a:xfrm>
          <a:prstGeom prst="rect">
            <a:avLst/>
          </a:prstGeom>
          <a:noFill/>
        </p:spPr>
        <p:txBody>
          <a:bodyPr wrap="square">
            <a:spAutoFit/>
          </a:bodyPr>
          <a:lstStyle/>
          <a:p>
            <a:r>
              <a:rPr lang="fr-FR" sz="1800" dirty="0">
                <a:latin typeface="Candara" panose="020E0502030303020204" pitchFamily="34" charset="0"/>
              </a:rPr>
              <a:t>Livre</a:t>
            </a:r>
            <a:endParaRPr lang="fr-FR" dirty="0"/>
          </a:p>
        </p:txBody>
      </p:sp>
      <p:sp>
        <p:nvSpPr>
          <p:cNvPr id="99" name="Rectangle 98">
            <a:extLst>
              <a:ext uri="{FF2B5EF4-FFF2-40B4-BE49-F238E27FC236}">
                <a16:creationId xmlns:a16="http://schemas.microsoft.com/office/drawing/2014/main" id="{A2A653DA-A072-45A1-A47C-239573A33E97}"/>
              </a:ext>
            </a:extLst>
          </p:cNvPr>
          <p:cNvSpPr/>
          <p:nvPr/>
        </p:nvSpPr>
        <p:spPr>
          <a:xfrm rot="2702028">
            <a:off x="4342431" y="4911027"/>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00" name="Rectangle 99">
            <a:extLst>
              <a:ext uri="{FF2B5EF4-FFF2-40B4-BE49-F238E27FC236}">
                <a16:creationId xmlns:a16="http://schemas.microsoft.com/office/drawing/2014/main" id="{2C703A86-0799-414F-B4C5-A2802D8D7837}"/>
              </a:ext>
            </a:extLst>
          </p:cNvPr>
          <p:cNvSpPr/>
          <p:nvPr/>
        </p:nvSpPr>
        <p:spPr>
          <a:xfrm rot="2702028">
            <a:off x="6191384" y="4891150"/>
            <a:ext cx="262311" cy="260582"/>
          </a:xfrm>
          <a:prstGeom prst="rect">
            <a:avLst/>
          </a:prstGeom>
          <a:solidFill>
            <a:schemeClr val="tx1"/>
          </a:solidFill>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6" name="ZoneTexte 35">
            <a:extLst>
              <a:ext uri="{FF2B5EF4-FFF2-40B4-BE49-F238E27FC236}">
                <a16:creationId xmlns:a16="http://schemas.microsoft.com/office/drawing/2014/main" id="{867B0068-0827-4356-AFEB-46050E1027D6}"/>
              </a:ext>
            </a:extLst>
          </p:cNvPr>
          <p:cNvSpPr txBox="1"/>
          <p:nvPr/>
        </p:nvSpPr>
        <p:spPr>
          <a:xfrm>
            <a:off x="6322539" y="3189839"/>
            <a:ext cx="3057525" cy="646331"/>
          </a:xfrm>
          <a:prstGeom prst="rect">
            <a:avLst/>
          </a:prstGeom>
          <a:noFill/>
        </p:spPr>
        <p:txBody>
          <a:bodyPr wrap="square">
            <a:spAutoFit/>
          </a:bodyPr>
          <a:lstStyle/>
          <a:p>
            <a:r>
              <a:rPr lang="fr-FR" sz="1800" dirty="0">
                <a:latin typeface="Candara" panose="020E0502030303020204" pitchFamily="34" charset="0"/>
              </a:rPr>
              <a:t>Les pages sont physiquement contenues dans le livre</a:t>
            </a:r>
            <a:endParaRPr lang="fr-FR" dirty="0"/>
          </a:p>
        </p:txBody>
      </p:sp>
      <p:sp>
        <p:nvSpPr>
          <p:cNvPr id="37" name="ZoneTexte 36">
            <a:extLst>
              <a:ext uri="{FF2B5EF4-FFF2-40B4-BE49-F238E27FC236}">
                <a16:creationId xmlns:a16="http://schemas.microsoft.com/office/drawing/2014/main" id="{FB63774D-B030-4FB8-A82D-092C4931CB44}"/>
              </a:ext>
            </a:extLst>
          </p:cNvPr>
          <p:cNvSpPr txBox="1"/>
          <p:nvPr/>
        </p:nvSpPr>
        <p:spPr>
          <a:xfrm>
            <a:off x="6364270" y="4551569"/>
            <a:ext cx="280842"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
        <p:nvSpPr>
          <p:cNvPr id="38" name="ZoneTexte 37">
            <a:extLst>
              <a:ext uri="{FF2B5EF4-FFF2-40B4-BE49-F238E27FC236}">
                <a16:creationId xmlns:a16="http://schemas.microsoft.com/office/drawing/2014/main" id="{2075B0D7-08F4-4FFB-8033-C887247B037E}"/>
              </a:ext>
            </a:extLst>
          </p:cNvPr>
          <p:cNvSpPr txBox="1"/>
          <p:nvPr/>
        </p:nvSpPr>
        <p:spPr>
          <a:xfrm>
            <a:off x="7224177" y="4551569"/>
            <a:ext cx="612527"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cxnSp>
        <p:nvCxnSpPr>
          <p:cNvPr id="9" name="Connecteur droit 8">
            <a:extLst>
              <a:ext uri="{FF2B5EF4-FFF2-40B4-BE49-F238E27FC236}">
                <a16:creationId xmlns:a16="http://schemas.microsoft.com/office/drawing/2014/main" id="{8FAFEF04-BBF1-487B-B8D7-2FE422B9D43C}"/>
              </a:ext>
            </a:extLst>
          </p:cNvPr>
          <p:cNvCxnSpPr/>
          <p:nvPr/>
        </p:nvCxnSpPr>
        <p:spPr>
          <a:xfrm flipH="1">
            <a:off x="6871713" y="3841712"/>
            <a:ext cx="213913" cy="1109488"/>
          </a:xfrm>
          <a:prstGeom prst="line">
            <a:avLst/>
          </a:prstGeom>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9DDCDCD5-B504-4876-BC81-25ACBE1D4275}"/>
              </a:ext>
            </a:extLst>
          </p:cNvPr>
          <p:cNvSpPr txBox="1"/>
          <p:nvPr/>
        </p:nvSpPr>
        <p:spPr>
          <a:xfrm>
            <a:off x="3008394" y="6090924"/>
            <a:ext cx="3057525" cy="646331"/>
          </a:xfrm>
          <a:prstGeom prst="rect">
            <a:avLst/>
          </a:prstGeom>
          <a:noFill/>
        </p:spPr>
        <p:txBody>
          <a:bodyPr wrap="square">
            <a:spAutoFit/>
          </a:bodyPr>
          <a:lstStyle/>
          <a:p>
            <a:r>
              <a:rPr lang="fr-FR" sz="1800" dirty="0">
                <a:latin typeface="Candara" panose="020E0502030303020204" pitchFamily="34" charset="0"/>
              </a:rPr>
              <a:t>Les pages sont physiquement contenues dans le livre</a:t>
            </a:r>
            <a:endParaRPr lang="fr-FR" dirty="0"/>
          </a:p>
        </p:txBody>
      </p:sp>
      <p:cxnSp>
        <p:nvCxnSpPr>
          <p:cNvPr id="11" name="Connecteur droit 10">
            <a:extLst>
              <a:ext uri="{FF2B5EF4-FFF2-40B4-BE49-F238E27FC236}">
                <a16:creationId xmlns:a16="http://schemas.microsoft.com/office/drawing/2014/main" id="{6FACA822-3256-4823-ACBC-B000B7F73886}"/>
              </a:ext>
            </a:extLst>
          </p:cNvPr>
          <p:cNvCxnSpPr/>
          <p:nvPr/>
        </p:nvCxnSpPr>
        <p:spPr>
          <a:xfrm>
            <a:off x="3705973" y="5206312"/>
            <a:ext cx="239862" cy="884612"/>
          </a:xfrm>
          <a:prstGeom prst="line">
            <a:avLst/>
          </a:prstGeom>
        </p:spPr>
        <p:style>
          <a:lnRef idx="1">
            <a:schemeClr val="accent1"/>
          </a:lnRef>
          <a:fillRef idx="0">
            <a:schemeClr val="accent1"/>
          </a:fillRef>
          <a:effectRef idx="0">
            <a:schemeClr val="accent1"/>
          </a:effectRef>
          <a:fontRef idx="minor">
            <a:schemeClr val="tx1"/>
          </a:fontRef>
        </p:style>
      </p:cxnSp>
      <p:sp>
        <p:nvSpPr>
          <p:cNvPr id="44" name="ZoneTexte 43">
            <a:extLst>
              <a:ext uri="{FF2B5EF4-FFF2-40B4-BE49-F238E27FC236}">
                <a16:creationId xmlns:a16="http://schemas.microsoft.com/office/drawing/2014/main" id="{810818CD-15BD-4788-9C5D-C9FD0FA41599}"/>
              </a:ext>
            </a:extLst>
          </p:cNvPr>
          <p:cNvSpPr txBox="1"/>
          <p:nvPr/>
        </p:nvSpPr>
        <p:spPr>
          <a:xfrm>
            <a:off x="3165110" y="4603097"/>
            <a:ext cx="280842"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
        <p:nvSpPr>
          <p:cNvPr id="45" name="ZoneTexte 44">
            <a:extLst>
              <a:ext uri="{FF2B5EF4-FFF2-40B4-BE49-F238E27FC236}">
                <a16:creationId xmlns:a16="http://schemas.microsoft.com/office/drawing/2014/main" id="{B92E4277-EFE2-4642-AC8B-A82831AC2D32}"/>
              </a:ext>
            </a:extLst>
          </p:cNvPr>
          <p:cNvSpPr txBox="1"/>
          <p:nvPr/>
        </p:nvSpPr>
        <p:spPr>
          <a:xfrm>
            <a:off x="4102798" y="4603097"/>
            <a:ext cx="280842"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Tree>
    <p:extLst>
      <p:ext uri="{BB962C8B-B14F-4D97-AF65-F5344CB8AC3E}">
        <p14:creationId xmlns:p14="http://schemas.microsoft.com/office/powerpoint/2010/main" val="18360671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composants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1384995"/>
          </a:xfrm>
          <a:prstGeom prst="rect">
            <a:avLst/>
          </a:prstGeom>
        </p:spPr>
        <p:txBody>
          <a:bodyPr wrap="square">
            <a:spAutoFit/>
          </a:bodyPr>
          <a:lstStyle/>
          <a:p>
            <a:pPr algn="just"/>
            <a:r>
              <a:rPr lang="fr-FR" sz="2800" dirty="0">
                <a:latin typeface="Candara" panose="020E0502030303020204" pitchFamily="34" charset="0"/>
              </a:rPr>
              <a:t>Les autres associations </a:t>
            </a:r>
          </a:p>
          <a:p>
            <a:pPr algn="just"/>
            <a:endParaRPr lang="fr-FR" sz="2800" dirty="0">
              <a:latin typeface="Candara" panose="020E0502030303020204" pitchFamily="34" charset="0"/>
            </a:endParaRPr>
          </a:p>
          <a:p>
            <a:pPr algn="just"/>
            <a:r>
              <a:rPr lang="fr-FR" sz="2800" dirty="0">
                <a:latin typeface="Candara" panose="020E0502030303020204" pitchFamily="34" charset="0"/>
              </a:rPr>
              <a:t>Réflexive : connecte une classe à elle-même</a:t>
            </a:r>
          </a:p>
        </p:txBody>
      </p:sp>
      <p:sp>
        <p:nvSpPr>
          <p:cNvPr id="12" name="Rectangle 11">
            <a:extLst>
              <a:ext uri="{FF2B5EF4-FFF2-40B4-BE49-F238E27FC236}">
                <a16:creationId xmlns:a16="http://schemas.microsoft.com/office/drawing/2014/main" id="{204CE362-F861-4AA0-991D-7738F73DFD10}"/>
              </a:ext>
            </a:extLst>
          </p:cNvPr>
          <p:cNvSpPr/>
          <p:nvPr/>
        </p:nvSpPr>
        <p:spPr>
          <a:xfrm>
            <a:off x="4892980" y="4420277"/>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C90A0BFA-BAF3-4114-8331-24A708D9744B}"/>
              </a:ext>
            </a:extLst>
          </p:cNvPr>
          <p:cNvCxnSpPr>
            <a:cxnSpLocks/>
          </p:cNvCxnSpPr>
          <p:nvPr/>
        </p:nvCxnSpPr>
        <p:spPr>
          <a:xfrm>
            <a:off x="4892980" y="5032290"/>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6437767D-31D4-4425-A8B8-DA2C904B1367}"/>
              </a:ext>
            </a:extLst>
          </p:cNvPr>
          <p:cNvCxnSpPr>
            <a:cxnSpLocks/>
          </p:cNvCxnSpPr>
          <p:nvPr/>
        </p:nvCxnSpPr>
        <p:spPr>
          <a:xfrm>
            <a:off x="4892980" y="5973640"/>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FF9ED2C2-F927-4101-ADD2-C5E52BFFFC61}"/>
              </a:ext>
            </a:extLst>
          </p:cNvPr>
          <p:cNvSpPr txBox="1"/>
          <p:nvPr/>
        </p:nvSpPr>
        <p:spPr>
          <a:xfrm>
            <a:off x="5151784" y="4543943"/>
            <a:ext cx="911086" cy="369332"/>
          </a:xfrm>
          <a:prstGeom prst="rect">
            <a:avLst/>
          </a:prstGeom>
          <a:noFill/>
        </p:spPr>
        <p:txBody>
          <a:bodyPr wrap="square">
            <a:spAutoFit/>
          </a:bodyPr>
          <a:lstStyle/>
          <a:p>
            <a:r>
              <a:rPr lang="fr-FR" sz="1800" dirty="0">
                <a:latin typeface="Candara" panose="020E0502030303020204" pitchFamily="34" charset="0"/>
              </a:rPr>
              <a:t>Client</a:t>
            </a:r>
            <a:endParaRPr lang="fr-FR" dirty="0"/>
          </a:p>
        </p:txBody>
      </p:sp>
      <p:sp>
        <p:nvSpPr>
          <p:cNvPr id="16" name="ZoneTexte 15">
            <a:extLst>
              <a:ext uri="{FF2B5EF4-FFF2-40B4-BE49-F238E27FC236}">
                <a16:creationId xmlns:a16="http://schemas.microsoft.com/office/drawing/2014/main" id="{E333983A-443A-44ED-BF62-8F3E48DFD366}"/>
              </a:ext>
            </a:extLst>
          </p:cNvPr>
          <p:cNvSpPr txBox="1"/>
          <p:nvPr/>
        </p:nvSpPr>
        <p:spPr>
          <a:xfrm>
            <a:off x="5151783" y="5189383"/>
            <a:ext cx="1060174" cy="646331"/>
          </a:xfrm>
          <a:prstGeom prst="rect">
            <a:avLst/>
          </a:prstGeom>
          <a:noFill/>
        </p:spPr>
        <p:txBody>
          <a:bodyPr wrap="square">
            <a:spAutoFit/>
          </a:bodyPr>
          <a:lstStyle/>
          <a:p>
            <a:r>
              <a:rPr lang="fr-FR" sz="1800" dirty="0">
                <a:latin typeface="Candara" panose="020E0502030303020204" pitchFamily="34" charset="0"/>
              </a:rPr>
              <a:t>Nom</a:t>
            </a:r>
          </a:p>
          <a:p>
            <a:r>
              <a:rPr lang="fr-FR" dirty="0">
                <a:latin typeface="Candara" panose="020E0502030303020204" pitchFamily="34" charset="0"/>
              </a:rPr>
              <a:t>Mail</a:t>
            </a:r>
          </a:p>
        </p:txBody>
      </p:sp>
      <p:cxnSp>
        <p:nvCxnSpPr>
          <p:cNvPr id="36" name="Connecteur droit 35">
            <a:extLst>
              <a:ext uri="{FF2B5EF4-FFF2-40B4-BE49-F238E27FC236}">
                <a16:creationId xmlns:a16="http://schemas.microsoft.com/office/drawing/2014/main" id="{A8B00602-BE6F-4D85-87F9-35878ADB23C3}"/>
              </a:ext>
            </a:extLst>
          </p:cNvPr>
          <p:cNvCxnSpPr>
            <a:stCxn id="12" idx="0"/>
          </p:cNvCxnSpPr>
          <p:nvPr/>
        </p:nvCxnSpPr>
        <p:spPr>
          <a:xfrm flipH="1" flipV="1">
            <a:off x="5622042" y="3995530"/>
            <a:ext cx="1" cy="42474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8CB7C474-0464-40FB-8602-9C1173E38D83}"/>
              </a:ext>
            </a:extLst>
          </p:cNvPr>
          <p:cNvCxnSpPr>
            <a:cxnSpLocks/>
          </p:cNvCxnSpPr>
          <p:nvPr/>
        </p:nvCxnSpPr>
        <p:spPr>
          <a:xfrm>
            <a:off x="5612103" y="4005470"/>
            <a:ext cx="256780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A225E2FF-D53C-4EED-97EF-B29677787381}"/>
              </a:ext>
            </a:extLst>
          </p:cNvPr>
          <p:cNvCxnSpPr>
            <a:cxnSpLocks/>
          </p:cNvCxnSpPr>
          <p:nvPr/>
        </p:nvCxnSpPr>
        <p:spPr>
          <a:xfrm>
            <a:off x="8179904" y="3985594"/>
            <a:ext cx="0" cy="161287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78FB5E46-E1BF-4621-98C5-466C0ADD3C87}"/>
              </a:ext>
            </a:extLst>
          </p:cNvPr>
          <p:cNvCxnSpPr>
            <a:cxnSpLocks/>
          </p:cNvCxnSpPr>
          <p:nvPr/>
        </p:nvCxnSpPr>
        <p:spPr>
          <a:xfrm flipH="1" flipV="1">
            <a:off x="6351106" y="5558716"/>
            <a:ext cx="1828798" cy="1987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ZoneTexte 49">
            <a:extLst>
              <a:ext uri="{FF2B5EF4-FFF2-40B4-BE49-F238E27FC236}">
                <a16:creationId xmlns:a16="http://schemas.microsoft.com/office/drawing/2014/main" id="{B950D26B-A13E-427D-A9B8-719AC954131E}"/>
              </a:ext>
            </a:extLst>
          </p:cNvPr>
          <p:cNvSpPr txBox="1"/>
          <p:nvPr/>
        </p:nvSpPr>
        <p:spPr>
          <a:xfrm>
            <a:off x="4971126" y="3989112"/>
            <a:ext cx="612527"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52" name="ZoneTexte 51">
            <a:extLst>
              <a:ext uri="{FF2B5EF4-FFF2-40B4-BE49-F238E27FC236}">
                <a16:creationId xmlns:a16="http://schemas.microsoft.com/office/drawing/2014/main" id="{C92303C8-3766-4660-9EB7-B516903277FD}"/>
              </a:ext>
            </a:extLst>
          </p:cNvPr>
          <p:cNvSpPr txBox="1"/>
          <p:nvPr/>
        </p:nvSpPr>
        <p:spPr>
          <a:xfrm>
            <a:off x="6470760" y="5637173"/>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53" name="ZoneTexte 52">
            <a:extLst>
              <a:ext uri="{FF2B5EF4-FFF2-40B4-BE49-F238E27FC236}">
                <a16:creationId xmlns:a16="http://schemas.microsoft.com/office/drawing/2014/main" id="{E196BEF3-CD48-49DE-93EC-9F61F906B851}"/>
              </a:ext>
            </a:extLst>
          </p:cNvPr>
          <p:cNvSpPr txBox="1"/>
          <p:nvPr/>
        </p:nvSpPr>
        <p:spPr>
          <a:xfrm>
            <a:off x="6777023" y="4620165"/>
            <a:ext cx="1458125" cy="369332"/>
          </a:xfrm>
          <a:prstGeom prst="rect">
            <a:avLst/>
          </a:prstGeom>
          <a:noFill/>
        </p:spPr>
        <p:txBody>
          <a:bodyPr wrap="square">
            <a:spAutoFit/>
          </a:bodyPr>
          <a:lstStyle/>
          <a:p>
            <a:pPr algn="ctr"/>
            <a:r>
              <a:rPr lang="fr-FR" sz="1800" dirty="0">
                <a:latin typeface="Candara" panose="020E0502030303020204" pitchFamily="34" charset="0"/>
              </a:rPr>
              <a:t>Parrainage</a:t>
            </a:r>
            <a:endParaRPr lang="fr-FR" dirty="0"/>
          </a:p>
        </p:txBody>
      </p:sp>
    </p:spTree>
    <p:extLst>
      <p:ext uri="{BB962C8B-B14F-4D97-AF65-F5344CB8AC3E}">
        <p14:creationId xmlns:p14="http://schemas.microsoft.com/office/powerpoint/2010/main" val="25489725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Connaitre l’héritage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1135559" cy="954107"/>
          </a:xfrm>
          <a:prstGeom prst="rect">
            <a:avLst/>
          </a:prstGeom>
        </p:spPr>
        <p:txBody>
          <a:bodyPr wrap="square">
            <a:spAutoFit/>
          </a:bodyPr>
          <a:lstStyle/>
          <a:p>
            <a:pPr algn="just"/>
            <a:r>
              <a:rPr lang="fr-FR" sz="2800" b="1" dirty="0">
                <a:latin typeface="Candara" panose="020E0502030303020204" pitchFamily="34" charset="0"/>
              </a:rPr>
              <a:t>Héritage</a:t>
            </a:r>
            <a:r>
              <a:rPr lang="fr-FR" sz="2800" dirty="0">
                <a:latin typeface="Candara" panose="020E0502030303020204" pitchFamily="34" charset="0"/>
              </a:rPr>
              <a:t> : c’est un mécanisme qui permet, lors de la création d’une nouvelle entité, d’y inclure les caractéristiques d’une autre entité.</a:t>
            </a:r>
          </a:p>
        </p:txBody>
      </p:sp>
      <p:pic>
        <p:nvPicPr>
          <p:cNvPr id="18" name="Image 17">
            <a:extLst>
              <a:ext uri="{FF2B5EF4-FFF2-40B4-BE49-F238E27FC236}">
                <a16:creationId xmlns:a16="http://schemas.microsoft.com/office/drawing/2014/main" id="{C07B010E-28E2-4CB0-A0F9-B489D4874552}"/>
              </a:ext>
            </a:extLst>
          </p:cNvPr>
          <p:cNvPicPr>
            <a:picLocks noChangeAspect="1"/>
          </p:cNvPicPr>
          <p:nvPr/>
        </p:nvPicPr>
        <p:blipFill>
          <a:blip r:embed="rId2"/>
          <a:stretch>
            <a:fillRect/>
          </a:stretch>
        </p:blipFill>
        <p:spPr>
          <a:xfrm>
            <a:off x="5267681" y="3136835"/>
            <a:ext cx="1471049" cy="1811591"/>
          </a:xfrm>
          <a:prstGeom prst="rect">
            <a:avLst/>
          </a:prstGeom>
        </p:spPr>
      </p:pic>
      <p:pic>
        <p:nvPicPr>
          <p:cNvPr id="19" name="Image 18">
            <a:extLst>
              <a:ext uri="{FF2B5EF4-FFF2-40B4-BE49-F238E27FC236}">
                <a16:creationId xmlns:a16="http://schemas.microsoft.com/office/drawing/2014/main" id="{D23AEFFD-86D0-43E4-8D78-382E8DE8FCDD}"/>
              </a:ext>
            </a:extLst>
          </p:cNvPr>
          <p:cNvPicPr>
            <a:picLocks noChangeAspect="1"/>
          </p:cNvPicPr>
          <p:nvPr/>
        </p:nvPicPr>
        <p:blipFill>
          <a:blip r:embed="rId2"/>
          <a:stretch>
            <a:fillRect/>
          </a:stretch>
        </p:blipFill>
        <p:spPr>
          <a:xfrm>
            <a:off x="3392498" y="5313043"/>
            <a:ext cx="1119867" cy="1379112"/>
          </a:xfrm>
          <a:prstGeom prst="rect">
            <a:avLst/>
          </a:prstGeom>
        </p:spPr>
      </p:pic>
      <p:pic>
        <p:nvPicPr>
          <p:cNvPr id="20" name="Image 19">
            <a:extLst>
              <a:ext uri="{FF2B5EF4-FFF2-40B4-BE49-F238E27FC236}">
                <a16:creationId xmlns:a16="http://schemas.microsoft.com/office/drawing/2014/main" id="{5F58DFC2-978B-47EF-B623-B2F08828FFA5}"/>
              </a:ext>
            </a:extLst>
          </p:cNvPr>
          <p:cNvPicPr>
            <a:picLocks noChangeAspect="1"/>
          </p:cNvPicPr>
          <p:nvPr/>
        </p:nvPicPr>
        <p:blipFill>
          <a:blip r:embed="rId2"/>
          <a:stretch>
            <a:fillRect/>
          </a:stretch>
        </p:blipFill>
        <p:spPr>
          <a:xfrm>
            <a:off x="7679637" y="5313043"/>
            <a:ext cx="1119867" cy="1379112"/>
          </a:xfrm>
          <a:prstGeom prst="rect">
            <a:avLst/>
          </a:prstGeom>
        </p:spPr>
      </p:pic>
      <p:pic>
        <p:nvPicPr>
          <p:cNvPr id="8" name="Image 7">
            <a:extLst>
              <a:ext uri="{FF2B5EF4-FFF2-40B4-BE49-F238E27FC236}">
                <a16:creationId xmlns:a16="http://schemas.microsoft.com/office/drawing/2014/main" id="{AEAEF299-96FC-46B3-859A-3E81ABED2F10}"/>
              </a:ext>
            </a:extLst>
          </p:cNvPr>
          <p:cNvPicPr>
            <a:picLocks noChangeAspect="1"/>
          </p:cNvPicPr>
          <p:nvPr/>
        </p:nvPicPr>
        <p:blipFill>
          <a:blip r:embed="rId3"/>
          <a:stretch>
            <a:fillRect/>
          </a:stretch>
        </p:blipFill>
        <p:spPr>
          <a:xfrm rot="18885000">
            <a:off x="4269559" y="5355335"/>
            <a:ext cx="1585965" cy="326731"/>
          </a:xfrm>
          <a:prstGeom prst="rect">
            <a:avLst/>
          </a:prstGeom>
        </p:spPr>
      </p:pic>
      <p:pic>
        <p:nvPicPr>
          <p:cNvPr id="24" name="Image 23">
            <a:extLst>
              <a:ext uri="{FF2B5EF4-FFF2-40B4-BE49-F238E27FC236}">
                <a16:creationId xmlns:a16="http://schemas.microsoft.com/office/drawing/2014/main" id="{AC23445E-6B7D-4206-A1AF-3568062AF56F}"/>
              </a:ext>
            </a:extLst>
          </p:cNvPr>
          <p:cNvPicPr>
            <a:picLocks noChangeAspect="1"/>
          </p:cNvPicPr>
          <p:nvPr/>
        </p:nvPicPr>
        <p:blipFill>
          <a:blip r:embed="rId3"/>
          <a:stretch>
            <a:fillRect/>
          </a:stretch>
        </p:blipFill>
        <p:spPr>
          <a:xfrm rot="13396387">
            <a:off x="5868144" y="5519810"/>
            <a:ext cx="2111549" cy="326731"/>
          </a:xfrm>
          <a:prstGeom prst="rect">
            <a:avLst/>
          </a:prstGeom>
        </p:spPr>
      </p:pic>
    </p:spTree>
    <p:extLst>
      <p:ext uri="{BB962C8B-B14F-4D97-AF65-F5344CB8AC3E}">
        <p14:creationId xmlns:p14="http://schemas.microsoft.com/office/powerpoint/2010/main" val="4673752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Notion d’identifiant</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4" y="1971819"/>
            <a:ext cx="6569476" cy="4524315"/>
          </a:xfrm>
          <a:prstGeom prst="rect">
            <a:avLst/>
          </a:prstGeom>
        </p:spPr>
        <p:txBody>
          <a:bodyPr wrap="square">
            <a:spAutoFit/>
          </a:bodyPr>
          <a:lstStyle/>
          <a:p>
            <a:pPr algn="just"/>
            <a:r>
              <a:rPr lang="fr-FR" sz="2800" dirty="0">
                <a:latin typeface="Candara" panose="020E0502030303020204" pitchFamily="34" charset="0"/>
              </a:rPr>
              <a:t>Elément qui permet de définir de manière unique une classe</a:t>
            </a:r>
          </a:p>
          <a:p>
            <a:pPr algn="just"/>
            <a:endParaRPr lang="fr-FR" sz="2800" dirty="0">
              <a:latin typeface="Candara" panose="020E0502030303020204" pitchFamily="34" charset="0"/>
            </a:endParaRPr>
          </a:p>
          <a:p>
            <a:pPr algn="just"/>
            <a:r>
              <a:rPr lang="fr-FR" sz="2800" dirty="0">
                <a:latin typeface="Candara" panose="020E0502030303020204" pitchFamily="34" charset="0"/>
              </a:rPr>
              <a:t>Attribut stable (dans le temps) et minimal (en taille)</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400" dirty="0">
                <a:latin typeface="Candara" panose="020E0502030303020204" pitchFamily="34" charset="0"/>
              </a:rPr>
              <a:t>Identifiant naturel (clé métier) =&gt; peut évoluer dans le temps (immatriculation)</a:t>
            </a:r>
          </a:p>
          <a:p>
            <a:pPr marL="457200" indent="-457200" algn="just">
              <a:buFont typeface="Wingdings" panose="05000000000000000000" pitchFamily="2" charset="2"/>
              <a:buChar char="ü"/>
            </a:pPr>
            <a:r>
              <a:rPr lang="fr-FR" sz="2400" dirty="0">
                <a:latin typeface="Candara" panose="020E0502030303020204" pitchFamily="34" charset="0"/>
              </a:rPr>
              <a:t>Identifiant artificiel (clé technique) =&gt; stable et minimal (séquence ou auto-incrément) </a:t>
            </a:r>
          </a:p>
          <a:p>
            <a:pPr marL="457200" indent="-457200" algn="just">
              <a:buFont typeface="Wingdings" panose="05000000000000000000" pitchFamily="2" charset="2"/>
              <a:buChar char="ü"/>
            </a:pPr>
            <a:r>
              <a:rPr lang="fr-FR" sz="2400" dirty="0">
                <a:latin typeface="Candara" panose="020E0502030303020204" pitchFamily="34" charset="0"/>
              </a:rPr>
              <a:t>Les deux sont souvent nécessaire</a:t>
            </a:r>
          </a:p>
        </p:txBody>
      </p:sp>
      <p:pic>
        <p:nvPicPr>
          <p:cNvPr id="5" name="Image 4">
            <a:extLst>
              <a:ext uri="{FF2B5EF4-FFF2-40B4-BE49-F238E27FC236}">
                <a16:creationId xmlns:a16="http://schemas.microsoft.com/office/drawing/2014/main" id="{BA80DAC2-B479-4366-B3A6-3740B0200922}"/>
              </a:ext>
            </a:extLst>
          </p:cNvPr>
          <p:cNvPicPr>
            <a:picLocks noChangeAspect="1"/>
          </p:cNvPicPr>
          <p:nvPr/>
        </p:nvPicPr>
        <p:blipFill>
          <a:blip r:embed="rId2"/>
          <a:stretch>
            <a:fillRect/>
          </a:stretch>
        </p:blipFill>
        <p:spPr>
          <a:xfrm>
            <a:off x="8573169" y="1974200"/>
            <a:ext cx="2420048" cy="1782794"/>
          </a:xfrm>
          <a:prstGeom prst="rect">
            <a:avLst/>
          </a:prstGeom>
        </p:spPr>
      </p:pic>
      <p:pic>
        <p:nvPicPr>
          <p:cNvPr id="8" name="Image 7">
            <a:extLst>
              <a:ext uri="{FF2B5EF4-FFF2-40B4-BE49-F238E27FC236}">
                <a16:creationId xmlns:a16="http://schemas.microsoft.com/office/drawing/2014/main" id="{7AB83709-AE58-413B-966A-C196E080319E}"/>
              </a:ext>
            </a:extLst>
          </p:cNvPr>
          <p:cNvPicPr>
            <a:picLocks noChangeAspect="1"/>
          </p:cNvPicPr>
          <p:nvPr/>
        </p:nvPicPr>
        <p:blipFill>
          <a:blip r:embed="rId3"/>
          <a:stretch>
            <a:fillRect/>
          </a:stretch>
        </p:blipFill>
        <p:spPr>
          <a:xfrm>
            <a:off x="7972148" y="4391580"/>
            <a:ext cx="3622090" cy="1811045"/>
          </a:xfrm>
          <a:prstGeom prst="rect">
            <a:avLst/>
          </a:prstGeom>
        </p:spPr>
      </p:pic>
    </p:spTree>
    <p:extLst>
      <p:ext uri="{BB962C8B-B14F-4D97-AF65-F5344CB8AC3E}">
        <p14:creationId xmlns:p14="http://schemas.microsoft.com/office/powerpoint/2010/main" val="24897344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Notion d’identifiant</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4279037" cy="3970318"/>
          </a:xfrm>
          <a:prstGeom prst="rect">
            <a:avLst/>
          </a:prstGeom>
        </p:spPr>
        <p:txBody>
          <a:bodyPr wrap="square">
            <a:spAutoFit/>
          </a:bodyPr>
          <a:lstStyle/>
          <a:p>
            <a:pPr algn="just"/>
            <a:r>
              <a:rPr lang="fr-FR" sz="2800" dirty="0">
                <a:latin typeface="Candara" panose="020E0502030303020204" pitchFamily="34" charset="0"/>
              </a:rPr>
              <a:t>Identifiant multiple</a:t>
            </a:r>
          </a:p>
          <a:p>
            <a:pPr algn="just"/>
            <a:endParaRPr lang="fr-FR" sz="2800" dirty="0">
              <a:latin typeface="Candara" panose="020E0502030303020204" pitchFamily="34" charset="0"/>
            </a:endParaRPr>
          </a:p>
          <a:p>
            <a:pPr algn="just"/>
            <a:r>
              <a:rPr lang="fr-FR" sz="2800" dirty="0">
                <a:latin typeface="Candara" panose="020E0502030303020204" pitchFamily="34" charset="0"/>
              </a:rPr>
              <a:t>Plusieurs attributs pour un identifiants (ex. compte bancaire : numéro compte, indicatif de la banque…)</a:t>
            </a:r>
          </a:p>
          <a:p>
            <a:pPr algn="just"/>
            <a:endParaRPr lang="fr-FR" sz="2800" dirty="0">
              <a:latin typeface="Candara" panose="020E0502030303020204" pitchFamily="34" charset="0"/>
            </a:endParaRPr>
          </a:p>
          <a:p>
            <a:pPr algn="just"/>
            <a:r>
              <a:rPr lang="fr-FR" sz="2800" dirty="0">
                <a:latin typeface="Candara" panose="020E0502030303020204" pitchFamily="34" charset="0"/>
              </a:rPr>
              <a:t>Plusieurs identifiants mais un seul sera principal</a:t>
            </a:r>
            <a:endParaRPr lang="fr-FR" sz="2400" dirty="0">
              <a:latin typeface="Candara" panose="020E0502030303020204" pitchFamily="34" charset="0"/>
            </a:endParaRPr>
          </a:p>
        </p:txBody>
      </p:sp>
      <p:pic>
        <p:nvPicPr>
          <p:cNvPr id="3" name="Image 2">
            <a:extLst>
              <a:ext uri="{FF2B5EF4-FFF2-40B4-BE49-F238E27FC236}">
                <a16:creationId xmlns:a16="http://schemas.microsoft.com/office/drawing/2014/main" id="{74A3C529-8961-48FE-A580-2A81370D1157}"/>
              </a:ext>
            </a:extLst>
          </p:cNvPr>
          <p:cNvPicPr>
            <a:picLocks noChangeAspect="1"/>
          </p:cNvPicPr>
          <p:nvPr/>
        </p:nvPicPr>
        <p:blipFill>
          <a:blip r:embed="rId2"/>
          <a:stretch>
            <a:fillRect/>
          </a:stretch>
        </p:blipFill>
        <p:spPr>
          <a:xfrm>
            <a:off x="5309500" y="2372445"/>
            <a:ext cx="5425910" cy="3981033"/>
          </a:xfrm>
          <a:prstGeom prst="rect">
            <a:avLst/>
          </a:prstGeom>
        </p:spPr>
      </p:pic>
    </p:spTree>
    <p:extLst>
      <p:ext uri="{BB962C8B-B14F-4D97-AF65-F5344CB8AC3E}">
        <p14:creationId xmlns:p14="http://schemas.microsoft.com/office/powerpoint/2010/main" val="4959893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Notion d’identifiant</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4279037" cy="3970318"/>
          </a:xfrm>
          <a:prstGeom prst="rect">
            <a:avLst/>
          </a:prstGeom>
        </p:spPr>
        <p:txBody>
          <a:bodyPr wrap="square">
            <a:spAutoFit/>
          </a:bodyPr>
          <a:lstStyle/>
          <a:p>
            <a:pPr algn="just"/>
            <a:r>
              <a:rPr lang="fr-FR" sz="2800" dirty="0">
                <a:latin typeface="Candara" panose="020E0502030303020204" pitchFamily="34" charset="0"/>
              </a:rPr>
              <a:t>Identifiant multiple</a:t>
            </a:r>
          </a:p>
          <a:p>
            <a:pPr algn="just"/>
            <a:endParaRPr lang="fr-FR" sz="2800" dirty="0">
              <a:latin typeface="Candara" panose="020E0502030303020204" pitchFamily="34" charset="0"/>
            </a:endParaRPr>
          </a:p>
          <a:p>
            <a:pPr algn="just"/>
            <a:r>
              <a:rPr lang="fr-FR" sz="2800" dirty="0">
                <a:latin typeface="Candara" panose="020E0502030303020204" pitchFamily="34" charset="0"/>
              </a:rPr>
              <a:t>Bien gérer le caractère obligatoire.</a:t>
            </a:r>
          </a:p>
          <a:p>
            <a:pPr algn="just"/>
            <a:endParaRPr lang="fr-FR" sz="2800" dirty="0">
              <a:latin typeface="Candara" panose="020E0502030303020204" pitchFamily="34" charset="0"/>
            </a:endParaRPr>
          </a:p>
          <a:p>
            <a:pPr algn="just"/>
            <a:r>
              <a:rPr lang="fr-FR" sz="2800" dirty="0">
                <a:latin typeface="Candara" panose="020E0502030303020204" pitchFamily="34" charset="0"/>
              </a:rPr>
              <a:t>Identifiant technique = 12</a:t>
            </a:r>
          </a:p>
          <a:p>
            <a:pPr algn="just"/>
            <a:r>
              <a:rPr lang="fr-FR" sz="2800" dirty="0">
                <a:latin typeface="Candara" panose="020E0502030303020204" pitchFamily="34" charset="0"/>
              </a:rPr>
              <a:t>Immatriculation = en attente (avion sorti de l’usine).</a:t>
            </a:r>
            <a:endParaRPr lang="fr-FR" sz="2400" dirty="0">
              <a:latin typeface="Candara" panose="020E0502030303020204" pitchFamily="34" charset="0"/>
            </a:endParaRPr>
          </a:p>
        </p:txBody>
      </p:sp>
      <p:pic>
        <p:nvPicPr>
          <p:cNvPr id="8" name="Image 7">
            <a:extLst>
              <a:ext uri="{FF2B5EF4-FFF2-40B4-BE49-F238E27FC236}">
                <a16:creationId xmlns:a16="http://schemas.microsoft.com/office/drawing/2014/main" id="{DAB124D4-B297-4FD6-9946-35F53D475666}"/>
              </a:ext>
            </a:extLst>
          </p:cNvPr>
          <p:cNvPicPr>
            <a:picLocks noChangeAspect="1"/>
          </p:cNvPicPr>
          <p:nvPr/>
        </p:nvPicPr>
        <p:blipFill>
          <a:blip r:embed="rId2"/>
          <a:stretch>
            <a:fillRect/>
          </a:stretch>
        </p:blipFill>
        <p:spPr>
          <a:xfrm>
            <a:off x="5639884" y="3210652"/>
            <a:ext cx="5841902" cy="2920951"/>
          </a:xfrm>
          <a:prstGeom prst="rect">
            <a:avLst/>
          </a:prstGeom>
        </p:spPr>
      </p:pic>
    </p:spTree>
    <p:extLst>
      <p:ext uri="{BB962C8B-B14F-4D97-AF65-F5344CB8AC3E}">
        <p14:creationId xmlns:p14="http://schemas.microsoft.com/office/powerpoint/2010/main" val="596191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71450" y="1353701"/>
            <a:ext cx="11877675" cy="2862322"/>
          </a:xfrm>
          <a:prstGeom prst="rect">
            <a:avLst/>
          </a:prstGeom>
        </p:spPr>
        <p:txBody>
          <a:bodyPr wrap="square">
            <a:spAutoFit/>
          </a:bodyPr>
          <a:lstStyle/>
          <a:p>
            <a:pPr algn="just"/>
            <a:r>
              <a:rPr lang="fr-FR" sz="3600" dirty="0">
                <a:latin typeface="Candara" panose="020E0502030303020204" pitchFamily="34" charset="0"/>
              </a:rPr>
              <a:t>Construire le diagramme de classe relatif à l’énoncé suivant :</a:t>
            </a:r>
          </a:p>
          <a:p>
            <a:pPr algn="just"/>
            <a:endParaRPr lang="fr-FR" sz="3600" dirty="0">
              <a:latin typeface="Candara" panose="020E0502030303020204" pitchFamily="34" charset="0"/>
            </a:endParaRPr>
          </a:p>
          <a:p>
            <a:pPr algn="just"/>
            <a:r>
              <a:rPr lang="fr-FR" sz="3600" dirty="0">
                <a:latin typeface="Candara" panose="020E0502030303020204" pitchFamily="34" charset="0"/>
              </a:rPr>
              <a:t>Définir un schéma décrivant les liens familiaux (mariage, parent/enfant) d'une population de personnes identifiables par un numéro.</a:t>
            </a:r>
          </a:p>
        </p:txBody>
      </p:sp>
    </p:spTree>
    <p:extLst>
      <p:ext uri="{BB962C8B-B14F-4D97-AF65-F5344CB8AC3E}">
        <p14:creationId xmlns:p14="http://schemas.microsoft.com/office/powerpoint/2010/main" val="2204522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71450" y="1353701"/>
            <a:ext cx="11877675" cy="4524315"/>
          </a:xfrm>
          <a:prstGeom prst="rect">
            <a:avLst/>
          </a:prstGeom>
        </p:spPr>
        <p:txBody>
          <a:bodyPr wrap="square">
            <a:spAutoFit/>
          </a:bodyPr>
          <a:lstStyle/>
          <a:p>
            <a:pPr algn="just"/>
            <a:r>
              <a:rPr lang="fr-FR" sz="3600" dirty="0">
                <a:latin typeface="Candara" panose="020E0502030303020204" pitchFamily="34" charset="0"/>
              </a:rPr>
              <a:t>Construire le diagramme de classe relatif à l’énoncé suivant :</a:t>
            </a:r>
          </a:p>
          <a:p>
            <a:pPr algn="just"/>
            <a:endParaRPr lang="fr-FR" sz="3600" dirty="0">
              <a:latin typeface="Candara" panose="020E0502030303020204" pitchFamily="34" charset="0"/>
            </a:endParaRPr>
          </a:p>
          <a:p>
            <a:pPr algn="just"/>
            <a:r>
              <a:rPr lang="fr-FR" sz="3600" dirty="0">
                <a:latin typeface="Candara" panose="020E0502030303020204" pitchFamily="34" charset="0"/>
              </a:rPr>
              <a:t>Soit un ensemble de personnes (identifiées par un numéro et caractérisées par un nom) et un ensemble d'organisme bancaires (identifiés par un numéro); une personne peut ouvrir un ou plusieurs comptes dans un organisme bancaire; chaque organisme bancaire affecte à chacun de ses comptes un numéro identifiant pour lui Seul.</a:t>
            </a:r>
          </a:p>
        </p:txBody>
      </p:sp>
    </p:spTree>
    <p:extLst>
      <p:ext uri="{BB962C8B-B14F-4D97-AF65-F5344CB8AC3E}">
        <p14:creationId xmlns:p14="http://schemas.microsoft.com/office/powerpoint/2010/main" val="22563860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Trouver les classes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035B87BD-79A9-4B71-A3D7-573A6F9D9647}"/>
              </a:ext>
            </a:extLst>
          </p:cNvPr>
          <p:cNvSpPr txBox="1"/>
          <p:nvPr/>
        </p:nvSpPr>
        <p:spPr>
          <a:xfrm>
            <a:off x="90255" y="2006764"/>
            <a:ext cx="12011487" cy="4832092"/>
          </a:xfrm>
          <a:prstGeom prst="rect">
            <a:avLst/>
          </a:prstGeom>
          <a:noFill/>
        </p:spPr>
        <p:txBody>
          <a:bodyPr wrap="square">
            <a:spAutoFit/>
          </a:bodyPr>
          <a:lstStyle/>
          <a:p>
            <a:pPr algn="just"/>
            <a:r>
              <a:rPr lang="fr-FR" sz="2200" dirty="0">
                <a:latin typeface="Candara" panose="020E0502030303020204" pitchFamily="34" charset="0"/>
              </a:rPr>
              <a:t>Un hôtel Formule1 est constitué d'un certain nombre de chambres. Un responsable de l'hôtel gère la location des chambres. Chaque chambre se loue à un prix donné (suivant ses prestations).</a:t>
            </a:r>
          </a:p>
          <a:p>
            <a:pPr algn="just"/>
            <a:endParaRPr lang="fr-FR" sz="2200" dirty="0">
              <a:latin typeface="Candara" panose="020E0502030303020204" pitchFamily="34" charset="0"/>
            </a:endParaRPr>
          </a:p>
          <a:p>
            <a:pPr algn="just"/>
            <a:r>
              <a:rPr lang="fr-FR" sz="2200" dirty="0">
                <a:latin typeface="Candara" panose="020E0502030303020204" pitchFamily="34" charset="0"/>
              </a:rPr>
              <a:t>L'accès aux salles de bain est compris dans le prix de la location d'une chambre. Certaines chambres comportent une salle de bain, mais pas toutes. Les hôtes de chambres sans salle de bain peuvent utiliser une salle de bain sur le palier. Ces dernières peuvent être utilisées par plusieurs hôtes.</a:t>
            </a:r>
          </a:p>
          <a:p>
            <a:pPr algn="just"/>
            <a:endParaRPr lang="fr-FR" sz="2200" dirty="0">
              <a:latin typeface="Candara" panose="020E0502030303020204" pitchFamily="34" charset="0"/>
            </a:endParaRPr>
          </a:p>
          <a:p>
            <a:pPr algn="just"/>
            <a:r>
              <a:rPr lang="fr-FR" sz="2200" dirty="0">
                <a:latin typeface="Candara" panose="020E0502030303020204" pitchFamily="34" charset="0"/>
              </a:rPr>
              <a:t>Les pièces de l'hôtel qui ne sont ni des chambres, ni des salles de bain (hall d'accueil, cuisine...) ne font pas partie de l'étude (hors sujet).</a:t>
            </a:r>
          </a:p>
          <a:p>
            <a:pPr algn="just"/>
            <a:endParaRPr lang="fr-FR" sz="2200" dirty="0">
              <a:latin typeface="Candara" panose="020E0502030303020204" pitchFamily="34" charset="0"/>
            </a:endParaRPr>
          </a:p>
          <a:p>
            <a:pPr algn="just"/>
            <a:r>
              <a:rPr lang="fr-FR" sz="2200" dirty="0">
                <a:latin typeface="Candara" panose="020E0502030303020204" pitchFamily="34" charset="0"/>
              </a:rPr>
              <a:t>Des personnes peuvent louer une ou plusieurs chambres de l'hôtel, afin d'y résider. En d'autre termes : l'hôtel héberge un certain nombre de personnes, ses hôtes (il s'agit des personnes qui louent au moins une chambre de l'hôtel...).</a:t>
            </a:r>
          </a:p>
          <a:p>
            <a:pPr algn="r"/>
            <a:r>
              <a:rPr lang="en-US" sz="2200" b="1" dirty="0">
                <a:latin typeface="Candara" panose="020E0502030303020204" pitchFamily="34" charset="0"/>
              </a:rPr>
              <a:t>Journal of Object Oriented Programming</a:t>
            </a:r>
            <a:endParaRPr lang="fr-FR" sz="2200" b="1" dirty="0">
              <a:latin typeface="Candara" panose="020E0502030303020204" pitchFamily="34" charset="0"/>
            </a:endParaRPr>
          </a:p>
        </p:txBody>
      </p:sp>
    </p:spTree>
    <p:extLst>
      <p:ext uri="{BB962C8B-B14F-4D97-AF65-F5344CB8AC3E}">
        <p14:creationId xmlns:p14="http://schemas.microsoft.com/office/powerpoint/2010/main" val="31885849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Trouver les classes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035B87BD-79A9-4B71-A3D7-573A6F9D9647}"/>
              </a:ext>
            </a:extLst>
          </p:cNvPr>
          <p:cNvSpPr txBox="1"/>
          <p:nvPr/>
        </p:nvSpPr>
        <p:spPr>
          <a:xfrm>
            <a:off x="90255" y="2006764"/>
            <a:ext cx="12011487" cy="4832092"/>
          </a:xfrm>
          <a:prstGeom prst="rect">
            <a:avLst/>
          </a:prstGeom>
          <a:noFill/>
        </p:spPr>
        <p:txBody>
          <a:bodyPr wrap="square">
            <a:spAutoFit/>
          </a:bodyPr>
          <a:lstStyle/>
          <a:p>
            <a:pPr algn="just"/>
            <a:r>
              <a:rPr lang="fr-FR" sz="2200" dirty="0">
                <a:latin typeface="Candara" panose="020E0502030303020204" pitchFamily="34" charset="0"/>
              </a:rPr>
              <a:t>Un </a:t>
            </a:r>
            <a:r>
              <a:rPr lang="fr-FR" sz="2200" b="1" dirty="0">
                <a:latin typeface="Candara" panose="020E0502030303020204" pitchFamily="34" charset="0"/>
              </a:rPr>
              <a:t>hôtel</a:t>
            </a:r>
            <a:r>
              <a:rPr lang="fr-FR" sz="2200" dirty="0">
                <a:latin typeface="Candara" panose="020E0502030303020204" pitchFamily="34" charset="0"/>
              </a:rPr>
              <a:t> Formule1 est constitué d'un certain nombre de chambres. Un </a:t>
            </a:r>
            <a:r>
              <a:rPr lang="fr-FR" sz="2200" b="1" dirty="0">
                <a:latin typeface="Candara" panose="020E0502030303020204" pitchFamily="34" charset="0"/>
              </a:rPr>
              <a:t>responsable</a:t>
            </a:r>
            <a:r>
              <a:rPr lang="fr-FR" sz="2200" dirty="0">
                <a:latin typeface="Candara" panose="020E0502030303020204" pitchFamily="34" charset="0"/>
              </a:rPr>
              <a:t> de l'hôtel gère la location des chambres. Chaque chambre se loue à un prix donné (suivant ses prestations).</a:t>
            </a:r>
          </a:p>
          <a:p>
            <a:pPr algn="just"/>
            <a:endParaRPr lang="fr-FR" sz="2200" dirty="0">
              <a:latin typeface="Candara" panose="020E0502030303020204" pitchFamily="34" charset="0"/>
            </a:endParaRPr>
          </a:p>
          <a:p>
            <a:pPr algn="just"/>
            <a:r>
              <a:rPr lang="fr-FR" sz="2200" dirty="0">
                <a:latin typeface="Candara" panose="020E0502030303020204" pitchFamily="34" charset="0"/>
              </a:rPr>
              <a:t>L'accès aux salles de bain est compris dans le prix de la location d'une chambre. Certaines </a:t>
            </a:r>
            <a:r>
              <a:rPr lang="fr-FR" sz="2200" b="1" dirty="0">
                <a:latin typeface="Candara" panose="020E0502030303020204" pitchFamily="34" charset="0"/>
              </a:rPr>
              <a:t>chambres</a:t>
            </a:r>
            <a:r>
              <a:rPr lang="fr-FR" sz="2200" dirty="0">
                <a:latin typeface="Candara" panose="020E0502030303020204" pitchFamily="34" charset="0"/>
              </a:rPr>
              <a:t> comportent une salle de bain, mais pas toutes. Les </a:t>
            </a:r>
            <a:r>
              <a:rPr lang="fr-FR" sz="2200" b="1" dirty="0">
                <a:latin typeface="Candara" panose="020E0502030303020204" pitchFamily="34" charset="0"/>
              </a:rPr>
              <a:t>hôtes</a:t>
            </a:r>
            <a:r>
              <a:rPr lang="fr-FR" sz="2200" dirty="0">
                <a:latin typeface="Candara" panose="020E0502030303020204" pitchFamily="34" charset="0"/>
              </a:rPr>
              <a:t> de chambres sans salle de bain peuvent utiliser une </a:t>
            </a:r>
            <a:r>
              <a:rPr lang="fr-FR" sz="2200" b="1" dirty="0">
                <a:latin typeface="Candara" panose="020E0502030303020204" pitchFamily="34" charset="0"/>
              </a:rPr>
              <a:t>salle de bain </a:t>
            </a:r>
            <a:r>
              <a:rPr lang="fr-FR" sz="2200" dirty="0">
                <a:latin typeface="Candara" panose="020E0502030303020204" pitchFamily="34" charset="0"/>
              </a:rPr>
              <a:t>sur le palier. Ces dernières peuvent être utilisées par plusieurs hôtes.</a:t>
            </a:r>
          </a:p>
          <a:p>
            <a:pPr algn="just"/>
            <a:endParaRPr lang="fr-FR" sz="2200" dirty="0">
              <a:latin typeface="Candara" panose="020E0502030303020204" pitchFamily="34" charset="0"/>
            </a:endParaRPr>
          </a:p>
          <a:p>
            <a:pPr algn="just"/>
            <a:r>
              <a:rPr lang="fr-FR" sz="2200" dirty="0">
                <a:latin typeface="Candara" panose="020E0502030303020204" pitchFamily="34" charset="0"/>
              </a:rPr>
              <a:t>Les pièces de l'hôtel qui ne sont ni des chambres, ni des salles de bain (hall d'accueil, cuisine...) ne font pas partie de l'étude (hors sujet).</a:t>
            </a:r>
          </a:p>
          <a:p>
            <a:pPr algn="just"/>
            <a:endParaRPr lang="fr-FR" sz="2200" dirty="0">
              <a:latin typeface="Candara" panose="020E0502030303020204" pitchFamily="34" charset="0"/>
            </a:endParaRPr>
          </a:p>
          <a:p>
            <a:pPr algn="just"/>
            <a:r>
              <a:rPr lang="fr-FR" sz="2200" dirty="0">
                <a:latin typeface="Candara" panose="020E0502030303020204" pitchFamily="34" charset="0"/>
              </a:rPr>
              <a:t>Des </a:t>
            </a:r>
            <a:r>
              <a:rPr lang="fr-FR" sz="2200" b="1" dirty="0">
                <a:latin typeface="Candara" panose="020E0502030303020204" pitchFamily="34" charset="0"/>
              </a:rPr>
              <a:t>personnes</a:t>
            </a:r>
            <a:r>
              <a:rPr lang="fr-FR" sz="2200" dirty="0">
                <a:latin typeface="Candara" panose="020E0502030303020204" pitchFamily="34" charset="0"/>
              </a:rPr>
              <a:t> peuvent louer une ou plusieurs chambres de l'hôtel, afin d'y résider. En d'autre termes : l'hôtel héberge un certain nombre de personnes, ses hôtes (il s'agit des personnes qui louent au moins une chambre de l'hôtel...).</a:t>
            </a:r>
          </a:p>
          <a:p>
            <a:pPr algn="r"/>
            <a:r>
              <a:rPr lang="en-US" sz="2200" b="1" dirty="0">
                <a:latin typeface="Candara" panose="020E0502030303020204" pitchFamily="34" charset="0"/>
              </a:rPr>
              <a:t>Journal of Object Oriented Programming</a:t>
            </a:r>
            <a:endParaRPr lang="fr-FR" sz="2200" b="1" dirty="0">
              <a:latin typeface="Candara" panose="020E0502030303020204" pitchFamily="34" charset="0"/>
            </a:endParaRPr>
          </a:p>
        </p:txBody>
      </p:sp>
    </p:spTree>
    <p:extLst>
      <p:ext uri="{BB962C8B-B14F-4D97-AF65-F5344CB8AC3E}">
        <p14:creationId xmlns:p14="http://schemas.microsoft.com/office/powerpoint/2010/main" val="977142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71450" y="1353701"/>
            <a:ext cx="11877675" cy="5047536"/>
          </a:xfrm>
          <a:prstGeom prst="rect">
            <a:avLst/>
          </a:prstGeom>
        </p:spPr>
        <p:txBody>
          <a:bodyPr wrap="square">
            <a:spAutoFit/>
          </a:bodyPr>
          <a:lstStyle/>
          <a:p>
            <a:pPr algn="just"/>
            <a:r>
              <a:rPr lang="fr-FR" sz="2300" dirty="0">
                <a:latin typeface="Candara" panose="020E0502030303020204" pitchFamily="34" charset="0"/>
              </a:rPr>
              <a:t>Pour chaque livre, on doit connaître le titre, l'année de parution, un résumé et le type (roman, poésie, science fiction, ...).</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livre peut être rédigé par aucun (dans le cas d'une œuvre anonyme), un ou plusieurs auteurs dont on connaît le nom, le prénom, la date de naissance et le pays d'origine.</a:t>
            </a:r>
          </a:p>
          <a:p>
            <a:pPr algn="just"/>
            <a:endParaRPr lang="fr-FR" sz="2300" dirty="0">
              <a:latin typeface="Candara" panose="020E0502030303020204" pitchFamily="34" charset="0"/>
            </a:endParaRPr>
          </a:p>
          <a:p>
            <a:pPr algn="just"/>
            <a:r>
              <a:rPr lang="fr-FR" sz="2300" dirty="0">
                <a:latin typeface="Candara" panose="020E0502030303020204" pitchFamily="34" charset="0"/>
              </a:rPr>
              <a:t>Chaque exemplaire d'un livre est identifié par une référence composée de lettres et de chiffres et ne peut être paru que dans une et une seule édition.</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inscrit est identifié par un numéro et on doit mémoriser son nom, prénom, adresse, téléphone et adresse e-mail.</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inscrit peut faire zéro, un ou plusieurs emprunts qui concernent chacun un et un seul exemplaire. Pour chaque emprunt, on connaît la date et le délai accordé (en nombre de jours).</a:t>
            </a:r>
          </a:p>
        </p:txBody>
      </p:sp>
    </p:spTree>
    <p:extLst>
      <p:ext uri="{BB962C8B-B14F-4D97-AF65-F5344CB8AC3E}">
        <p14:creationId xmlns:p14="http://schemas.microsoft.com/office/powerpoint/2010/main" val="25875566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B37F65F0-1FA9-4D29-A0EE-C86BDA831F79}"/>
              </a:ext>
            </a:extLst>
          </p:cNvPr>
          <p:cNvPicPr>
            <a:picLocks noChangeAspect="1"/>
          </p:cNvPicPr>
          <p:nvPr/>
        </p:nvPicPr>
        <p:blipFill>
          <a:blip r:embed="rId2"/>
          <a:stretch>
            <a:fillRect/>
          </a:stretch>
        </p:blipFill>
        <p:spPr>
          <a:xfrm>
            <a:off x="5402248" y="1070034"/>
            <a:ext cx="5524500" cy="5743575"/>
          </a:xfrm>
          <a:prstGeom prst="rect">
            <a:avLst/>
          </a:prstGeom>
        </p:spPr>
      </p:pic>
      <p:sp>
        <p:nvSpPr>
          <p:cNvPr id="8" name="Rectangle 7">
            <a:extLst>
              <a:ext uri="{FF2B5EF4-FFF2-40B4-BE49-F238E27FC236}">
                <a16:creationId xmlns:a16="http://schemas.microsoft.com/office/drawing/2014/main" id="{6F82BC9E-2D45-46F5-832A-5177D7CC5C76}"/>
              </a:ext>
            </a:extLst>
          </p:cNvPr>
          <p:cNvSpPr/>
          <p:nvPr/>
        </p:nvSpPr>
        <p:spPr>
          <a:xfrm>
            <a:off x="612557" y="2172106"/>
            <a:ext cx="4500979" cy="3539430"/>
          </a:xfrm>
          <a:prstGeom prst="rect">
            <a:avLst/>
          </a:prstGeom>
        </p:spPr>
        <p:txBody>
          <a:bodyPr wrap="square">
            <a:spAutoFit/>
          </a:bodyPr>
          <a:lstStyle/>
          <a:p>
            <a:pPr algn="just"/>
            <a:r>
              <a:rPr lang="fr-FR" sz="2800" dirty="0">
                <a:latin typeface="Candara" panose="020E0502030303020204" pitchFamily="34" charset="0"/>
              </a:rPr>
              <a:t>Ajouter et justifier des cardinalités à ce diagramme.</a:t>
            </a:r>
          </a:p>
          <a:p>
            <a:pPr algn="just"/>
            <a:endParaRPr lang="fr-FR" sz="2800" dirty="0">
              <a:latin typeface="Candara" panose="020E0502030303020204" pitchFamily="34" charset="0"/>
            </a:endParaRPr>
          </a:p>
          <a:p>
            <a:pPr algn="just"/>
            <a:r>
              <a:rPr lang="fr-FR" sz="2800" dirty="0">
                <a:latin typeface="Candara" panose="020E0502030303020204" pitchFamily="34" charset="0"/>
              </a:rPr>
              <a:t>Définir les types de données</a:t>
            </a:r>
          </a:p>
          <a:p>
            <a:pPr algn="just"/>
            <a:endParaRPr lang="fr-FR" sz="2800" dirty="0">
              <a:latin typeface="Candara" panose="020E0502030303020204" pitchFamily="34" charset="0"/>
            </a:endParaRPr>
          </a:p>
          <a:p>
            <a:pPr algn="just"/>
            <a:r>
              <a:rPr lang="fr-FR" sz="2800" dirty="0">
                <a:latin typeface="Candara" panose="020E0502030303020204" pitchFamily="34" charset="0"/>
              </a:rPr>
              <a:t>Utiliser un outil pour en ligne pour créer ce diagramme (</a:t>
            </a:r>
            <a:r>
              <a:rPr lang="fr-FR" sz="2800" dirty="0" err="1">
                <a:latin typeface="Candara" panose="020E0502030303020204" pitchFamily="34" charset="0"/>
              </a:rPr>
              <a:t>lucidchart</a:t>
            </a:r>
            <a:r>
              <a:rPr lang="fr-FR" sz="2800" dirty="0">
                <a:latin typeface="Candara" panose="020E0502030303020204" pitchFamily="34" charset="0"/>
              </a:rPr>
              <a:t>).</a:t>
            </a:r>
          </a:p>
        </p:txBody>
      </p:sp>
    </p:spTree>
    <p:extLst>
      <p:ext uri="{BB962C8B-B14F-4D97-AF65-F5344CB8AC3E}">
        <p14:creationId xmlns:p14="http://schemas.microsoft.com/office/powerpoint/2010/main" val="14889087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71450" y="1211656"/>
            <a:ext cx="11877675" cy="5401479"/>
          </a:xfrm>
          <a:prstGeom prst="rect">
            <a:avLst/>
          </a:prstGeom>
        </p:spPr>
        <p:txBody>
          <a:bodyPr wrap="square">
            <a:spAutoFit/>
          </a:bodyPr>
          <a:lstStyle/>
          <a:p>
            <a:pPr algn="just"/>
            <a:r>
              <a:rPr lang="fr-FR" sz="2300" dirty="0">
                <a:latin typeface="Candara" panose="020E0502030303020204" pitchFamily="34" charset="0"/>
              </a:rPr>
              <a:t>Il vous est demandé de réaliser une base de données permettant de stocker des recettes de cuisine et gérant également les stocks des ingrédients que vous possédez. Chaque recette de cuisine a un nom, une description, la durée de préparation et la durée de cuisson, le nombre de calories par personne, le nombre de parts et le niveau de difficulté : difficile, moyen ou facile. Pour chaque recette vous voulez savoir quels sont les ingrédients nécessaires et la quantité associée à chaque ingrédient. </a:t>
            </a:r>
          </a:p>
          <a:p>
            <a:pPr algn="just"/>
            <a:endParaRPr lang="fr-FR" sz="2300" dirty="0">
              <a:latin typeface="Candara" panose="020E0502030303020204" pitchFamily="34" charset="0"/>
            </a:endParaRPr>
          </a:p>
          <a:p>
            <a:pPr algn="just"/>
            <a:r>
              <a:rPr lang="fr-FR" sz="2300" dirty="0">
                <a:latin typeface="Candara" panose="020E0502030303020204" pitchFamily="34" charset="0"/>
              </a:rPr>
              <a:t>Pour chaque ingrédient vous avez son nom et le nombre de calories pour 100 grammes de cet ingrédient. Chaque ingrédient a un type, par exemple féculent pour l'ingrédient pomme de terre. Un même ingrédient peut avoir plusieurs conditionnements, par exemple, l'ingrédient farine peut être stocké sous forme d'un paquet de 1 kg ou de 500 g. Ces deux conditionnements seront considérés comme des produits différents. Pour gérer les stocks des ingrédients, le lieu de stockage des produits dans le logement est mémorisé. Chaque rangement est nommé et pour chaque rangement vous savez quels sont les produits qui y sont stockés. Un même ingrédient peut être stocké dans plusieurs rangements.</a:t>
            </a:r>
          </a:p>
        </p:txBody>
      </p:sp>
    </p:spTree>
    <p:extLst>
      <p:ext uri="{BB962C8B-B14F-4D97-AF65-F5344CB8AC3E}">
        <p14:creationId xmlns:p14="http://schemas.microsoft.com/office/powerpoint/2010/main" val="23684442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B9F41C-9DA7-4039-A0D4-FF1B1413CE06}"/>
              </a:ext>
            </a:extLst>
          </p:cNvPr>
          <p:cNvSpPr/>
          <p:nvPr/>
        </p:nvSpPr>
        <p:spPr>
          <a:xfrm>
            <a:off x="157162" y="101945"/>
            <a:ext cx="11877675" cy="6694140"/>
          </a:xfrm>
          <a:prstGeom prst="rect">
            <a:avLst/>
          </a:prstGeom>
        </p:spPr>
        <p:txBody>
          <a:bodyPr wrap="square">
            <a:spAutoFit/>
          </a:bodyPr>
          <a:lstStyle/>
          <a:p>
            <a:pPr algn="just"/>
            <a:r>
              <a:rPr lang="fr-FR" sz="1950" b="0" i="0" dirty="0">
                <a:effectLst/>
                <a:latin typeface="Candara" panose="020E0502030303020204" pitchFamily="34" charset="0"/>
              </a:rPr>
              <a:t>Toute personne qui a exercé pendant 5 ans une activité professionnelle en rapport avec l'objet de sa demande peut demander l'obtention d'un diplôme de l'enseignement technologique et professionnel auprès du Centre de validation des Acquis de l'Académie de son domicile.</a:t>
            </a:r>
          </a:p>
          <a:p>
            <a:pPr algn="just"/>
            <a:r>
              <a:rPr lang="fr-FR" sz="1950" b="0" i="0" dirty="0">
                <a:effectLst/>
                <a:latin typeface="Candara" panose="020E0502030303020204" pitchFamily="34" charset="0"/>
              </a:rPr>
              <a:t>Le salarié obtient un dossier vierge auprès du Centre de validation des Acquis de l'Académie (CAVA). Après avoir complété le dossier, le salarié l'envoie au CAVA. Le dossier contient l'état civil du candidat (nom, prénom, adresse), une description de ses activités professionnelles depuis 5 ans, le diplôme demandé. Les dossiers sont enregistrés dans la base de données du CAVA (un numéro de référence leur sont automatiquement affecté).</a:t>
            </a:r>
          </a:p>
          <a:p>
            <a:pPr algn="just"/>
            <a:r>
              <a:rPr lang="fr-FR" sz="1950" b="0" i="0" dirty="0">
                <a:effectLst/>
                <a:latin typeface="Candara" panose="020E0502030303020204" pitchFamily="34" charset="0"/>
              </a:rPr>
              <a:t>Le CAVA envoie le dossier au domicile de l'inspecteur d'Académie responsable du diplôme concerné. L'inspecteur vérifie si le dossier est recevable. C'est à dire, si le diplôme demandé correspond aux activités professionnelles du candidat depuis au moins 5 ans. L'inspecteur communique sa décision aux CAVA qui l'enregistre dans sa base de données. Si le dossier est recevable, un accusé de réception est envoyé au candidat ; sinon le dossier est retourné au candidat avec un courrier lui indiquant les raisons du refus du dossier.</a:t>
            </a:r>
          </a:p>
          <a:p>
            <a:pPr algn="just"/>
            <a:r>
              <a:rPr lang="fr-FR" sz="1950" b="0" i="0" dirty="0">
                <a:effectLst/>
                <a:latin typeface="Candara" panose="020E0502030303020204" pitchFamily="34" charset="0"/>
              </a:rPr>
              <a:t>Il y a un jury par diplôme. Un jury est composé de l'inspecteur d'Académie responsable du diplôme et d'enseignants. Le CAVA connaît les coordonnées des enseignants membres d'un jury. Chaque jury se réunit trois fois par an.</a:t>
            </a:r>
          </a:p>
          <a:p>
            <a:pPr algn="just"/>
            <a:r>
              <a:rPr lang="fr-FR" sz="1950" b="0" i="0" dirty="0">
                <a:effectLst/>
                <a:latin typeface="Candara" panose="020E0502030303020204" pitchFamily="34" charset="0"/>
              </a:rPr>
              <a:t>Le planning des réunions d'un jury est établi par l'inspecteur d'Académie responsable du diplôme concerné, en début d'année scolaire. Trois semaines avant une réunion d'un jury, le CAVA convoque les membres du jury ainsi que les candidats ayant un dossier de demande de diplôme en suspens (concernant le diplôme sous la responsabilité du jury).</a:t>
            </a:r>
          </a:p>
          <a:p>
            <a:pPr algn="just"/>
            <a:r>
              <a:rPr lang="fr-FR" sz="1950" b="0" i="0" dirty="0">
                <a:effectLst/>
                <a:latin typeface="Candara" panose="020E0502030303020204" pitchFamily="34" charset="0"/>
              </a:rPr>
              <a:t>A la fin d'une réunion, le jury établit un procès-verbal où les décisions du jury sont récapitulées (acceptation ou refus du diplôme). En fonction de ce procès-verbal, le CAVA envoie une attestation de diplôme aux candidats ou un refus de diplôme.</a:t>
            </a:r>
          </a:p>
        </p:txBody>
      </p:sp>
    </p:spTree>
    <p:extLst>
      <p:ext uri="{BB962C8B-B14F-4D97-AF65-F5344CB8AC3E}">
        <p14:creationId xmlns:p14="http://schemas.microsoft.com/office/powerpoint/2010/main" val="4973232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11267B4C-AF40-42A2-9287-E79C99509DAA}"/>
              </a:ext>
            </a:extLst>
          </p:cNvPr>
          <p:cNvPicPr>
            <a:picLocks noChangeAspect="1"/>
          </p:cNvPicPr>
          <p:nvPr/>
        </p:nvPicPr>
        <p:blipFill>
          <a:blip r:embed="rId2"/>
          <a:stretch>
            <a:fillRect/>
          </a:stretch>
        </p:blipFill>
        <p:spPr>
          <a:xfrm>
            <a:off x="1189331" y="2093419"/>
            <a:ext cx="4362450" cy="3381375"/>
          </a:xfrm>
          <a:prstGeom prst="rect">
            <a:avLst/>
          </a:prstGeom>
        </p:spPr>
      </p:pic>
      <p:pic>
        <p:nvPicPr>
          <p:cNvPr id="10" name="Image 9">
            <a:extLst>
              <a:ext uri="{FF2B5EF4-FFF2-40B4-BE49-F238E27FC236}">
                <a16:creationId xmlns:a16="http://schemas.microsoft.com/office/drawing/2014/main" id="{AC32F164-E70A-4DA7-AD62-4B43DB25B463}"/>
              </a:ext>
            </a:extLst>
          </p:cNvPr>
          <p:cNvPicPr>
            <a:picLocks noChangeAspect="1"/>
          </p:cNvPicPr>
          <p:nvPr/>
        </p:nvPicPr>
        <p:blipFill>
          <a:blip r:embed="rId3"/>
          <a:stretch>
            <a:fillRect/>
          </a:stretch>
        </p:blipFill>
        <p:spPr>
          <a:xfrm>
            <a:off x="6640221" y="2055319"/>
            <a:ext cx="4362450" cy="3419475"/>
          </a:xfrm>
          <a:prstGeom prst="rect">
            <a:avLst/>
          </a:prstGeom>
        </p:spPr>
      </p:pic>
      <p:sp>
        <p:nvSpPr>
          <p:cNvPr id="12" name="ZoneTexte 11">
            <a:extLst>
              <a:ext uri="{FF2B5EF4-FFF2-40B4-BE49-F238E27FC236}">
                <a16:creationId xmlns:a16="http://schemas.microsoft.com/office/drawing/2014/main" id="{561E0C39-1593-4A12-A98C-FD2B92DFBCC8}"/>
              </a:ext>
            </a:extLst>
          </p:cNvPr>
          <p:cNvSpPr txBox="1"/>
          <p:nvPr/>
        </p:nvSpPr>
        <p:spPr>
          <a:xfrm>
            <a:off x="2694374" y="5817933"/>
            <a:ext cx="6803252" cy="369332"/>
          </a:xfrm>
          <a:prstGeom prst="rect">
            <a:avLst/>
          </a:prstGeom>
          <a:noFill/>
        </p:spPr>
        <p:txBody>
          <a:bodyPr wrap="square">
            <a:spAutoFit/>
          </a:bodyPr>
          <a:lstStyle/>
          <a:p>
            <a:pPr algn="ctr"/>
            <a:r>
              <a:rPr lang="fr-FR" dirty="0">
                <a:latin typeface="Candara" panose="020E0502030303020204" pitchFamily="34" charset="0"/>
              </a:rPr>
              <a:t>https://en.wikipedia.org/wiki/Entity%E2%80%93relationship_model#/</a:t>
            </a:r>
          </a:p>
        </p:txBody>
      </p:sp>
    </p:spTree>
    <p:extLst>
      <p:ext uri="{BB962C8B-B14F-4D97-AF65-F5344CB8AC3E}">
        <p14:creationId xmlns:p14="http://schemas.microsoft.com/office/powerpoint/2010/main" val="36180106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binaires et cardinalités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511428" cy="4401205"/>
          </a:xfrm>
          <a:prstGeom prst="rect">
            <a:avLst/>
          </a:prstGeom>
        </p:spPr>
        <p:txBody>
          <a:bodyPr wrap="square">
            <a:spAutoFit/>
          </a:bodyPr>
          <a:lstStyle/>
          <a:p>
            <a:pPr algn="just"/>
            <a:r>
              <a:rPr lang="fr-FR" sz="2800" u="sng" dirty="0">
                <a:latin typeface="Candara" panose="020E0502030303020204" pitchFamily="34" charset="0"/>
              </a:rPr>
              <a:t>Les associations de type « un à un »</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Peu fréquentes</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Pas de « 1 » en chiffre minimal de chaque côté </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Ne pas confondre avec l’héritage (bien que un à un, la gestion n’est pas la même)</a:t>
            </a:r>
          </a:p>
        </p:txBody>
      </p:sp>
      <p:sp>
        <p:nvSpPr>
          <p:cNvPr id="8" name="Rectangle 7">
            <a:extLst>
              <a:ext uri="{FF2B5EF4-FFF2-40B4-BE49-F238E27FC236}">
                <a16:creationId xmlns:a16="http://schemas.microsoft.com/office/drawing/2014/main" id="{785F6D0F-DA88-4FDC-A7B7-8BE7366685E7}"/>
              </a:ext>
            </a:extLst>
          </p:cNvPr>
          <p:cNvSpPr/>
          <p:nvPr/>
        </p:nvSpPr>
        <p:spPr>
          <a:xfrm>
            <a:off x="6743749" y="3268274"/>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4C99EBFC-5402-4DF7-83C1-A26539E45B5E}"/>
              </a:ext>
            </a:extLst>
          </p:cNvPr>
          <p:cNvCxnSpPr>
            <a:cxnSpLocks/>
          </p:cNvCxnSpPr>
          <p:nvPr/>
        </p:nvCxnSpPr>
        <p:spPr>
          <a:xfrm>
            <a:off x="6743749" y="388028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26C07D73-21D4-4023-B5C0-B04B42A1F215}"/>
              </a:ext>
            </a:extLst>
          </p:cNvPr>
          <p:cNvCxnSpPr>
            <a:cxnSpLocks/>
          </p:cNvCxnSpPr>
          <p:nvPr/>
        </p:nvCxnSpPr>
        <p:spPr>
          <a:xfrm>
            <a:off x="6743749" y="482163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FD2D1D7E-2A6E-49CC-A79C-96CF6EC847F0}"/>
              </a:ext>
            </a:extLst>
          </p:cNvPr>
          <p:cNvSpPr txBox="1"/>
          <p:nvPr/>
        </p:nvSpPr>
        <p:spPr>
          <a:xfrm>
            <a:off x="6814774" y="3391940"/>
            <a:ext cx="1318976" cy="369332"/>
          </a:xfrm>
          <a:prstGeom prst="rect">
            <a:avLst/>
          </a:prstGeom>
          <a:noFill/>
        </p:spPr>
        <p:txBody>
          <a:bodyPr wrap="square">
            <a:spAutoFit/>
          </a:bodyPr>
          <a:lstStyle/>
          <a:p>
            <a:pPr algn="ctr"/>
            <a:r>
              <a:rPr lang="fr-FR" sz="1800" dirty="0">
                <a:latin typeface="Candara" panose="020E0502030303020204" pitchFamily="34" charset="0"/>
              </a:rPr>
              <a:t>Association</a:t>
            </a:r>
            <a:endParaRPr lang="fr-FR" dirty="0"/>
          </a:p>
        </p:txBody>
      </p:sp>
      <p:sp>
        <p:nvSpPr>
          <p:cNvPr id="12" name="ZoneTexte 11">
            <a:extLst>
              <a:ext uri="{FF2B5EF4-FFF2-40B4-BE49-F238E27FC236}">
                <a16:creationId xmlns:a16="http://schemas.microsoft.com/office/drawing/2014/main" id="{82EC7AA2-BEDE-4296-8EE0-DEFE98F17E23}"/>
              </a:ext>
            </a:extLst>
          </p:cNvPr>
          <p:cNvSpPr txBox="1"/>
          <p:nvPr/>
        </p:nvSpPr>
        <p:spPr>
          <a:xfrm>
            <a:off x="7002552" y="4106953"/>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13" name="Rectangle 12">
            <a:extLst>
              <a:ext uri="{FF2B5EF4-FFF2-40B4-BE49-F238E27FC236}">
                <a16:creationId xmlns:a16="http://schemas.microsoft.com/office/drawing/2014/main" id="{7C772DB0-AC88-4221-A991-632906BDE1A1}"/>
              </a:ext>
            </a:extLst>
          </p:cNvPr>
          <p:cNvSpPr/>
          <p:nvPr/>
        </p:nvSpPr>
        <p:spPr>
          <a:xfrm>
            <a:off x="9867949" y="3268274"/>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4" name="Connecteur droit 13">
            <a:extLst>
              <a:ext uri="{FF2B5EF4-FFF2-40B4-BE49-F238E27FC236}">
                <a16:creationId xmlns:a16="http://schemas.microsoft.com/office/drawing/2014/main" id="{4FF30283-23F2-4EE4-8496-1C2C702DC5CE}"/>
              </a:ext>
            </a:extLst>
          </p:cNvPr>
          <p:cNvCxnSpPr>
            <a:cxnSpLocks/>
          </p:cNvCxnSpPr>
          <p:nvPr/>
        </p:nvCxnSpPr>
        <p:spPr>
          <a:xfrm>
            <a:off x="9867949" y="3880287"/>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0C115A1B-00F2-4E50-85D9-7D86C3AD5D22}"/>
              </a:ext>
            </a:extLst>
          </p:cNvPr>
          <p:cNvCxnSpPr>
            <a:cxnSpLocks/>
          </p:cNvCxnSpPr>
          <p:nvPr/>
        </p:nvCxnSpPr>
        <p:spPr>
          <a:xfrm>
            <a:off x="9867949" y="4821637"/>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A16C2F81-B0E6-45E8-B277-77D604F385DE}"/>
              </a:ext>
            </a:extLst>
          </p:cNvPr>
          <p:cNvSpPr txBox="1"/>
          <p:nvPr/>
        </p:nvSpPr>
        <p:spPr>
          <a:xfrm>
            <a:off x="10126754" y="3391940"/>
            <a:ext cx="1139010" cy="369332"/>
          </a:xfrm>
          <a:prstGeom prst="rect">
            <a:avLst/>
          </a:prstGeom>
          <a:noFill/>
        </p:spPr>
        <p:txBody>
          <a:bodyPr wrap="square">
            <a:spAutoFit/>
          </a:bodyPr>
          <a:lstStyle/>
          <a:p>
            <a:pPr algn="ctr"/>
            <a:r>
              <a:rPr lang="fr-FR" sz="1800" dirty="0">
                <a:latin typeface="Candara" panose="020E0502030303020204" pitchFamily="34" charset="0"/>
              </a:rPr>
              <a:t>Membre</a:t>
            </a:r>
            <a:endParaRPr lang="fr-FR" dirty="0"/>
          </a:p>
        </p:txBody>
      </p:sp>
      <p:sp>
        <p:nvSpPr>
          <p:cNvPr id="17" name="ZoneTexte 16">
            <a:extLst>
              <a:ext uri="{FF2B5EF4-FFF2-40B4-BE49-F238E27FC236}">
                <a16:creationId xmlns:a16="http://schemas.microsoft.com/office/drawing/2014/main" id="{DBF50038-BCA5-44A3-A068-429DF82E3729}"/>
              </a:ext>
            </a:extLst>
          </p:cNvPr>
          <p:cNvSpPr txBox="1"/>
          <p:nvPr/>
        </p:nvSpPr>
        <p:spPr>
          <a:xfrm>
            <a:off x="10126752" y="4106953"/>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18" name="Connecteur droit 17">
            <a:extLst>
              <a:ext uri="{FF2B5EF4-FFF2-40B4-BE49-F238E27FC236}">
                <a16:creationId xmlns:a16="http://schemas.microsoft.com/office/drawing/2014/main" id="{2FF66260-6563-4B7E-B41D-36F1282813CF}"/>
              </a:ext>
            </a:extLst>
          </p:cNvPr>
          <p:cNvCxnSpPr>
            <a:cxnSpLocks/>
            <a:stCxn id="8" idx="3"/>
            <a:endCxn id="13" idx="1"/>
          </p:cNvCxnSpPr>
          <p:nvPr/>
        </p:nvCxnSpPr>
        <p:spPr>
          <a:xfrm>
            <a:off x="8201874" y="4243896"/>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33A3A4A7-43F8-4510-8111-331B59D468D8}"/>
              </a:ext>
            </a:extLst>
          </p:cNvPr>
          <p:cNvSpPr txBox="1"/>
          <p:nvPr/>
        </p:nvSpPr>
        <p:spPr>
          <a:xfrm>
            <a:off x="8321529" y="3790773"/>
            <a:ext cx="547811" cy="369332"/>
          </a:xfrm>
          <a:prstGeom prst="rect">
            <a:avLst/>
          </a:prstGeom>
          <a:noFill/>
        </p:spPr>
        <p:txBody>
          <a:bodyPr wrap="square">
            <a:spAutoFit/>
          </a:bodyPr>
          <a:lstStyle/>
          <a:p>
            <a:r>
              <a:rPr lang="fr-FR" sz="1800" dirty="0">
                <a:latin typeface="Candara" panose="020E0502030303020204" pitchFamily="34" charset="0"/>
              </a:rPr>
              <a:t>0..1</a:t>
            </a:r>
            <a:endParaRPr lang="fr-FR" dirty="0"/>
          </a:p>
        </p:txBody>
      </p:sp>
      <p:sp>
        <p:nvSpPr>
          <p:cNvPr id="20" name="ZoneTexte 19">
            <a:extLst>
              <a:ext uri="{FF2B5EF4-FFF2-40B4-BE49-F238E27FC236}">
                <a16:creationId xmlns:a16="http://schemas.microsoft.com/office/drawing/2014/main" id="{18B940DE-10F4-4332-8647-43636B4DDA90}"/>
              </a:ext>
            </a:extLst>
          </p:cNvPr>
          <p:cNvSpPr txBox="1"/>
          <p:nvPr/>
        </p:nvSpPr>
        <p:spPr>
          <a:xfrm>
            <a:off x="9255422" y="3790773"/>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21" name="ZoneTexte 20">
            <a:extLst>
              <a:ext uri="{FF2B5EF4-FFF2-40B4-BE49-F238E27FC236}">
                <a16:creationId xmlns:a16="http://schemas.microsoft.com/office/drawing/2014/main" id="{B40F8582-5B3B-404C-9BC4-936730677113}"/>
              </a:ext>
            </a:extLst>
          </p:cNvPr>
          <p:cNvSpPr txBox="1"/>
          <p:nvPr/>
        </p:nvSpPr>
        <p:spPr>
          <a:xfrm>
            <a:off x="8270676" y="4264309"/>
            <a:ext cx="1458125" cy="369332"/>
          </a:xfrm>
          <a:prstGeom prst="rect">
            <a:avLst/>
          </a:prstGeom>
          <a:noFill/>
        </p:spPr>
        <p:txBody>
          <a:bodyPr wrap="square">
            <a:spAutoFit/>
          </a:bodyPr>
          <a:lstStyle/>
          <a:p>
            <a:pPr algn="ctr"/>
            <a:r>
              <a:rPr lang="fr-FR" dirty="0">
                <a:latin typeface="Candara" panose="020E0502030303020204" pitchFamily="34" charset="0"/>
              </a:rPr>
              <a:t>présider</a:t>
            </a:r>
            <a:endParaRPr lang="fr-FR" dirty="0"/>
          </a:p>
        </p:txBody>
      </p:sp>
    </p:spTree>
    <p:extLst>
      <p:ext uri="{BB962C8B-B14F-4D97-AF65-F5344CB8AC3E}">
        <p14:creationId xmlns:p14="http://schemas.microsoft.com/office/powerpoint/2010/main" val="29858549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binaires et cardinalités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2246769"/>
          </a:xfrm>
          <a:prstGeom prst="rect">
            <a:avLst/>
          </a:prstGeom>
        </p:spPr>
        <p:txBody>
          <a:bodyPr wrap="square">
            <a:spAutoFit/>
          </a:bodyPr>
          <a:lstStyle/>
          <a:p>
            <a:pPr algn="just"/>
            <a:r>
              <a:rPr lang="fr-FR" sz="2800" u="sng" dirty="0">
                <a:latin typeface="Candara" panose="020E0502030303020204" pitchFamily="34" charset="0"/>
              </a:rPr>
              <a:t>Les associations de type « un à plusieurs »</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Souvent utilisées</a:t>
            </a:r>
          </a:p>
          <a:p>
            <a:pPr marL="457200" indent="-457200" algn="just">
              <a:buFont typeface="Wingdings" panose="05000000000000000000" pitchFamily="2" charset="2"/>
              <a:buChar char="ü"/>
            </a:pPr>
            <a:r>
              <a:rPr lang="fr-FR" sz="2800" dirty="0">
                <a:latin typeface="Candara" panose="020E0502030303020204" pitchFamily="34" charset="0"/>
              </a:rPr>
              <a:t>Le « 1 » en chiffre minimal (du côté de plusieurs) n’est pas réaliste, préférer « 0 »</a:t>
            </a:r>
          </a:p>
        </p:txBody>
      </p:sp>
      <p:sp>
        <p:nvSpPr>
          <p:cNvPr id="8" name="Rectangle 7">
            <a:extLst>
              <a:ext uri="{FF2B5EF4-FFF2-40B4-BE49-F238E27FC236}">
                <a16:creationId xmlns:a16="http://schemas.microsoft.com/office/drawing/2014/main" id="{785F6D0F-DA88-4FDC-A7B7-8BE7366685E7}"/>
              </a:ext>
            </a:extLst>
          </p:cNvPr>
          <p:cNvSpPr/>
          <p:nvPr/>
        </p:nvSpPr>
        <p:spPr>
          <a:xfrm>
            <a:off x="1185572" y="4678141"/>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4C99EBFC-5402-4DF7-83C1-A26539E45B5E}"/>
              </a:ext>
            </a:extLst>
          </p:cNvPr>
          <p:cNvCxnSpPr>
            <a:cxnSpLocks/>
          </p:cNvCxnSpPr>
          <p:nvPr/>
        </p:nvCxnSpPr>
        <p:spPr>
          <a:xfrm>
            <a:off x="1185572" y="529015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26C07D73-21D4-4023-B5C0-B04B42A1F215}"/>
              </a:ext>
            </a:extLst>
          </p:cNvPr>
          <p:cNvCxnSpPr>
            <a:cxnSpLocks/>
          </p:cNvCxnSpPr>
          <p:nvPr/>
        </p:nvCxnSpPr>
        <p:spPr>
          <a:xfrm>
            <a:off x="1185572" y="623150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FD2D1D7E-2A6E-49CC-A79C-96CF6EC847F0}"/>
              </a:ext>
            </a:extLst>
          </p:cNvPr>
          <p:cNvSpPr txBox="1"/>
          <p:nvPr/>
        </p:nvSpPr>
        <p:spPr>
          <a:xfrm>
            <a:off x="1256597" y="4801807"/>
            <a:ext cx="1318976" cy="369332"/>
          </a:xfrm>
          <a:prstGeom prst="rect">
            <a:avLst/>
          </a:prstGeom>
          <a:noFill/>
        </p:spPr>
        <p:txBody>
          <a:bodyPr wrap="square">
            <a:spAutoFit/>
          </a:bodyPr>
          <a:lstStyle/>
          <a:p>
            <a:pPr algn="ctr"/>
            <a:r>
              <a:rPr lang="fr-FR" sz="1800" dirty="0">
                <a:latin typeface="Candara" panose="020E0502030303020204" pitchFamily="34" charset="0"/>
              </a:rPr>
              <a:t>Judoka</a:t>
            </a:r>
            <a:endParaRPr lang="fr-FR" dirty="0"/>
          </a:p>
        </p:txBody>
      </p:sp>
      <p:sp>
        <p:nvSpPr>
          <p:cNvPr id="12" name="ZoneTexte 11">
            <a:extLst>
              <a:ext uri="{FF2B5EF4-FFF2-40B4-BE49-F238E27FC236}">
                <a16:creationId xmlns:a16="http://schemas.microsoft.com/office/drawing/2014/main" id="{82EC7AA2-BEDE-4296-8EE0-DEFE98F17E23}"/>
              </a:ext>
            </a:extLst>
          </p:cNvPr>
          <p:cNvSpPr txBox="1"/>
          <p:nvPr/>
        </p:nvSpPr>
        <p:spPr>
          <a:xfrm>
            <a:off x="1444375" y="5516820"/>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13" name="Rectangle 12">
            <a:extLst>
              <a:ext uri="{FF2B5EF4-FFF2-40B4-BE49-F238E27FC236}">
                <a16:creationId xmlns:a16="http://schemas.microsoft.com/office/drawing/2014/main" id="{7C772DB0-AC88-4221-A991-632906BDE1A1}"/>
              </a:ext>
            </a:extLst>
          </p:cNvPr>
          <p:cNvSpPr/>
          <p:nvPr/>
        </p:nvSpPr>
        <p:spPr>
          <a:xfrm>
            <a:off x="4309772" y="4678141"/>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4" name="Connecteur droit 13">
            <a:extLst>
              <a:ext uri="{FF2B5EF4-FFF2-40B4-BE49-F238E27FC236}">
                <a16:creationId xmlns:a16="http://schemas.microsoft.com/office/drawing/2014/main" id="{4FF30283-23F2-4EE4-8496-1C2C702DC5CE}"/>
              </a:ext>
            </a:extLst>
          </p:cNvPr>
          <p:cNvCxnSpPr>
            <a:cxnSpLocks/>
          </p:cNvCxnSpPr>
          <p:nvPr/>
        </p:nvCxnSpPr>
        <p:spPr>
          <a:xfrm>
            <a:off x="4309772" y="5290154"/>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0C115A1B-00F2-4E50-85D9-7D86C3AD5D22}"/>
              </a:ext>
            </a:extLst>
          </p:cNvPr>
          <p:cNvCxnSpPr>
            <a:cxnSpLocks/>
          </p:cNvCxnSpPr>
          <p:nvPr/>
        </p:nvCxnSpPr>
        <p:spPr>
          <a:xfrm>
            <a:off x="4309772" y="6231504"/>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A16C2F81-B0E6-45E8-B277-77D604F385DE}"/>
              </a:ext>
            </a:extLst>
          </p:cNvPr>
          <p:cNvSpPr txBox="1"/>
          <p:nvPr/>
        </p:nvSpPr>
        <p:spPr>
          <a:xfrm>
            <a:off x="4568577" y="4801807"/>
            <a:ext cx="1139010" cy="369332"/>
          </a:xfrm>
          <a:prstGeom prst="rect">
            <a:avLst/>
          </a:prstGeom>
          <a:noFill/>
        </p:spPr>
        <p:txBody>
          <a:bodyPr wrap="square">
            <a:spAutoFit/>
          </a:bodyPr>
          <a:lstStyle/>
          <a:p>
            <a:pPr algn="ctr"/>
            <a:r>
              <a:rPr lang="fr-FR" sz="1800" dirty="0">
                <a:latin typeface="Candara" panose="020E0502030303020204" pitchFamily="34" charset="0"/>
              </a:rPr>
              <a:t>Club</a:t>
            </a:r>
            <a:endParaRPr lang="fr-FR" dirty="0"/>
          </a:p>
        </p:txBody>
      </p:sp>
      <p:sp>
        <p:nvSpPr>
          <p:cNvPr id="17" name="ZoneTexte 16">
            <a:extLst>
              <a:ext uri="{FF2B5EF4-FFF2-40B4-BE49-F238E27FC236}">
                <a16:creationId xmlns:a16="http://schemas.microsoft.com/office/drawing/2014/main" id="{DBF50038-BCA5-44A3-A068-429DF82E3729}"/>
              </a:ext>
            </a:extLst>
          </p:cNvPr>
          <p:cNvSpPr txBox="1"/>
          <p:nvPr/>
        </p:nvSpPr>
        <p:spPr>
          <a:xfrm>
            <a:off x="4568575" y="5516820"/>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18" name="Connecteur droit 17">
            <a:extLst>
              <a:ext uri="{FF2B5EF4-FFF2-40B4-BE49-F238E27FC236}">
                <a16:creationId xmlns:a16="http://schemas.microsoft.com/office/drawing/2014/main" id="{2FF66260-6563-4B7E-B41D-36F1282813CF}"/>
              </a:ext>
            </a:extLst>
          </p:cNvPr>
          <p:cNvCxnSpPr>
            <a:cxnSpLocks/>
            <a:stCxn id="8" idx="3"/>
            <a:endCxn id="13" idx="1"/>
          </p:cNvCxnSpPr>
          <p:nvPr/>
        </p:nvCxnSpPr>
        <p:spPr>
          <a:xfrm>
            <a:off x="2643697" y="5653763"/>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33A3A4A7-43F8-4510-8111-331B59D468D8}"/>
              </a:ext>
            </a:extLst>
          </p:cNvPr>
          <p:cNvSpPr txBox="1"/>
          <p:nvPr/>
        </p:nvSpPr>
        <p:spPr>
          <a:xfrm>
            <a:off x="2763352" y="5200640"/>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20" name="ZoneTexte 19">
            <a:extLst>
              <a:ext uri="{FF2B5EF4-FFF2-40B4-BE49-F238E27FC236}">
                <a16:creationId xmlns:a16="http://schemas.microsoft.com/office/drawing/2014/main" id="{18B940DE-10F4-4332-8647-43636B4DDA90}"/>
              </a:ext>
            </a:extLst>
          </p:cNvPr>
          <p:cNvSpPr txBox="1"/>
          <p:nvPr/>
        </p:nvSpPr>
        <p:spPr>
          <a:xfrm>
            <a:off x="3697245" y="5200640"/>
            <a:ext cx="612527"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21" name="ZoneTexte 20">
            <a:extLst>
              <a:ext uri="{FF2B5EF4-FFF2-40B4-BE49-F238E27FC236}">
                <a16:creationId xmlns:a16="http://schemas.microsoft.com/office/drawing/2014/main" id="{B40F8582-5B3B-404C-9BC4-936730677113}"/>
              </a:ext>
            </a:extLst>
          </p:cNvPr>
          <p:cNvSpPr txBox="1"/>
          <p:nvPr/>
        </p:nvSpPr>
        <p:spPr>
          <a:xfrm>
            <a:off x="2712499" y="5674176"/>
            <a:ext cx="1458125" cy="369332"/>
          </a:xfrm>
          <a:prstGeom prst="rect">
            <a:avLst/>
          </a:prstGeom>
          <a:noFill/>
        </p:spPr>
        <p:txBody>
          <a:bodyPr wrap="square">
            <a:spAutoFit/>
          </a:bodyPr>
          <a:lstStyle/>
          <a:p>
            <a:pPr algn="ctr"/>
            <a:r>
              <a:rPr lang="fr-FR" dirty="0">
                <a:latin typeface="Candara" panose="020E0502030303020204" pitchFamily="34" charset="0"/>
              </a:rPr>
              <a:t>inscrit</a:t>
            </a:r>
            <a:endParaRPr lang="fr-FR" dirty="0"/>
          </a:p>
        </p:txBody>
      </p:sp>
      <p:sp>
        <p:nvSpPr>
          <p:cNvPr id="22" name="Rectangle 21">
            <a:extLst>
              <a:ext uri="{FF2B5EF4-FFF2-40B4-BE49-F238E27FC236}">
                <a16:creationId xmlns:a16="http://schemas.microsoft.com/office/drawing/2014/main" id="{17EDD695-963F-4EBD-95C0-4D3D379879B3}"/>
              </a:ext>
            </a:extLst>
          </p:cNvPr>
          <p:cNvSpPr/>
          <p:nvPr/>
        </p:nvSpPr>
        <p:spPr>
          <a:xfrm>
            <a:off x="6536136" y="4678141"/>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3" name="Connecteur droit 22">
            <a:extLst>
              <a:ext uri="{FF2B5EF4-FFF2-40B4-BE49-F238E27FC236}">
                <a16:creationId xmlns:a16="http://schemas.microsoft.com/office/drawing/2014/main" id="{FF8B570B-9BA1-49CD-ACAF-98FC7912BA53}"/>
              </a:ext>
            </a:extLst>
          </p:cNvPr>
          <p:cNvCxnSpPr>
            <a:cxnSpLocks/>
          </p:cNvCxnSpPr>
          <p:nvPr/>
        </p:nvCxnSpPr>
        <p:spPr>
          <a:xfrm>
            <a:off x="6536136" y="529015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302E8B77-EAC7-444A-86B3-131F7833FCA4}"/>
              </a:ext>
            </a:extLst>
          </p:cNvPr>
          <p:cNvCxnSpPr>
            <a:cxnSpLocks/>
          </p:cNvCxnSpPr>
          <p:nvPr/>
        </p:nvCxnSpPr>
        <p:spPr>
          <a:xfrm>
            <a:off x="6536136" y="623150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9023E0E8-E195-4492-AA81-4C37BED1DCB5}"/>
              </a:ext>
            </a:extLst>
          </p:cNvPr>
          <p:cNvSpPr txBox="1"/>
          <p:nvPr/>
        </p:nvSpPr>
        <p:spPr>
          <a:xfrm>
            <a:off x="6607161" y="4801807"/>
            <a:ext cx="1318976" cy="369332"/>
          </a:xfrm>
          <a:prstGeom prst="rect">
            <a:avLst/>
          </a:prstGeom>
          <a:noFill/>
        </p:spPr>
        <p:txBody>
          <a:bodyPr wrap="square">
            <a:spAutoFit/>
          </a:bodyPr>
          <a:lstStyle/>
          <a:p>
            <a:pPr algn="ctr"/>
            <a:r>
              <a:rPr lang="fr-FR" sz="1800" dirty="0">
                <a:latin typeface="Candara" panose="020E0502030303020204" pitchFamily="34" charset="0"/>
              </a:rPr>
              <a:t>Match</a:t>
            </a:r>
            <a:endParaRPr lang="fr-FR" dirty="0"/>
          </a:p>
        </p:txBody>
      </p:sp>
      <p:sp>
        <p:nvSpPr>
          <p:cNvPr id="26" name="ZoneTexte 25">
            <a:extLst>
              <a:ext uri="{FF2B5EF4-FFF2-40B4-BE49-F238E27FC236}">
                <a16:creationId xmlns:a16="http://schemas.microsoft.com/office/drawing/2014/main" id="{C4B660D6-99D0-42A3-9E42-1A58FA625077}"/>
              </a:ext>
            </a:extLst>
          </p:cNvPr>
          <p:cNvSpPr txBox="1"/>
          <p:nvPr/>
        </p:nvSpPr>
        <p:spPr>
          <a:xfrm>
            <a:off x="6794939" y="5516820"/>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27" name="Rectangle 26">
            <a:extLst>
              <a:ext uri="{FF2B5EF4-FFF2-40B4-BE49-F238E27FC236}">
                <a16:creationId xmlns:a16="http://schemas.microsoft.com/office/drawing/2014/main" id="{94B4ADD6-ECC1-426D-AC52-04945BEC2434}"/>
              </a:ext>
            </a:extLst>
          </p:cNvPr>
          <p:cNvSpPr/>
          <p:nvPr/>
        </p:nvSpPr>
        <p:spPr>
          <a:xfrm>
            <a:off x="9660336" y="4678141"/>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2A840D64-A11B-4DF0-BDFF-33614FC711C0}"/>
              </a:ext>
            </a:extLst>
          </p:cNvPr>
          <p:cNvCxnSpPr>
            <a:cxnSpLocks/>
          </p:cNvCxnSpPr>
          <p:nvPr/>
        </p:nvCxnSpPr>
        <p:spPr>
          <a:xfrm>
            <a:off x="9660336" y="5290154"/>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B42880C4-BC66-46AC-9521-BA893C995EF9}"/>
              </a:ext>
            </a:extLst>
          </p:cNvPr>
          <p:cNvCxnSpPr>
            <a:cxnSpLocks/>
          </p:cNvCxnSpPr>
          <p:nvPr/>
        </p:nvCxnSpPr>
        <p:spPr>
          <a:xfrm>
            <a:off x="9660336" y="6231504"/>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6F22C1E3-E9B6-4B6C-9149-4AD70A1F2BD0}"/>
              </a:ext>
            </a:extLst>
          </p:cNvPr>
          <p:cNvSpPr txBox="1"/>
          <p:nvPr/>
        </p:nvSpPr>
        <p:spPr>
          <a:xfrm>
            <a:off x="9919141" y="4801807"/>
            <a:ext cx="1139010" cy="369332"/>
          </a:xfrm>
          <a:prstGeom prst="rect">
            <a:avLst/>
          </a:prstGeom>
          <a:noFill/>
        </p:spPr>
        <p:txBody>
          <a:bodyPr wrap="square">
            <a:spAutoFit/>
          </a:bodyPr>
          <a:lstStyle/>
          <a:p>
            <a:pPr algn="ctr"/>
            <a:r>
              <a:rPr lang="fr-FR" sz="1800" dirty="0">
                <a:latin typeface="Candara" panose="020E0502030303020204" pitchFamily="34" charset="0"/>
              </a:rPr>
              <a:t>Stade</a:t>
            </a:r>
            <a:endParaRPr lang="fr-FR" dirty="0"/>
          </a:p>
        </p:txBody>
      </p:sp>
      <p:sp>
        <p:nvSpPr>
          <p:cNvPr id="31" name="ZoneTexte 30">
            <a:extLst>
              <a:ext uri="{FF2B5EF4-FFF2-40B4-BE49-F238E27FC236}">
                <a16:creationId xmlns:a16="http://schemas.microsoft.com/office/drawing/2014/main" id="{DC4379FC-DFB9-49CE-BC6B-D971B7588D40}"/>
              </a:ext>
            </a:extLst>
          </p:cNvPr>
          <p:cNvSpPr txBox="1"/>
          <p:nvPr/>
        </p:nvSpPr>
        <p:spPr>
          <a:xfrm>
            <a:off x="9919139" y="5516820"/>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32" name="Connecteur droit 31">
            <a:extLst>
              <a:ext uri="{FF2B5EF4-FFF2-40B4-BE49-F238E27FC236}">
                <a16:creationId xmlns:a16="http://schemas.microsoft.com/office/drawing/2014/main" id="{8B76B592-9817-459E-95D4-FC85EAC0825E}"/>
              </a:ext>
            </a:extLst>
          </p:cNvPr>
          <p:cNvCxnSpPr>
            <a:cxnSpLocks/>
            <a:stCxn id="22" idx="3"/>
            <a:endCxn id="27" idx="1"/>
          </p:cNvCxnSpPr>
          <p:nvPr/>
        </p:nvCxnSpPr>
        <p:spPr>
          <a:xfrm>
            <a:off x="7994261" y="5653763"/>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93612614-689C-4D5A-B92B-62E5B00499CF}"/>
              </a:ext>
            </a:extLst>
          </p:cNvPr>
          <p:cNvSpPr txBox="1"/>
          <p:nvPr/>
        </p:nvSpPr>
        <p:spPr>
          <a:xfrm>
            <a:off x="8113916" y="5200640"/>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34" name="ZoneTexte 33">
            <a:extLst>
              <a:ext uri="{FF2B5EF4-FFF2-40B4-BE49-F238E27FC236}">
                <a16:creationId xmlns:a16="http://schemas.microsoft.com/office/drawing/2014/main" id="{43BE7A87-C239-449B-96DE-2FFCB6A9298E}"/>
              </a:ext>
            </a:extLst>
          </p:cNvPr>
          <p:cNvSpPr txBox="1"/>
          <p:nvPr/>
        </p:nvSpPr>
        <p:spPr>
          <a:xfrm>
            <a:off x="9047809" y="5200640"/>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35" name="ZoneTexte 34">
            <a:extLst>
              <a:ext uri="{FF2B5EF4-FFF2-40B4-BE49-F238E27FC236}">
                <a16:creationId xmlns:a16="http://schemas.microsoft.com/office/drawing/2014/main" id="{DD3B3E75-8205-4B9D-8D83-E6663E966D11}"/>
              </a:ext>
            </a:extLst>
          </p:cNvPr>
          <p:cNvSpPr txBox="1"/>
          <p:nvPr/>
        </p:nvSpPr>
        <p:spPr>
          <a:xfrm>
            <a:off x="8063063" y="5674176"/>
            <a:ext cx="1458125" cy="369332"/>
          </a:xfrm>
          <a:prstGeom prst="rect">
            <a:avLst/>
          </a:prstGeom>
          <a:noFill/>
        </p:spPr>
        <p:txBody>
          <a:bodyPr wrap="square">
            <a:spAutoFit/>
          </a:bodyPr>
          <a:lstStyle/>
          <a:p>
            <a:pPr algn="ctr"/>
            <a:r>
              <a:rPr lang="fr-FR" dirty="0">
                <a:latin typeface="Candara" panose="020E0502030303020204" pitchFamily="34" charset="0"/>
              </a:rPr>
              <a:t>Se jouer</a:t>
            </a:r>
            <a:endParaRPr lang="fr-FR" dirty="0"/>
          </a:p>
        </p:txBody>
      </p:sp>
    </p:spTree>
    <p:extLst>
      <p:ext uri="{BB962C8B-B14F-4D97-AF65-F5344CB8AC3E}">
        <p14:creationId xmlns:p14="http://schemas.microsoft.com/office/powerpoint/2010/main" val="17960417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binaires et cardinalités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6106442" cy="3970318"/>
          </a:xfrm>
          <a:prstGeom prst="rect">
            <a:avLst/>
          </a:prstGeom>
        </p:spPr>
        <p:txBody>
          <a:bodyPr wrap="square">
            <a:spAutoFit/>
          </a:bodyPr>
          <a:lstStyle/>
          <a:p>
            <a:pPr algn="just"/>
            <a:r>
              <a:rPr lang="fr-FR" sz="2800" u="sng" dirty="0">
                <a:latin typeface="Candara" panose="020E0502030303020204" pitchFamily="34" charset="0"/>
              </a:rPr>
              <a:t>Les associations de type « plusieurs à plusieurs »</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Couples sans doublons</a:t>
            </a:r>
          </a:p>
          <a:p>
            <a:pPr marL="457200" indent="-457200" algn="just">
              <a:buFont typeface="Wingdings" panose="05000000000000000000" pitchFamily="2" charset="2"/>
              <a:buChar char="ü"/>
            </a:pPr>
            <a:r>
              <a:rPr lang="fr-FR" sz="2800" dirty="0">
                <a:latin typeface="Candara" panose="020E0502030303020204" pitchFamily="34" charset="0"/>
              </a:rPr>
              <a:t>Lien entre deux classes</a:t>
            </a:r>
          </a:p>
          <a:p>
            <a:pPr marL="457200" indent="-457200" algn="just">
              <a:buFont typeface="Wingdings" panose="05000000000000000000" pitchFamily="2" charset="2"/>
              <a:buChar char="ü"/>
            </a:pPr>
            <a:r>
              <a:rPr lang="fr-FR" sz="2800" dirty="0">
                <a:latin typeface="Candara" panose="020E0502030303020204" pitchFamily="34" charset="0"/>
              </a:rPr>
              <a:t>Classe-association :</a:t>
            </a:r>
          </a:p>
          <a:p>
            <a:pPr marL="914400" lvl="1" indent="-457200" algn="just">
              <a:buFont typeface="Wingdings" panose="05000000000000000000" pitchFamily="2" charset="2"/>
              <a:buChar char="ü"/>
            </a:pPr>
            <a:r>
              <a:rPr lang="fr-FR" sz="2800" dirty="0">
                <a:latin typeface="Candara" panose="020E0502030303020204" pitchFamily="34" charset="0"/>
              </a:rPr>
              <a:t>Rattachée à un lien de ce type</a:t>
            </a:r>
          </a:p>
          <a:p>
            <a:pPr marL="914400" lvl="1" indent="-457200" algn="just">
              <a:buFont typeface="Wingdings" panose="05000000000000000000" pitchFamily="2" charset="2"/>
              <a:buChar char="ü"/>
            </a:pPr>
            <a:r>
              <a:rPr lang="fr-FR" sz="2800" dirty="0">
                <a:latin typeface="Candara" panose="020E0502030303020204" pitchFamily="34" charset="0"/>
              </a:rPr>
              <a:t>Attribut possible mais pas </a:t>
            </a:r>
            <a:r>
              <a:rPr lang="fr-FR" sz="2800" dirty="0" err="1">
                <a:latin typeface="Candara" panose="020E0502030303020204" pitchFamily="34" charset="0"/>
              </a:rPr>
              <a:t>d’id</a:t>
            </a:r>
            <a:endParaRPr lang="fr-FR" sz="2800" dirty="0">
              <a:latin typeface="Candara" panose="020E0502030303020204" pitchFamily="34" charset="0"/>
            </a:endParaRPr>
          </a:p>
          <a:p>
            <a:pPr marL="914400" lvl="1" indent="-457200" algn="just">
              <a:buFont typeface="Wingdings" panose="05000000000000000000" pitchFamily="2" charset="2"/>
              <a:buChar char="ü"/>
            </a:pPr>
            <a:r>
              <a:rPr lang="fr-FR" sz="2800" dirty="0">
                <a:latin typeface="Candara" panose="020E0502030303020204" pitchFamily="34" charset="0"/>
              </a:rPr>
              <a:t>Peut être reliée à d’autres classes</a:t>
            </a:r>
          </a:p>
        </p:txBody>
      </p:sp>
      <p:sp>
        <p:nvSpPr>
          <p:cNvPr id="22" name="Rectangle 21">
            <a:extLst>
              <a:ext uri="{FF2B5EF4-FFF2-40B4-BE49-F238E27FC236}">
                <a16:creationId xmlns:a16="http://schemas.microsoft.com/office/drawing/2014/main" id="{17EDD695-963F-4EBD-95C0-4D3D379879B3}"/>
              </a:ext>
            </a:extLst>
          </p:cNvPr>
          <p:cNvSpPr/>
          <p:nvPr/>
        </p:nvSpPr>
        <p:spPr>
          <a:xfrm>
            <a:off x="7107734" y="2070850"/>
            <a:ext cx="1458125" cy="1080724"/>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3" name="Connecteur droit 22">
            <a:extLst>
              <a:ext uri="{FF2B5EF4-FFF2-40B4-BE49-F238E27FC236}">
                <a16:creationId xmlns:a16="http://schemas.microsoft.com/office/drawing/2014/main" id="{FF8B570B-9BA1-49CD-ACAF-98FC7912BA53}"/>
              </a:ext>
            </a:extLst>
          </p:cNvPr>
          <p:cNvCxnSpPr>
            <a:cxnSpLocks/>
          </p:cNvCxnSpPr>
          <p:nvPr/>
        </p:nvCxnSpPr>
        <p:spPr>
          <a:xfrm>
            <a:off x="7107734" y="2487551"/>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302E8B77-EAC7-444A-86B3-131F7833FCA4}"/>
              </a:ext>
            </a:extLst>
          </p:cNvPr>
          <p:cNvCxnSpPr>
            <a:cxnSpLocks/>
          </p:cNvCxnSpPr>
          <p:nvPr/>
        </p:nvCxnSpPr>
        <p:spPr>
          <a:xfrm>
            <a:off x="7107734" y="2976139"/>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9023E0E8-E195-4492-AA81-4C37BED1DCB5}"/>
              </a:ext>
            </a:extLst>
          </p:cNvPr>
          <p:cNvSpPr txBox="1"/>
          <p:nvPr/>
        </p:nvSpPr>
        <p:spPr>
          <a:xfrm>
            <a:off x="7178759" y="2087981"/>
            <a:ext cx="1318976" cy="369332"/>
          </a:xfrm>
          <a:prstGeom prst="rect">
            <a:avLst/>
          </a:prstGeom>
          <a:noFill/>
        </p:spPr>
        <p:txBody>
          <a:bodyPr wrap="square">
            <a:spAutoFit/>
          </a:bodyPr>
          <a:lstStyle/>
          <a:p>
            <a:pPr algn="ctr"/>
            <a:r>
              <a:rPr lang="fr-FR" sz="1800" dirty="0">
                <a:latin typeface="Candara" panose="020E0502030303020204" pitchFamily="34" charset="0"/>
              </a:rPr>
              <a:t>Match</a:t>
            </a:r>
            <a:endParaRPr lang="fr-FR" dirty="0"/>
          </a:p>
        </p:txBody>
      </p:sp>
      <p:sp>
        <p:nvSpPr>
          <p:cNvPr id="26" name="ZoneTexte 25">
            <a:extLst>
              <a:ext uri="{FF2B5EF4-FFF2-40B4-BE49-F238E27FC236}">
                <a16:creationId xmlns:a16="http://schemas.microsoft.com/office/drawing/2014/main" id="{C4B660D6-99D0-42A3-9E42-1A58FA625077}"/>
              </a:ext>
            </a:extLst>
          </p:cNvPr>
          <p:cNvSpPr txBox="1"/>
          <p:nvPr/>
        </p:nvSpPr>
        <p:spPr>
          <a:xfrm>
            <a:off x="7366537" y="2536665"/>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27" name="Rectangle 26">
            <a:extLst>
              <a:ext uri="{FF2B5EF4-FFF2-40B4-BE49-F238E27FC236}">
                <a16:creationId xmlns:a16="http://schemas.microsoft.com/office/drawing/2014/main" id="{94B4ADD6-ECC1-426D-AC52-04945BEC2434}"/>
              </a:ext>
            </a:extLst>
          </p:cNvPr>
          <p:cNvSpPr/>
          <p:nvPr/>
        </p:nvSpPr>
        <p:spPr>
          <a:xfrm>
            <a:off x="10231934" y="2070849"/>
            <a:ext cx="1613837" cy="1080725"/>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2A840D64-A11B-4DF0-BDFF-33614FC711C0}"/>
              </a:ext>
            </a:extLst>
          </p:cNvPr>
          <p:cNvCxnSpPr>
            <a:cxnSpLocks/>
          </p:cNvCxnSpPr>
          <p:nvPr/>
        </p:nvCxnSpPr>
        <p:spPr>
          <a:xfrm>
            <a:off x="10231934" y="2469796"/>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B42880C4-BC66-46AC-9521-BA893C995EF9}"/>
              </a:ext>
            </a:extLst>
          </p:cNvPr>
          <p:cNvCxnSpPr>
            <a:cxnSpLocks/>
          </p:cNvCxnSpPr>
          <p:nvPr/>
        </p:nvCxnSpPr>
        <p:spPr>
          <a:xfrm>
            <a:off x="10231934" y="2993890"/>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6F22C1E3-E9B6-4B6C-9149-4AD70A1F2BD0}"/>
              </a:ext>
            </a:extLst>
          </p:cNvPr>
          <p:cNvSpPr txBox="1"/>
          <p:nvPr/>
        </p:nvSpPr>
        <p:spPr>
          <a:xfrm>
            <a:off x="10490739" y="2087980"/>
            <a:ext cx="1139010" cy="369332"/>
          </a:xfrm>
          <a:prstGeom prst="rect">
            <a:avLst/>
          </a:prstGeom>
          <a:noFill/>
        </p:spPr>
        <p:txBody>
          <a:bodyPr wrap="square">
            <a:spAutoFit/>
          </a:bodyPr>
          <a:lstStyle/>
          <a:p>
            <a:pPr algn="ctr"/>
            <a:r>
              <a:rPr lang="fr-FR" sz="1800" dirty="0" err="1">
                <a:latin typeface="Candara" panose="020E0502030303020204" pitchFamily="34" charset="0"/>
              </a:rPr>
              <a:t>ChaineTV</a:t>
            </a:r>
            <a:endParaRPr lang="fr-FR" dirty="0"/>
          </a:p>
        </p:txBody>
      </p:sp>
      <p:sp>
        <p:nvSpPr>
          <p:cNvPr id="31" name="ZoneTexte 30">
            <a:extLst>
              <a:ext uri="{FF2B5EF4-FFF2-40B4-BE49-F238E27FC236}">
                <a16:creationId xmlns:a16="http://schemas.microsoft.com/office/drawing/2014/main" id="{DC4379FC-DFB9-49CE-BC6B-D971B7588D40}"/>
              </a:ext>
            </a:extLst>
          </p:cNvPr>
          <p:cNvSpPr txBox="1"/>
          <p:nvPr/>
        </p:nvSpPr>
        <p:spPr>
          <a:xfrm>
            <a:off x="10490737" y="2527792"/>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32" name="Connecteur droit 31">
            <a:extLst>
              <a:ext uri="{FF2B5EF4-FFF2-40B4-BE49-F238E27FC236}">
                <a16:creationId xmlns:a16="http://schemas.microsoft.com/office/drawing/2014/main" id="{8B76B592-9817-459E-95D4-FC85EAC0825E}"/>
              </a:ext>
            </a:extLst>
          </p:cNvPr>
          <p:cNvCxnSpPr>
            <a:cxnSpLocks/>
            <a:stCxn id="22" idx="3"/>
            <a:endCxn id="27" idx="1"/>
          </p:cNvCxnSpPr>
          <p:nvPr/>
        </p:nvCxnSpPr>
        <p:spPr>
          <a:xfrm>
            <a:off x="8565859" y="2611212"/>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93612614-689C-4D5A-B92B-62E5B00499CF}"/>
              </a:ext>
            </a:extLst>
          </p:cNvPr>
          <p:cNvSpPr txBox="1"/>
          <p:nvPr/>
        </p:nvSpPr>
        <p:spPr>
          <a:xfrm>
            <a:off x="8685514" y="2593348"/>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34" name="ZoneTexte 33">
            <a:extLst>
              <a:ext uri="{FF2B5EF4-FFF2-40B4-BE49-F238E27FC236}">
                <a16:creationId xmlns:a16="http://schemas.microsoft.com/office/drawing/2014/main" id="{43BE7A87-C239-449B-96DE-2FFCB6A9298E}"/>
              </a:ext>
            </a:extLst>
          </p:cNvPr>
          <p:cNvSpPr txBox="1"/>
          <p:nvPr/>
        </p:nvSpPr>
        <p:spPr>
          <a:xfrm>
            <a:off x="9619407" y="2593348"/>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35" name="ZoneTexte 34">
            <a:extLst>
              <a:ext uri="{FF2B5EF4-FFF2-40B4-BE49-F238E27FC236}">
                <a16:creationId xmlns:a16="http://schemas.microsoft.com/office/drawing/2014/main" id="{DD3B3E75-8205-4B9D-8D83-E6663E966D11}"/>
              </a:ext>
            </a:extLst>
          </p:cNvPr>
          <p:cNvSpPr txBox="1"/>
          <p:nvPr/>
        </p:nvSpPr>
        <p:spPr>
          <a:xfrm>
            <a:off x="8669834" y="2217466"/>
            <a:ext cx="1458125" cy="338554"/>
          </a:xfrm>
          <a:prstGeom prst="rect">
            <a:avLst/>
          </a:prstGeom>
          <a:noFill/>
        </p:spPr>
        <p:txBody>
          <a:bodyPr wrap="square">
            <a:spAutoFit/>
          </a:bodyPr>
          <a:lstStyle/>
          <a:p>
            <a:pPr algn="ctr"/>
            <a:r>
              <a:rPr lang="fr-FR" sz="1600" dirty="0">
                <a:latin typeface="Candara" panose="020E0502030303020204" pitchFamily="34" charset="0"/>
              </a:rPr>
              <a:t>Retransmettre</a:t>
            </a:r>
            <a:endParaRPr lang="fr-FR" sz="1600" dirty="0"/>
          </a:p>
        </p:txBody>
      </p:sp>
      <p:sp>
        <p:nvSpPr>
          <p:cNvPr id="52" name="Rectangle 51">
            <a:extLst>
              <a:ext uri="{FF2B5EF4-FFF2-40B4-BE49-F238E27FC236}">
                <a16:creationId xmlns:a16="http://schemas.microsoft.com/office/drawing/2014/main" id="{4BC91321-D069-43F8-896E-AA5FE5367272}"/>
              </a:ext>
            </a:extLst>
          </p:cNvPr>
          <p:cNvSpPr/>
          <p:nvPr/>
        </p:nvSpPr>
        <p:spPr>
          <a:xfrm>
            <a:off x="7107734" y="3568276"/>
            <a:ext cx="1458125" cy="1080724"/>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3" name="Connecteur droit 52">
            <a:extLst>
              <a:ext uri="{FF2B5EF4-FFF2-40B4-BE49-F238E27FC236}">
                <a16:creationId xmlns:a16="http://schemas.microsoft.com/office/drawing/2014/main" id="{D600C3F2-EC6B-4714-8A20-14228224807B}"/>
              </a:ext>
            </a:extLst>
          </p:cNvPr>
          <p:cNvCxnSpPr>
            <a:cxnSpLocks/>
          </p:cNvCxnSpPr>
          <p:nvPr/>
        </p:nvCxnSpPr>
        <p:spPr>
          <a:xfrm>
            <a:off x="7107734" y="398497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8F387BAB-C67A-47D3-A10D-927F0D98E3D0}"/>
              </a:ext>
            </a:extLst>
          </p:cNvPr>
          <p:cNvCxnSpPr>
            <a:cxnSpLocks/>
          </p:cNvCxnSpPr>
          <p:nvPr/>
        </p:nvCxnSpPr>
        <p:spPr>
          <a:xfrm>
            <a:off x="7107734" y="4473565"/>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1499EB1A-6F69-420F-A04E-747931CCA109}"/>
              </a:ext>
            </a:extLst>
          </p:cNvPr>
          <p:cNvSpPr txBox="1"/>
          <p:nvPr/>
        </p:nvSpPr>
        <p:spPr>
          <a:xfrm>
            <a:off x="7178759" y="3585407"/>
            <a:ext cx="1318976" cy="369332"/>
          </a:xfrm>
          <a:prstGeom prst="rect">
            <a:avLst/>
          </a:prstGeom>
          <a:noFill/>
        </p:spPr>
        <p:txBody>
          <a:bodyPr wrap="square">
            <a:spAutoFit/>
          </a:bodyPr>
          <a:lstStyle/>
          <a:p>
            <a:pPr algn="ctr"/>
            <a:r>
              <a:rPr lang="fr-FR" sz="1800" dirty="0">
                <a:latin typeface="Candara" panose="020E0502030303020204" pitchFamily="34" charset="0"/>
              </a:rPr>
              <a:t>Match</a:t>
            </a:r>
            <a:endParaRPr lang="fr-FR" dirty="0"/>
          </a:p>
        </p:txBody>
      </p:sp>
      <p:sp>
        <p:nvSpPr>
          <p:cNvPr id="56" name="ZoneTexte 55">
            <a:extLst>
              <a:ext uri="{FF2B5EF4-FFF2-40B4-BE49-F238E27FC236}">
                <a16:creationId xmlns:a16="http://schemas.microsoft.com/office/drawing/2014/main" id="{72571FB9-E595-46B2-AA8A-D5E853346675}"/>
              </a:ext>
            </a:extLst>
          </p:cNvPr>
          <p:cNvSpPr txBox="1"/>
          <p:nvPr/>
        </p:nvSpPr>
        <p:spPr>
          <a:xfrm>
            <a:off x="7366537" y="4034091"/>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57" name="Rectangle 56">
            <a:extLst>
              <a:ext uri="{FF2B5EF4-FFF2-40B4-BE49-F238E27FC236}">
                <a16:creationId xmlns:a16="http://schemas.microsoft.com/office/drawing/2014/main" id="{049724E1-5B00-41AC-97D1-92BC7AF4113C}"/>
              </a:ext>
            </a:extLst>
          </p:cNvPr>
          <p:cNvSpPr/>
          <p:nvPr/>
        </p:nvSpPr>
        <p:spPr>
          <a:xfrm>
            <a:off x="10231934" y="3568275"/>
            <a:ext cx="1613837" cy="1080725"/>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8" name="Connecteur droit 57">
            <a:extLst>
              <a:ext uri="{FF2B5EF4-FFF2-40B4-BE49-F238E27FC236}">
                <a16:creationId xmlns:a16="http://schemas.microsoft.com/office/drawing/2014/main" id="{85973493-1030-4886-8BF1-BC39B74739A6}"/>
              </a:ext>
            </a:extLst>
          </p:cNvPr>
          <p:cNvCxnSpPr>
            <a:cxnSpLocks/>
          </p:cNvCxnSpPr>
          <p:nvPr/>
        </p:nvCxnSpPr>
        <p:spPr>
          <a:xfrm>
            <a:off x="10231934" y="3967222"/>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098A86D0-3C04-4E15-9B43-CB95C2EFA5A7}"/>
              </a:ext>
            </a:extLst>
          </p:cNvPr>
          <p:cNvCxnSpPr>
            <a:cxnSpLocks/>
          </p:cNvCxnSpPr>
          <p:nvPr/>
        </p:nvCxnSpPr>
        <p:spPr>
          <a:xfrm>
            <a:off x="10231934" y="4491316"/>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ZoneTexte 59">
            <a:extLst>
              <a:ext uri="{FF2B5EF4-FFF2-40B4-BE49-F238E27FC236}">
                <a16:creationId xmlns:a16="http://schemas.microsoft.com/office/drawing/2014/main" id="{E1BC8730-3F16-4B6E-BC9B-64CF79E7BDE8}"/>
              </a:ext>
            </a:extLst>
          </p:cNvPr>
          <p:cNvSpPr txBox="1"/>
          <p:nvPr/>
        </p:nvSpPr>
        <p:spPr>
          <a:xfrm>
            <a:off x="10490739" y="3585406"/>
            <a:ext cx="1139010" cy="369332"/>
          </a:xfrm>
          <a:prstGeom prst="rect">
            <a:avLst/>
          </a:prstGeom>
          <a:noFill/>
        </p:spPr>
        <p:txBody>
          <a:bodyPr wrap="square">
            <a:spAutoFit/>
          </a:bodyPr>
          <a:lstStyle/>
          <a:p>
            <a:pPr algn="ctr"/>
            <a:r>
              <a:rPr lang="fr-FR" sz="1800" dirty="0" err="1">
                <a:latin typeface="Candara" panose="020E0502030303020204" pitchFamily="34" charset="0"/>
              </a:rPr>
              <a:t>ChaineTV</a:t>
            </a:r>
            <a:endParaRPr lang="fr-FR" dirty="0"/>
          </a:p>
        </p:txBody>
      </p:sp>
      <p:sp>
        <p:nvSpPr>
          <p:cNvPr id="61" name="ZoneTexte 60">
            <a:extLst>
              <a:ext uri="{FF2B5EF4-FFF2-40B4-BE49-F238E27FC236}">
                <a16:creationId xmlns:a16="http://schemas.microsoft.com/office/drawing/2014/main" id="{E6DC4EEB-01D5-4F2D-A234-236AD67013A2}"/>
              </a:ext>
            </a:extLst>
          </p:cNvPr>
          <p:cNvSpPr txBox="1"/>
          <p:nvPr/>
        </p:nvSpPr>
        <p:spPr>
          <a:xfrm>
            <a:off x="10490737" y="4025218"/>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62" name="Connecteur droit 61">
            <a:extLst>
              <a:ext uri="{FF2B5EF4-FFF2-40B4-BE49-F238E27FC236}">
                <a16:creationId xmlns:a16="http://schemas.microsoft.com/office/drawing/2014/main" id="{D75E4582-81D6-454E-9440-9658139297CB}"/>
              </a:ext>
            </a:extLst>
          </p:cNvPr>
          <p:cNvCxnSpPr>
            <a:cxnSpLocks/>
            <a:stCxn id="52" idx="3"/>
            <a:endCxn id="57" idx="1"/>
          </p:cNvCxnSpPr>
          <p:nvPr/>
        </p:nvCxnSpPr>
        <p:spPr>
          <a:xfrm>
            <a:off x="8565859" y="4108638"/>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975E943E-2F77-45FA-A905-0070330E9BBF}"/>
              </a:ext>
            </a:extLst>
          </p:cNvPr>
          <p:cNvSpPr txBox="1"/>
          <p:nvPr/>
        </p:nvSpPr>
        <p:spPr>
          <a:xfrm>
            <a:off x="8685514" y="4090774"/>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64" name="ZoneTexte 63">
            <a:extLst>
              <a:ext uri="{FF2B5EF4-FFF2-40B4-BE49-F238E27FC236}">
                <a16:creationId xmlns:a16="http://schemas.microsoft.com/office/drawing/2014/main" id="{44522793-A443-44F9-B5FD-64A1DB399E90}"/>
              </a:ext>
            </a:extLst>
          </p:cNvPr>
          <p:cNvSpPr txBox="1"/>
          <p:nvPr/>
        </p:nvSpPr>
        <p:spPr>
          <a:xfrm>
            <a:off x="9619407" y="4090774"/>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66" name="Rectangle 65">
            <a:extLst>
              <a:ext uri="{FF2B5EF4-FFF2-40B4-BE49-F238E27FC236}">
                <a16:creationId xmlns:a16="http://schemas.microsoft.com/office/drawing/2014/main" id="{63256197-2E83-4774-A5E5-47E37675F2A5}"/>
              </a:ext>
            </a:extLst>
          </p:cNvPr>
          <p:cNvSpPr/>
          <p:nvPr/>
        </p:nvSpPr>
        <p:spPr>
          <a:xfrm>
            <a:off x="8614737" y="5000468"/>
            <a:ext cx="1613837" cy="1080725"/>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67" name="Connecteur droit 66">
            <a:extLst>
              <a:ext uri="{FF2B5EF4-FFF2-40B4-BE49-F238E27FC236}">
                <a16:creationId xmlns:a16="http://schemas.microsoft.com/office/drawing/2014/main" id="{C19DC808-5EF0-45CC-83A4-876CF4012790}"/>
              </a:ext>
            </a:extLst>
          </p:cNvPr>
          <p:cNvCxnSpPr>
            <a:cxnSpLocks/>
          </p:cNvCxnSpPr>
          <p:nvPr/>
        </p:nvCxnSpPr>
        <p:spPr>
          <a:xfrm>
            <a:off x="8614737" y="5399415"/>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73F95B32-98CF-459E-BC80-FB240FF466CE}"/>
              </a:ext>
            </a:extLst>
          </p:cNvPr>
          <p:cNvCxnSpPr>
            <a:cxnSpLocks/>
          </p:cNvCxnSpPr>
          <p:nvPr/>
        </p:nvCxnSpPr>
        <p:spPr>
          <a:xfrm>
            <a:off x="8614737" y="5923509"/>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ZoneTexte 68">
            <a:extLst>
              <a:ext uri="{FF2B5EF4-FFF2-40B4-BE49-F238E27FC236}">
                <a16:creationId xmlns:a16="http://schemas.microsoft.com/office/drawing/2014/main" id="{33183A9A-CD72-4381-A6AA-F3400618440C}"/>
              </a:ext>
            </a:extLst>
          </p:cNvPr>
          <p:cNvSpPr txBox="1"/>
          <p:nvPr/>
        </p:nvSpPr>
        <p:spPr>
          <a:xfrm>
            <a:off x="8650002" y="5017599"/>
            <a:ext cx="1543060" cy="338554"/>
          </a:xfrm>
          <a:prstGeom prst="rect">
            <a:avLst/>
          </a:prstGeom>
          <a:noFill/>
        </p:spPr>
        <p:txBody>
          <a:bodyPr wrap="square">
            <a:spAutoFit/>
          </a:bodyPr>
          <a:lstStyle/>
          <a:p>
            <a:pPr algn="ctr"/>
            <a:r>
              <a:rPr lang="fr-FR" sz="1600" dirty="0">
                <a:latin typeface="Candara" panose="020E0502030303020204" pitchFamily="34" charset="0"/>
              </a:rPr>
              <a:t>Retransmission</a:t>
            </a:r>
            <a:endParaRPr lang="fr-FR" sz="1600" dirty="0"/>
          </a:p>
        </p:txBody>
      </p:sp>
      <p:sp>
        <p:nvSpPr>
          <p:cNvPr id="70" name="ZoneTexte 69">
            <a:extLst>
              <a:ext uri="{FF2B5EF4-FFF2-40B4-BE49-F238E27FC236}">
                <a16:creationId xmlns:a16="http://schemas.microsoft.com/office/drawing/2014/main" id="{0BCD8B94-1B89-4AA3-BA76-FCD7F02424E8}"/>
              </a:ext>
            </a:extLst>
          </p:cNvPr>
          <p:cNvSpPr txBox="1"/>
          <p:nvPr/>
        </p:nvSpPr>
        <p:spPr>
          <a:xfrm>
            <a:off x="8873540" y="5457411"/>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72" name="Connecteur droit 71">
            <a:extLst>
              <a:ext uri="{FF2B5EF4-FFF2-40B4-BE49-F238E27FC236}">
                <a16:creationId xmlns:a16="http://schemas.microsoft.com/office/drawing/2014/main" id="{B8B244E5-2E78-43B3-ADA7-9DFE20551A96}"/>
              </a:ext>
            </a:extLst>
          </p:cNvPr>
          <p:cNvCxnSpPr/>
          <p:nvPr/>
        </p:nvCxnSpPr>
        <p:spPr>
          <a:xfrm>
            <a:off x="9397431" y="4177289"/>
            <a:ext cx="0" cy="2828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10C0E430-3A9F-4904-9AD2-3ACB12EE9DBE}"/>
              </a:ext>
            </a:extLst>
          </p:cNvPr>
          <p:cNvCxnSpPr/>
          <p:nvPr/>
        </p:nvCxnSpPr>
        <p:spPr>
          <a:xfrm>
            <a:off x="9397430" y="4677558"/>
            <a:ext cx="0" cy="28281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0049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binaires et cardinalités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6106442" cy="3108543"/>
          </a:xfrm>
          <a:prstGeom prst="rect">
            <a:avLst/>
          </a:prstGeom>
        </p:spPr>
        <p:txBody>
          <a:bodyPr wrap="square">
            <a:spAutoFit/>
          </a:bodyPr>
          <a:lstStyle/>
          <a:p>
            <a:pPr algn="just"/>
            <a:r>
              <a:rPr lang="fr-FR" sz="2800" u="sng" dirty="0">
                <a:latin typeface="Candara" panose="020E0502030303020204" pitchFamily="34" charset="0"/>
              </a:rPr>
              <a:t>Les associations de type « plusieurs à plusieurs »</a:t>
            </a:r>
          </a:p>
          <a:p>
            <a:pPr algn="just"/>
            <a:endParaRPr lang="fr-FR" sz="2800" dirty="0">
              <a:latin typeface="Candara" panose="020E0502030303020204" pitchFamily="34" charset="0"/>
            </a:endParaRPr>
          </a:p>
          <a:p>
            <a:pPr marL="457200" indent="-457200" algn="just">
              <a:buFont typeface="Wingdings" panose="05000000000000000000" pitchFamily="2" charset="2"/>
              <a:buChar char="ü"/>
            </a:pPr>
            <a:r>
              <a:rPr lang="fr-FR" sz="2800" dirty="0">
                <a:latin typeface="Candara" panose="020E0502030303020204" pitchFamily="34" charset="0"/>
              </a:rPr>
              <a:t>Couples avec doublons</a:t>
            </a:r>
          </a:p>
          <a:p>
            <a:pPr marL="457200" indent="-457200" algn="just">
              <a:buFont typeface="Wingdings" panose="05000000000000000000" pitchFamily="2" charset="2"/>
              <a:buChar char="ü"/>
            </a:pPr>
            <a:r>
              <a:rPr lang="fr-FR" sz="2800" dirty="0">
                <a:latin typeface="Candara" panose="020E0502030303020204" pitchFamily="34" charset="0"/>
              </a:rPr>
              <a:t>Classe centrale :</a:t>
            </a:r>
          </a:p>
          <a:p>
            <a:pPr marL="914400" lvl="1" indent="-457200" algn="just">
              <a:buFont typeface="Wingdings" panose="05000000000000000000" pitchFamily="2" charset="2"/>
              <a:buChar char="ü"/>
            </a:pPr>
            <a:r>
              <a:rPr lang="fr-FR" sz="2800" dirty="0">
                <a:latin typeface="Candara" panose="020E0502030303020204" pitchFamily="34" charset="0"/>
              </a:rPr>
              <a:t>Rattachée aux deux autres</a:t>
            </a:r>
          </a:p>
          <a:p>
            <a:pPr marL="914400" lvl="1" indent="-457200" algn="just">
              <a:buFont typeface="Wingdings" panose="05000000000000000000" pitchFamily="2" charset="2"/>
              <a:buChar char="ü"/>
            </a:pPr>
            <a:r>
              <a:rPr lang="fr-FR" sz="2800" dirty="0">
                <a:latin typeface="Candara" panose="020E0502030303020204" pitchFamily="34" charset="0"/>
              </a:rPr>
              <a:t>Attribut possible et identifiant</a:t>
            </a:r>
          </a:p>
        </p:txBody>
      </p:sp>
      <p:sp>
        <p:nvSpPr>
          <p:cNvPr id="52" name="Rectangle 51">
            <a:extLst>
              <a:ext uri="{FF2B5EF4-FFF2-40B4-BE49-F238E27FC236}">
                <a16:creationId xmlns:a16="http://schemas.microsoft.com/office/drawing/2014/main" id="{4BC91321-D069-43F8-896E-AA5FE5367272}"/>
              </a:ext>
            </a:extLst>
          </p:cNvPr>
          <p:cNvSpPr/>
          <p:nvPr/>
        </p:nvSpPr>
        <p:spPr>
          <a:xfrm>
            <a:off x="7025785" y="2689386"/>
            <a:ext cx="1458125" cy="1080724"/>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3" name="Connecteur droit 52">
            <a:extLst>
              <a:ext uri="{FF2B5EF4-FFF2-40B4-BE49-F238E27FC236}">
                <a16:creationId xmlns:a16="http://schemas.microsoft.com/office/drawing/2014/main" id="{D600C3F2-EC6B-4714-8A20-14228224807B}"/>
              </a:ext>
            </a:extLst>
          </p:cNvPr>
          <p:cNvCxnSpPr>
            <a:cxnSpLocks/>
          </p:cNvCxnSpPr>
          <p:nvPr/>
        </p:nvCxnSpPr>
        <p:spPr>
          <a:xfrm>
            <a:off x="7025785" y="310608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8F387BAB-C67A-47D3-A10D-927F0D98E3D0}"/>
              </a:ext>
            </a:extLst>
          </p:cNvPr>
          <p:cNvCxnSpPr>
            <a:cxnSpLocks/>
          </p:cNvCxnSpPr>
          <p:nvPr/>
        </p:nvCxnSpPr>
        <p:spPr>
          <a:xfrm>
            <a:off x="7025785" y="3594675"/>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1499EB1A-6F69-420F-A04E-747931CCA109}"/>
              </a:ext>
            </a:extLst>
          </p:cNvPr>
          <p:cNvSpPr txBox="1"/>
          <p:nvPr/>
        </p:nvSpPr>
        <p:spPr>
          <a:xfrm>
            <a:off x="7096810" y="2706517"/>
            <a:ext cx="1318976" cy="369332"/>
          </a:xfrm>
          <a:prstGeom prst="rect">
            <a:avLst/>
          </a:prstGeom>
          <a:noFill/>
        </p:spPr>
        <p:txBody>
          <a:bodyPr wrap="square">
            <a:spAutoFit/>
          </a:bodyPr>
          <a:lstStyle/>
          <a:p>
            <a:pPr algn="ctr"/>
            <a:r>
              <a:rPr lang="fr-FR" sz="1800" dirty="0">
                <a:latin typeface="Candara" panose="020E0502030303020204" pitchFamily="34" charset="0"/>
              </a:rPr>
              <a:t>Match</a:t>
            </a:r>
            <a:endParaRPr lang="fr-FR" dirty="0"/>
          </a:p>
        </p:txBody>
      </p:sp>
      <p:sp>
        <p:nvSpPr>
          <p:cNvPr id="56" name="ZoneTexte 55">
            <a:extLst>
              <a:ext uri="{FF2B5EF4-FFF2-40B4-BE49-F238E27FC236}">
                <a16:creationId xmlns:a16="http://schemas.microsoft.com/office/drawing/2014/main" id="{72571FB9-E595-46B2-AA8A-D5E853346675}"/>
              </a:ext>
            </a:extLst>
          </p:cNvPr>
          <p:cNvSpPr txBox="1"/>
          <p:nvPr/>
        </p:nvSpPr>
        <p:spPr>
          <a:xfrm>
            <a:off x="7284588" y="3155201"/>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57" name="Rectangle 56">
            <a:extLst>
              <a:ext uri="{FF2B5EF4-FFF2-40B4-BE49-F238E27FC236}">
                <a16:creationId xmlns:a16="http://schemas.microsoft.com/office/drawing/2014/main" id="{049724E1-5B00-41AC-97D1-92BC7AF4113C}"/>
              </a:ext>
            </a:extLst>
          </p:cNvPr>
          <p:cNvSpPr/>
          <p:nvPr/>
        </p:nvSpPr>
        <p:spPr>
          <a:xfrm>
            <a:off x="10382854" y="2713054"/>
            <a:ext cx="1613837" cy="1080725"/>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8" name="Connecteur droit 57">
            <a:extLst>
              <a:ext uri="{FF2B5EF4-FFF2-40B4-BE49-F238E27FC236}">
                <a16:creationId xmlns:a16="http://schemas.microsoft.com/office/drawing/2014/main" id="{85973493-1030-4886-8BF1-BC39B74739A6}"/>
              </a:ext>
            </a:extLst>
          </p:cNvPr>
          <p:cNvCxnSpPr>
            <a:cxnSpLocks/>
          </p:cNvCxnSpPr>
          <p:nvPr/>
        </p:nvCxnSpPr>
        <p:spPr>
          <a:xfrm>
            <a:off x="10382854" y="3112001"/>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098A86D0-3C04-4E15-9B43-CB95C2EFA5A7}"/>
              </a:ext>
            </a:extLst>
          </p:cNvPr>
          <p:cNvCxnSpPr>
            <a:cxnSpLocks/>
          </p:cNvCxnSpPr>
          <p:nvPr/>
        </p:nvCxnSpPr>
        <p:spPr>
          <a:xfrm>
            <a:off x="10382854" y="3636095"/>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ZoneTexte 59">
            <a:extLst>
              <a:ext uri="{FF2B5EF4-FFF2-40B4-BE49-F238E27FC236}">
                <a16:creationId xmlns:a16="http://schemas.microsoft.com/office/drawing/2014/main" id="{E1BC8730-3F16-4B6E-BC9B-64CF79E7BDE8}"/>
              </a:ext>
            </a:extLst>
          </p:cNvPr>
          <p:cNvSpPr txBox="1"/>
          <p:nvPr/>
        </p:nvSpPr>
        <p:spPr>
          <a:xfrm>
            <a:off x="10641659" y="2730185"/>
            <a:ext cx="1139010" cy="369332"/>
          </a:xfrm>
          <a:prstGeom prst="rect">
            <a:avLst/>
          </a:prstGeom>
          <a:noFill/>
        </p:spPr>
        <p:txBody>
          <a:bodyPr wrap="square">
            <a:spAutoFit/>
          </a:bodyPr>
          <a:lstStyle/>
          <a:p>
            <a:pPr algn="ctr"/>
            <a:r>
              <a:rPr lang="fr-FR" sz="1800" dirty="0" err="1">
                <a:latin typeface="Candara" panose="020E0502030303020204" pitchFamily="34" charset="0"/>
              </a:rPr>
              <a:t>ChaineTV</a:t>
            </a:r>
            <a:endParaRPr lang="fr-FR" dirty="0"/>
          </a:p>
        </p:txBody>
      </p:sp>
      <p:sp>
        <p:nvSpPr>
          <p:cNvPr id="61" name="ZoneTexte 60">
            <a:extLst>
              <a:ext uri="{FF2B5EF4-FFF2-40B4-BE49-F238E27FC236}">
                <a16:creationId xmlns:a16="http://schemas.microsoft.com/office/drawing/2014/main" id="{E6DC4EEB-01D5-4F2D-A234-236AD67013A2}"/>
              </a:ext>
            </a:extLst>
          </p:cNvPr>
          <p:cNvSpPr txBox="1"/>
          <p:nvPr/>
        </p:nvSpPr>
        <p:spPr>
          <a:xfrm>
            <a:off x="10641657" y="3169997"/>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63" name="ZoneTexte 62">
            <a:extLst>
              <a:ext uri="{FF2B5EF4-FFF2-40B4-BE49-F238E27FC236}">
                <a16:creationId xmlns:a16="http://schemas.microsoft.com/office/drawing/2014/main" id="{975E943E-2F77-45FA-A905-0070330E9BBF}"/>
              </a:ext>
            </a:extLst>
          </p:cNvPr>
          <p:cNvSpPr txBox="1"/>
          <p:nvPr/>
        </p:nvSpPr>
        <p:spPr>
          <a:xfrm>
            <a:off x="8021145" y="5320771"/>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64" name="ZoneTexte 63">
            <a:extLst>
              <a:ext uri="{FF2B5EF4-FFF2-40B4-BE49-F238E27FC236}">
                <a16:creationId xmlns:a16="http://schemas.microsoft.com/office/drawing/2014/main" id="{44522793-A443-44F9-B5FD-64A1DB399E90}"/>
              </a:ext>
            </a:extLst>
          </p:cNvPr>
          <p:cNvSpPr txBox="1"/>
          <p:nvPr/>
        </p:nvSpPr>
        <p:spPr>
          <a:xfrm>
            <a:off x="10263839" y="5320771"/>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66" name="Rectangle 65">
            <a:extLst>
              <a:ext uri="{FF2B5EF4-FFF2-40B4-BE49-F238E27FC236}">
                <a16:creationId xmlns:a16="http://schemas.microsoft.com/office/drawing/2014/main" id="{63256197-2E83-4774-A5E5-47E37675F2A5}"/>
              </a:ext>
            </a:extLst>
          </p:cNvPr>
          <p:cNvSpPr/>
          <p:nvPr/>
        </p:nvSpPr>
        <p:spPr>
          <a:xfrm>
            <a:off x="8614737" y="5000468"/>
            <a:ext cx="1613837" cy="1080725"/>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67" name="Connecteur droit 66">
            <a:extLst>
              <a:ext uri="{FF2B5EF4-FFF2-40B4-BE49-F238E27FC236}">
                <a16:creationId xmlns:a16="http://schemas.microsoft.com/office/drawing/2014/main" id="{C19DC808-5EF0-45CC-83A4-876CF4012790}"/>
              </a:ext>
            </a:extLst>
          </p:cNvPr>
          <p:cNvCxnSpPr>
            <a:cxnSpLocks/>
          </p:cNvCxnSpPr>
          <p:nvPr/>
        </p:nvCxnSpPr>
        <p:spPr>
          <a:xfrm>
            <a:off x="8614737" y="5399415"/>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73F95B32-98CF-459E-BC80-FB240FF466CE}"/>
              </a:ext>
            </a:extLst>
          </p:cNvPr>
          <p:cNvCxnSpPr>
            <a:cxnSpLocks/>
          </p:cNvCxnSpPr>
          <p:nvPr/>
        </p:nvCxnSpPr>
        <p:spPr>
          <a:xfrm>
            <a:off x="8614737" y="5923509"/>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ZoneTexte 68">
            <a:extLst>
              <a:ext uri="{FF2B5EF4-FFF2-40B4-BE49-F238E27FC236}">
                <a16:creationId xmlns:a16="http://schemas.microsoft.com/office/drawing/2014/main" id="{33183A9A-CD72-4381-A6AA-F3400618440C}"/>
              </a:ext>
            </a:extLst>
          </p:cNvPr>
          <p:cNvSpPr txBox="1"/>
          <p:nvPr/>
        </p:nvSpPr>
        <p:spPr>
          <a:xfrm>
            <a:off x="8650002" y="5017599"/>
            <a:ext cx="1543060" cy="338554"/>
          </a:xfrm>
          <a:prstGeom prst="rect">
            <a:avLst/>
          </a:prstGeom>
          <a:noFill/>
        </p:spPr>
        <p:txBody>
          <a:bodyPr wrap="square">
            <a:spAutoFit/>
          </a:bodyPr>
          <a:lstStyle/>
          <a:p>
            <a:pPr algn="ctr"/>
            <a:r>
              <a:rPr lang="fr-FR" sz="1600" dirty="0">
                <a:latin typeface="Candara" panose="020E0502030303020204" pitchFamily="34" charset="0"/>
              </a:rPr>
              <a:t>Retransmission</a:t>
            </a:r>
            <a:endParaRPr lang="fr-FR" sz="1600" dirty="0"/>
          </a:p>
        </p:txBody>
      </p:sp>
      <p:sp>
        <p:nvSpPr>
          <p:cNvPr id="70" name="ZoneTexte 69">
            <a:extLst>
              <a:ext uri="{FF2B5EF4-FFF2-40B4-BE49-F238E27FC236}">
                <a16:creationId xmlns:a16="http://schemas.microsoft.com/office/drawing/2014/main" id="{0BCD8B94-1B89-4AA3-BA76-FCD7F02424E8}"/>
              </a:ext>
            </a:extLst>
          </p:cNvPr>
          <p:cNvSpPr txBox="1"/>
          <p:nvPr/>
        </p:nvSpPr>
        <p:spPr>
          <a:xfrm>
            <a:off x="8873540" y="5457411"/>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40" name="Connecteur droit 39">
            <a:extLst>
              <a:ext uri="{FF2B5EF4-FFF2-40B4-BE49-F238E27FC236}">
                <a16:creationId xmlns:a16="http://schemas.microsoft.com/office/drawing/2014/main" id="{95FA2E21-1FC1-4D3C-BD4E-6B6D3781FF61}"/>
              </a:ext>
            </a:extLst>
          </p:cNvPr>
          <p:cNvCxnSpPr>
            <a:cxnSpLocks/>
            <a:stCxn id="66" idx="3"/>
            <a:endCxn id="57" idx="2"/>
          </p:cNvCxnSpPr>
          <p:nvPr/>
        </p:nvCxnSpPr>
        <p:spPr>
          <a:xfrm flipV="1">
            <a:off x="10228574" y="3793779"/>
            <a:ext cx="961199" cy="174705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8ADA7D64-6A27-4B31-9314-EFCCFEE43087}"/>
              </a:ext>
            </a:extLst>
          </p:cNvPr>
          <p:cNvCxnSpPr>
            <a:cxnSpLocks/>
            <a:stCxn id="52" idx="2"/>
            <a:endCxn id="66" idx="1"/>
          </p:cNvCxnSpPr>
          <p:nvPr/>
        </p:nvCxnSpPr>
        <p:spPr>
          <a:xfrm>
            <a:off x="7754848" y="3770110"/>
            <a:ext cx="859889" cy="177072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ZoneTexte 45">
            <a:extLst>
              <a:ext uri="{FF2B5EF4-FFF2-40B4-BE49-F238E27FC236}">
                <a16:creationId xmlns:a16="http://schemas.microsoft.com/office/drawing/2014/main" id="{765219AC-CF79-4303-901B-E22641D78F7D}"/>
              </a:ext>
            </a:extLst>
          </p:cNvPr>
          <p:cNvSpPr txBox="1"/>
          <p:nvPr/>
        </p:nvSpPr>
        <p:spPr>
          <a:xfrm>
            <a:off x="7352974" y="3822452"/>
            <a:ext cx="547811"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47" name="ZoneTexte 46">
            <a:extLst>
              <a:ext uri="{FF2B5EF4-FFF2-40B4-BE49-F238E27FC236}">
                <a16:creationId xmlns:a16="http://schemas.microsoft.com/office/drawing/2014/main" id="{EDF51D80-3E82-424E-820F-FCF72FC3BE90}"/>
              </a:ext>
            </a:extLst>
          </p:cNvPr>
          <p:cNvSpPr txBox="1"/>
          <p:nvPr/>
        </p:nvSpPr>
        <p:spPr>
          <a:xfrm>
            <a:off x="11165422" y="3827799"/>
            <a:ext cx="547811"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Tree>
    <p:extLst>
      <p:ext uri="{BB962C8B-B14F-4D97-AF65-F5344CB8AC3E}">
        <p14:creationId xmlns:p14="http://schemas.microsoft.com/office/powerpoint/2010/main" val="117042239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L’identification relative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8717872" cy="3970318"/>
          </a:xfrm>
          <a:prstGeom prst="rect">
            <a:avLst/>
          </a:prstGeom>
        </p:spPr>
        <p:txBody>
          <a:bodyPr wrap="square">
            <a:spAutoFit/>
          </a:bodyPr>
          <a:lstStyle/>
          <a:p>
            <a:pPr algn="just"/>
            <a:r>
              <a:rPr lang="fr-FR" sz="2800" dirty="0">
                <a:latin typeface="Candara" panose="020E0502030303020204" pitchFamily="34" charset="0"/>
              </a:rPr>
              <a:t>Mécanisme permettant à une classe de s’identifier par rapport à une autre classe.</a:t>
            </a:r>
          </a:p>
          <a:p>
            <a:pPr algn="just"/>
            <a:endParaRPr lang="fr-FR" sz="2800" dirty="0">
              <a:latin typeface="Candara" panose="020E0502030303020204" pitchFamily="34" charset="0"/>
            </a:endParaRPr>
          </a:p>
          <a:p>
            <a:pPr algn="just"/>
            <a:r>
              <a:rPr lang="fr-FR" sz="2800" dirty="0">
                <a:latin typeface="Candara" panose="020E0502030303020204" pitchFamily="34" charset="0"/>
              </a:rPr>
              <a:t>Apparait lorsqu’un unique attribut ne suffit pas pour identifier une autre classe.</a:t>
            </a:r>
          </a:p>
          <a:p>
            <a:pPr algn="just"/>
            <a:endParaRPr lang="fr-FR" sz="2800" dirty="0">
              <a:latin typeface="Candara" panose="020E0502030303020204" pitchFamily="34" charset="0"/>
            </a:endParaRPr>
          </a:p>
          <a:p>
            <a:pPr algn="just"/>
            <a:r>
              <a:rPr lang="fr-FR" sz="2800" dirty="0">
                <a:latin typeface="Candara" panose="020E0502030303020204" pitchFamily="34" charset="0"/>
              </a:rPr>
              <a:t>Composer des couples sans doublons.</a:t>
            </a:r>
          </a:p>
          <a:p>
            <a:pPr algn="just"/>
            <a:endParaRPr lang="fr-FR" sz="2800" dirty="0">
              <a:latin typeface="Candara" panose="020E0502030303020204" pitchFamily="34" charset="0"/>
            </a:endParaRPr>
          </a:p>
          <a:p>
            <a:pPr algn="just"/>
            <a:r>
              <a:rPr lang="fr-FR" sz="2800" dirty="0">
                <a:latin typeface="Candara" panose="020E0502030303020204" pitchFamily="34" charset="0"/>
              </a:rPr>
              <a:t>Traduit dans une relation de composition.</a:t>
            </a:r>
          </a:p>
        </p:txBody>
      </p:sp>
      <p:sp>
        <p:nvSpPr>
          <p:cNvPr id="52" name="Rectangle 51">
            <a:extLst>
              <a:ext uri="{FF2B5EF4-FFF2-40B4-BE49-F238E27FC236}">
                <a16:creationId xmlns:a16="http://schemas.microsoft.com/office/drawing/2014/main" id="{4BC91321-D069-43F8-896E-AA5FE5367272}"/>
              </a:ext>
            </a:extLst>
          </p:cNvPr>
          <p:cNvSpPr/>
          <p:nvPr/>
        </p:nvSpPr>
        <p:spPr>
          <a:xfrm>
            <a:off x="10239501" y="2951941"/>
            <a:ext cx="1458125" cy="2128421"/>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3" name="Connecteur droit 52">
            <a:extLst>
              <a:ext uri="{FF2B5EF4-FFF2-40B4-BE49-F238E27FC236}">
                <a16:creationId xmlns:a16="http://schemas.microsoft.com/office/drawing/2014/main" id="{D600C3F2-EC6B-4714-8A20-14228224807B}"/>
              </a:ext>
            </a:extLst>
          </p:cNvPr>
          <p:cNvCxnSpPr>
            <a:cxnSpLocks/>
          </p:cNvCxnSpPr>
          <p:nvPr/>
        </p:nvCxnSpPr>
        <p:spPr>
          <a:xfrm>
            <a:off x="10239501" y="336864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8F387BAB-C67A-47D3-A10D-927F0D98E3D0}"/>
              </a:ext>
            </a:extLst>
          </p:cNvPr>
          <p:cNvCxnSpPr>
            <a:cxnSpLocks/>
          </p:cNvCxnSpPr>
          <p:nvPr/>
        </p:nvCxnSpPr>
        <p:spPr>
          <a:xfrm>
            <a:off x="10239501" y="482489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1499EB1A-6F69-420F-A04E-747931CCA109}"/>
              </a:ext>
            </a:extLst>
          </p:cNvPr>
          <p:cNvSpPr txBox="1"/>
          <p:nvPr/>
        </p:nvSpPr>
        <p:spPr>
          <a:xfrm>
            <a:off x="10310526" y="2969073"/>
            <a:ext cx="1318976" cy="369332"/>
          </a:xfrm>
          <a:prstGeom prst="rect">
            <a:avLst/>
          </a:prstGeom>
          <a:noFill/>
        </p:spPr>
        <p:txBody>
          <a:bodyPr wrap="square">
            <a:spAutoFit/>
          </a:bodyPr>
          <a:lstStyle/>
          <a:p>
            <a:pPr algn="ctr"/>
            <a:r>
              <a:rPr lang="fr-FR" sz="1800" dirty="0">
                <a:latin typeface="Candara" panose="020E0502030303020204" pitchFamily="34" charset="0"/>
              </a:rPr>
              <a:t>Salle</a:t>
            </a:r>
            <a:endParaRPr lang="fr-FR" dirty="0"/>
          </a:p>
        </p:txBody>
      </p:sp>
      <p:sp>
        <p:nvSpPr>
          <p:cNvPr id="56" name="ZoneTexte 55">
            <a:extLst>
              <a:ext uri="{FF2B5EF4-FFF2-40B4-BE49-F238E27FC236}">
                <a16:creationId xmlns:a16="http://schemas.microsoft.com/office/drawing/2014/main" id="{72571FB9-E595-46B2-AA8A-D5E853346675}"/>
              </a:ext>
            </a:extLst>
          </p:cNvPr>
          <p:cNvSpPr txBox="1"/>
          <p:nvPr/>
        </p:nvSpPr>
        <p:spPr>
          <a:xfrm>
            <a:off x="10310526" y="3417757"/>
            <a:ext cx="1247952" cy="923330"/>
          </a:xfrm>
          <a:prstGeom prst="rect">
            <a:avLst/>
          </a:prstGeom>
          <a:noFill/>
        </p:spPr>
        <p:txBody>
          <a:bodyPr wrap="square">
            <a:spAutoFit/>
          </a:bodyPr>
          <a:lstStyle/>
          <a:p>
            <a:r>
              <a:rPr lang="fr-FR" sz="1800" dirty="0" err="1">
                <a:latin typeface="Candara" panose="020E0502030303020204" pitchFamily="34" charset="0"/>
              </a:rPr>
              <a:t>NumSalle</a:t>
            </a:r>
            <a:endParaRPr lang="fr-FR" sz="1800" dirty="0">
              <a:latin typeface="Candara" panose="020E0502030303020204" pitchFamily="34" charset="0"/>
            </a:endParaRPr>
          </a:p>
          <a:p>
            <a:r>
              <a:rPr lang="fr-FR" dirty="0">
                <a:latin typeface="Candara" panose="020E0502030303020204" pitchFamily="34" charset="0"/>
              </a:rPr>
              <a:t>Etage</a:t>
            </a:r>
          </a:p>
          <a:p>
            <a:r>
              <a:rPr lang="fr-FR" dirty="0">
                <a:latin typeface="Candara" panose="020E0502030303020204" pitchFamily="34" charset="0"/>
              </a:rPr>
              <a:t>Capacité</a:t>
            </a:r>
          </a:p>
        </p:txBody>
      </p:sp>
    </p:spTree>
    <p:extLst>
      <p:ext uri="{BB962C8B-B14F-4D97-AF65-F5344CB8AC3E}">
        <p14:creationId xmlns:p14="http://schemas.microsoft.com/office/powerpoint/2010/main" val="26614405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L’identification relative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8717872" cy="3970318"/>
          </a:xfrm>
          <a:prstGeom prst="rect">
            <a:avLst/>
          </a:prstGeom>
        </p:spPr>
        <p:txBody>
          <a:bodyPr wrap="square">
            <a:spAutoFit/>
          </a:bodyPr>
          <a:lstStyle/>
          <a:p>
            <a:pPr algn="just"/>
            <a:r>
              <a:rPr lang="fr-FR" sz="2800" dirty="0">
                <a:latin typeface="Candara" panose="020E0502030303020204" pitchFamily="34" charset="0"/>
              </a:rPr>
              <a:t>Le cas d’une classe :</a:t>
            </a:r>
          </a:p>
          <a:p>
            <a:pPr marL="457200" indent="-457200" algn="just">
              <a:buFont typeface="Symbol" panose="05050102010706020507" pitchFamily="18" charset="2"/>
              <a:buChar char="Þ"/>
            </a:pPr>
            <a:r>
              <a:rPr lang="fr-FR" sz="2800" dirty="0">
                <a:latin typeface="Candara" panose="020E0502030303020204" pitchFamily="34" charset="0"/>
              </a:rPr>
              <a:t>Le numéro d’étage ne suffit pas pour définir la clé.</a:t>
            </a:r>
          </a:p>
          <a:p>
            <a:pPr marL="457200" indent="-457200" algn="just">
              <a:buFont typeface="Symbol" panose="05050102010706020507" pitchFamily="18" charset="2"/>
              <a:buChar char="Þ"/>
            </a:pPr>
            <a:r>
              <a:rPr lang="fr-FR" sz="2800" dirty="0">
                <a:latin typeface="Candara" panose="020E0502030303020204" pitchFamily="34" charset="0"/>
              </a:rPr>
              <a:t>Concaténation des attributs pour obtenir l’identifiant.</a:t>
            </a:r>
          </a:p>
          <a:p>
            <a:pPr algn="just"/>
            <a:endParaRPr lang="fr-FR" sz="2800" dirty="0">
              <a:latin typeface="Candara" panose="020E0502030303020204" pitchFamily="34" charset="0"/>
            </a:endParaRPr>
          </a:p>
          <a:p>
            <a:pPr algn="just"/>
            <a:r>
              <a:rPr lang="fr-FR" sz="2800" dirty="0">
                <a:latin typeface="Candara" panose="020E0502030303020204" pitchFamily="34" charset="0"/>
              </a:rPr>
              <a:t>Le cas de plusieurs classes :</a:t>
            </a:r>
          </a:p>
          <a:p>
            <a:pPr marL="457200" indent="-457200" algn="just">
              <a:buFont typeface="Symbol" panose="05050102010706020507" pitchFamily="18" charset="2"/>
              <a:buChar char="Þ"/>
            </a:pPr>
            <a:r>
              <a:rPr lang="fr-FR" sz="2800" dirty="0">
                <a:latin typeface="Candara" panose="020E0502030303020204" pitchFamily="34" charset="0"/>
              </a:rPr>
              <a:t>Construction des couples sans doublon avec la composition.</a:t>
            </a:r>
          </a:p>
          <a:p>
            <a:pPr marL="457200" indent="-457200" algn="just">
              <a:buFont typeface="Symbol" panose="05050102010706020507" pitchFamily="18" charset="2"/>
              <a:buChar char="Þ"/>
            </a:pPr>
            <a:r>
              <a:rPr lang="fr-FR" sz="2800" dirty="0">
                <a:latin typeface="Candara" panose="020E0502030303020204" pitchFamily="34" charset="0"/>
              </a:rPr>
              <a:t>La page s’identifie relativement au livre en récupérant son identifiant dans sa classe.</a:t>
            </a:r>
          </a:p>
        </p:txBody>
      </p:sp>
      <p:sp>
        <p:nvSpPr>
          <p:cNvPr id="52" name="Rectangle 51">
            <a:extLst>
              <a:ext uri="{FF2B5EF4-FFF2-40B4-BE49-F238E27FC236}">
                <a16:creationId xmlns:a16="http://schemas.microsoft.com/office/drawing/2014/main" id="{4BC91321-D069-43F8-896E-AA5FE5367272}"/>
              </a:ext>
            </a:extLst>
          </p:cNvPr>
          <p:cNvSpPr/>
          <p:nvPr/>
        </p:nvSpPr>
        <p:spPr>
          <a:xfrm>
            <a:off x="10023661" y="2188461"/>
            <a:ext cx="1458125" cy="2128421"/>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3" name="Connecteur droit 52">
            <a:extLst>
              <a:ext uri="{FF2B5EF4-FFF2-40B4-BE49-F238E27FC236}">
                <a16:creationId xmlns:a16="http://schemas.microsoft.com/office/drawing/2014/main" id="{D600C3F2-EC6B-4714-8A20-14228224807B}"/>
              </a:ext>
            </a:extLst>
          </p:cNvPr>
          <p:cNvCxnSpPr>
            <a:cxnSpLocks/>
          </p:cNvCxnSpPr>
          <p:nvPr/>
        </p:nvCxnSpPr>
        <p:spPr>
          <a:xfrm>
            <a:off x="10023661" y="260516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8F387BAB-C67A-47D3-A10D-927F0D98E3D0}"/>
              </a:ext>
            </a:extLst>
          </p:cNvPr>
          <p:cNvCxnSpPr>
            <a:cxnSpLocks/>
          </p:cNvCxnSpPr>
          <p:nvPr/>
        </p:nvCxnSpPr>
        <p:spPr>
          <a:xfrm>
            <a:off x="10023661" y="406141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1499EB1A-6F69-420F-A04E-747931CCA109}"/>
              </a:ext>
            </a:extLst>
          </p:cNvPr>
          <p:cNvSpPr txBox="1"/>
          <p:nvPr/>
        </p:nvSpPr>
        <p:spPr>
          <a:xfrm>
            <a:off x="10094686" y="2205593"/>
            <a:ext cx="1318976" cy="369332"/>
          </a:xfrm>
          <a:prstGeom prst="rect">
            <a:avLst/>
          </a:prstGeom>
          <a:noFill/>
        </p:spPr>
        <p:txBody>
          <a:bodyPr wrap="square">
            <a:spAutoFit/>
          </a:bodyPr>
          <a:lstStyle/>
          <a:p>
            <a:pPr algn="ctr"/>
            <a:r>
              <a:rPr lang="fr-FR" sz="1800" dirty="0">
                <a:latin typeface="Candara" panose="020E0502030303020204" pitchFamily="34" charset="0"/>
              </a:rPr>
              <a:t>Salle</a:t>
            </a:r>
            <a:endParaRPr lang="fr-FR" dirty="0"/>
          </a:p>
        </p:txBody>
      </p:sp>
      <p:sp>
        <p:nvSpPr>
          <p:cNvPr id="56" name="ZoneTexte 55">
            <a:extLst>
              <a:ext uri="{FF2B5EF4-FFF2-40B4-BE49-F238E27FC236}">
                <a16:creationId xmlns:a16="http://schemas.microsoft.com/office/drawing/2014/main" id="{72571FB9-E595-46B2-AA8A-D5E853346675}"/>
              </a:ext>
            </a:extLst>
          </p:cNvPr>
          <p:cNvSpPr txBox="1"/>
          <p:nvPr/>
        </p:nvSpPr>
        <p:spPr>
          <a:xfrm>
            <a:off x="10094686" y="2654277"/>
            <a:ext cx="1247952" cy="923330"/>
          </a:xfrm>
          <a:prstGeom prst="rect">
            <a:avLst/>
          </a:prstGeom>
          <a:noFill/>
        </p:spPr>
        <p:txBody>
          <a:bodyPr wrap="square">
            <a:spAutoFit/>
          </a:bodyPr>
          <a:lstStyle/>
          <a:p>
            <a:r>
              <a:rPr lang="fr-FR" sz="1800" dirty="0" err="1">
                <a:latin typeface="Candara" panose="020E0502030303020204" pitchFamily="34" charset="0"/>
              </a:rPr>
              <a:t>NumSalle</a:t>
            </a:r>
            <a:endParaRPr lang="fr-FR" sz="1800" dirty="0">
              <a:latin typeface="Candara" panose="020E0502030303020204" pitchFamily="34" charset="0"/>
            </a:endParaRPr>
          </a:p>
          <a:p>
            <a:r>
              <a:rPr lang="fr-FR" dirty="0">
                <a:latin typeface="Candara" panose="020E0502030303020204" pitchFamily="34" charset="0"/>
              </a:rPr>
              <a:t>Etage</a:t>
            </a:r>
          </a:p>
          <a:p>
            <a:r>
              <a:rPr lang="fr-FR" dirty="0">
                <a:latin typeface="Candara" panose="020E0502030303020204" pitchFamily="34" charset="0"/>
              </a:rPr>
              <a:t>Capacité</a:t>
            </a:r>
          </a:p>
        </p:txBody>
      </p:sp>
      <p:sp>
        <p:nvSpPr>
          <p:cNvPr id="21" name="Rectangle 20">
            <a:extLst>
              <a:ext uri="{FF2B5EF4-FFF2-40B4-BE49-F238E27FC236}">
                <a16:creationId xmlns:a16="http://schemas.microsoft.com/office/drawing/2014/main" id="{7CE3D854-DF62-4AE0-A22C-D69841278FA5}"/>
              </a:ext>
            </a:extLst>
          </p:cNvPr>
          <p:cNvSpPr/>
          <p:nvPr/>
        </p:nvSpPr>
        <p:spPr>
          <a:xfrm>
            <a:off x="10613575" y="5485227"/>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2" name="Connecteur droit 21">
            <a:extLst>
              <a:ext uri="{FF2B5EF4-FFF2-40B4-BE49-F238E27FC236}">
                <a16:creationId xmlns:a16="http://schemas.microsoft.com/office/drawing/2014/main" id="{DDC0F9BC-C838-442C-AC0A-A68F87DE3C5D}"/>
              </a:ext>
            </a:extLst>
          </p:cNvPr>
          <p:cNvCxnSpPr>
            <a:cxnSpLocks/>
          </p:cNvCxnSpPr>
          <p:nvPr/>
        </p:nvCxnSpPr>
        <p:spPr>
          <a:xfrm>
            <a:off x="10613574" y="587883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7066AFDD-01A5-4ECC-BD9A-6A6D746B4328}"/>
              </a:ext>
            </a:extLst>
          </p:cNvPr>
          <p:cNvCxnSpPr>
            <a:cxnSpLocks/>
          </p:cNvCxnSpPr>
          <p:nvPr/>
        </p:nvCxnSpPr>
        <p:spPr>
          <a:xfrm>
            <a:off x="10613574" y="653169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5294B495-52D3-4DF0-BFEA-B4CE2B237CBC}"/>
              </a:ext>
            </a:extLst>
          </p:cNvPr>
          <p:cNvSpPr txBox="1"/>
          <p:nvPr/>
        </p:nvSpPr>
        <p:spPr>
          <a:xfrm>
            <a:off x="10699377" y="5479685"/>
            <a:ext cx="1372322" cy="369332"/>
          </a:xfrm>
          <a:prstGeom prst="rect">
            <a:avLst/>
          </a:prstGeom>
          <a:noFill/>
        </p:spPr>
        <p:txBody>
          <a:bodyPr wrap="square">
            <a:spAutoFit/>
          </a:bodyPr>
          <a:lstStyle/>
          <a:p>
            <a:r>
              <a:rPr lang="fr-FR" sz="1800" dirty="0">
                <a:latin typeface="Candara" panose="020E0502030303020204" pitchFamily="34" charset="0"/>
              </a:rPr>
              <a:t>Page</a:t>
            </a:r>
            <a:endParaRPr lang="fr-FR" dirty="0"/>
          </a:p>
        </p:txBody>
      </p:sp>
      <p:cxnSp>
        <p:nvCxnSpPr>
          <p:cNvPr id="25" name="Connecteur droit 24">
            <a:extLst>
              <a:ext uri="{FF2B5EF4-FFF2-40B4-BE49-F238E27FC236}">
                <a16:creationId xmlns:a16="http://schemas.microsoft.com/office/drawing/2014/main" id="{85E10207-9234-40EC-983F-E3F34B46F98F}"/>
              </a:ext>
            </a:extLst>
          </p:cNvPr>
          <p:cNvCxnSpPr>
            <a:cxnSpLocks/>
            <a:stCxn id="21" idx="1"/>
          </p:cNvCxnSpPr>
          <p:nvPr/>
        </p:nvCxnSpPr>
        <p:spPr>
          <a:xfrm flipH="1">
            <a:off x="9361079" y="6171613"/>
            <a:ext cx="1252496"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34A58FE-AFA3-465B-8B5A-352BB18E61B4}"/>
              </a:ext>
            </a:extLst>
          </p:cNvPr>
          <p:cNvSpPr/>
          <p:nvPr/>
        </p:nvSpPr>
        <p:spPr>
          <a:xfrm>
            <a:off x="7500605" y="5601665"/>
            <a:ext cx="1458125" cy="1124748"/>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7" name="Connecteur droit 26">
            <a:extLst>
              <a:ext uri="{FF2B5EF4-FFF2-40B4-BE49-F238E27FC236}">
                <a16:creationId xmlns:a16="http://schemas.microsoft.com/office/drawing/2014/main" id="{18DDBC07-D058-4F74-83F7-D391A0CC94C3}"/>
              </a:ext>
            </a:extLst>
          </p:cNvPr>
          <p:cNvCxnSpPr>
            <a:cxnSpLocks/>
          </p:cNvCxnSpPr>
          <p:nvPr/>
        </p:nvCxnSpPr>
        <p:spPr>
          <a:xfrm>
            <a:off x="7500604" y="599527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51859751-CF67-4698-AAC1-8A01C2B88533}"/>
              </a:ext>
            </a:extLst>
          </p:cNvPr>
          <p:cNvCxnSpPr>
            <a:cxnSpLocks/>
          </p:cNvCxnSpPr>
          <p:nvPr/>
        </p:nvCxnSpPr>
        <p:spPr>
          <a:xfrm>
            <a:off x="7500604" y="649904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C7F134F9-9DBA-470D-83D4-5588DCE9759A}"/>
              </a:ext>
            </a:extLst>
          </p:cNvPr>
          <p:cNvSpPr txBox="1"/>
          <p:nvPr/>
        </p:nvSpPr>
        <p:spPr>
          <a:xfrm>
            <a:off x="7759409" y="5596123"/>
            <a:ext cx="911086" cy="369332"/>
          </a:xfrm>
          <a:prstGeom prst="rect">
            <a:avLst/>
          </a:prstGeom>
          <a:noFill/>
        </p:spPr>
        <p:txBody>
          <a:bodyPr wrap="square">
            <a:spAutoFit/>
          </a:bodyPr>
          <a:lstStyle/>
          <a:p>
            <a:r>
              <a:rPr lang="fr-FR" sz="1800" dirty="0">
                <a:latin typeface="Candara" panose="020E0502030303020204" pitchFamily="34" charset="0"/>
              </a:rPr>
              <a:t>Livre</a:t>
            </a:r>
            <a:endParaRPr lang="fr-FR" dirty="0"/>
          </a:p>
        </p:txBody>
      </p:sp>
      <p:sp>
        <p:nvSpPr>
          <p:cNvPr id="30" name="Rectangle 29">
            <a:extLst>
              <a:ext uri="{FF2B5EF4-FFF2-40B4-BE49-F238E27FC236}">
                <a16:creationId xmlns:a16="http://schemas.microsoft.com/office/drawing/2014/main" id="{F73BA779-C836-4EBA-9CA2-F75B985B5291}"/>
              </a:ext>
            </a:extLst>
          </p:cNvPr>
          <p:cNvSpPr/>
          <p:nvPr/>
        </p:nvSpPr>
        <p:spPr>
          <a:xfrm rot="2702028">
            <a:off x="9028749" y="6033749"/>
            <a:ext cx="262311" cy="260582"/>
          </a:xfrm>
          <a:prstGeom prst="rect">
            <a:avLst/>
          </a:prstGeom>
          <a:solidFill>
            <a:schemeClr val="tx1"/>
          </a:solidFill>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1" name="ZoneTexte 30">
            <a:extLst>
              <a:ext uri="{FF2B5EF4-FFF2-40B4-BE49-F238E27FC236}">
                <a16:creationId xmlns:a16="http://schemas.microsoft.com/office/drawing/2014/main" id="{0CAB0AEF-D843-44DE-83C0-1ED7BF14E9C4}"/>
              </a:ext>
            </a:extLst>
          </p:cNvPr>
          <p:cNvSpPr txBox="1"/>
          <p:nvPr/>
        </p:nvSpPr>
        <p:spPr>
          <a:xfrm>
            <a:off x="9201635" y="5694168"/>
            <a:ext cx="280842"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
        <p:nvSpPr>
          <p:cNvPr id="32" name="ZoneTexte 31">
            <a:extLst>
              <a:ext uri="{FF2B5EF4-FFF2-40B4-BE49-F238E27FC236}">
                <a16:creationId xmlns:a16="http://schemas.microsoft.com/office/drawing/2014/main" id="{80458A22-0FEB-4E36-83C0-DC8F882F5867}"/>
              </a:ext>
            </a:extLst>
          </p:cNvPr>
          <p:cNvSpPr txBox="1"/>
          <p:nvPr/>
        </p:nvSpPr>
        <p:spPr>
          <a:xfrm>
            <a:off x="10061542" y="5694168"/>
            <a:ext cx="612527"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Tree>
    <p:extLst>
      <p:ext uri="{BB962C8B-B14F-4D97-AF65-F5344CB8AC3E}">
        <p14:creationId xmlns:p14="http://schemas.microsoft.com/office/powerpoint/2010/main" val="16574240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n-aires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6090083" cy="3970318"/>
          </a:xfrm>
          <a:prstGeom prst="rect">
            <a:avLst/>
          </a:prstGeom>
        </p:spPr>
        <p:txBody>
          <a:bodyPr wrap="square">
            <a:spAutoFit/>
          </a:bodyPr>
          <a:lstStyle/>
          <a:p>
            <a:pPr algn="just"/>
            <a:r>
              <a:rPr lang="fr-FR" sz="2800" dirty="0">
                <a:latin typeface="Candara" panose="020E0502030303020204" pitchFamily="34" charset="0"/>
              </a:rPr>
              <a:t>Association qui lie plus de deux classes</a:t>
            </a:r>
          </a:p>
          <a:p>
            <a:pPr algn="just"/>
            <a:endParaRPr lang="fr-FR" sz="2800" dirty="0">
              <a:latin typeface="Candara" panose="020E0502030303020204" pitchFamily="34" charset="0"/>
            </a:endParaRPr>
          </a:p>
          <a:p>
            <a:pPr algn="just"/>
            <a:r>
              <a:rPr lang="fr-FR" sz="2800" dirty="0">
                <a:latin typeface="Candara" panose="020E0502030303020204" pitchFamily="34" charset="0"/>
              </a:rPr>
              <a:t>Quatre remarques :</a:t>
            </a:r>
          </a:p>
          <a:p>
            <a:pPr marL="457200" indent="-457200" algn="just">
              <a:buFont typeface="Wingdings" panose="05000000000000000000" pitchFamily="2" charset="2"/>
              <a:buChar char="ü"/>
            </a:pPr>
            <a:r>
              <a:rPr lang="fr-FR" sz="2800" dirty="0">
                <a:latin typeface="Candara" panose="020E0502030303020204" pitchFamily="34" charset="0"/>
              </a:rPr>
              <a:t>Ce qu’il est possible de faire</a:t>
            </a:r>
          </a:p>
          <a:p>
            <a:pPr marL="457200" indent="-457200" algn="just">
              <a:buFont typeface="Wingdings" panose="05000000000000000000" pitchFamily="2" charset="2"/>
              <a:buChar char="ü"/>
            </a:pPr>
            <a:r>
              <a:rPr lang="fr-FR" sz="2800" dirty="0">
                <a:latin typeface="Candara" panose="020E0502030303020204" pitchFamily="34" charset="0"/>
              </a:rPr>
              <a:t>Ce qu’il est possible de voir</a:t>
            </a:r>
          </a:p>
          <a:p>
            <a:pPr marL="457200" indent="-457200" algn="just">
              <a:buFont typeface="Wingdings" panose="05000000000000000000" pitchFamily="2" charset="2"/>
              <a:buChar char="ü"/>
            </a:pPr>
            <a:r>
              <a:rPr lang="fr-FR" sz="2800" dirty="0">
                <a:latin typeface="Candara" panose="020E0502030303020204" pitchFamily="34" charset="0"/>
              </a:rPr>
              <a:t>Ce qu’il ne faut pas faire</a:t>
            </a:r>
          </a:p>
          <a:p>
            <a:pPr marL="457200" indent="-457200" algn="just">
              <a:buFont typeface="Wingdings" panose="05000000000000000000" pitchFamily="2" charset="2"/>
              <a:buChar char="ü"/>
            </a:pPr>
            <a:r>
              <a:rPr lang="fr-FR" sz="2800" dirty="0">
                <a:latin typeface="Candara" panose="020E0502030303020204" pitchFamily="34" charset="0"/>
              </a:rPr>
              <a:t>Ce qu’il faut faire</a:t>
            </a:r>
          </a:p>
          <a:p>
            <a:pPr algn="just"/>
            <a:endParaRPr lang="fr-FR" sz="2800" dirty="0">
              <a:latin typeface="Candara" panose="020E0502030303020204" pitchFamily="34" charset="0"/>
            </a:endParaRPr>
          </a:p>
          <a:p>
            <a:pPr algn="just"/>
            <a:r>
              <a:rPr lang="fr-FR" sz="2800" dirty="0">
                <a:latin typeface="Candara" panose="020E0502030303020204" pitchFamily="34" charset="0"/>
              </a:rPr>
              <a:t>Difficilement interprétable =&gt; à éviter!</a:t>
            </a:r>
          </a:p>
        </p:txBody>
      </p:sp>
      <p:pic>
        <p:nvPicPr>
          <p:cNvPr id="8" name="Image 7">
            <a:extLst>
              <a:ext uri="{FF2B5EF4-FFF2-40B4-BE49-F238E27FC236}">
                <a16:creationId xmlns:a16="http://schemas.microsoft.com/office/drawing/2014/main" id="{3B28143E-5C26-4D75-96C1-CA01DF3D000A}"/>
              </a:ext>
            </a:extLst>
          </p:cNvPr>
          <p:cNvPicPr>
            <a:picLocks noChangeAspect="1"/>
          </p:cNvPicPr>
          <p:nvPr/>
        </p:nvPicPr>
        <p:blipFill>
          <a:blip r:embed="rId2"/>
          <a:stretch>
            <a:fillRect/>
          </a:stretch>
        </p:blipFill>
        <p:spPr>
          <a:xfrm>
            <a:off x="7112169" y="2676961"/>
            <a:ext cx="3993796" cy="2560034"/>
          </a:xfrm>
          <a:prstGeom prst="rect">
            <a:avLst/>
          </a:prstGeom>
        </p:spPr>
      </p:pic>
    </p:spTree>
    <p:extLst>
      <p:ext uri="{BB962C8B-B14F-4D97-AF65-F5344CB8AC3E}">
        <p14:creationId xmlns:p14="http://schemas.microsoft.com/office/powerpoint/2010/main" val="1830817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n-aires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985238" cy="4832092"/>
          </a:xfrm>
          <a:prstGeom prst="rect">
            <a:avLst/>
          </a:prstGeom>
        </p:spPr>
        <p:txBody>
          <a:bodyPr wrap="square">
            <a:spAutoFit/>
          </a:bodyPr>
          <a:lstStyle/>
          <a:p>
            <a:pPr algn="just"/>
            <a:r>
              <a:rPr lang="fr-FR" sz="2800" dirty="0">
                <a:latin typeface="Candara" panose="020E0502030303020204" pitchFamily="34" charset="0"/>
              </a:rPr>
              <a:t>Ce qu’il est possible de faire :</a:t>
            </a:r>
          </a:p>
          <a:p>
            <a:pPr algn="just"/>
            <a:endParaRPr lang="fr-FR" sz="2800" dirty="0">
              <a:latin typeface="Candara" panose="020E0502030303020204" pitchFamily="34" charset="0"/>
            </a:endParaRPr>
          </a:p>
          <a:p>
            <a:pPr algn="just"/>
            <a:r>
              <a:rPr lang="fr-FR" sz="2800" dirty="0">
                <a:latin typeface="Candara" panose="020E0502030303020204" pitchFamily="34" charset="0"/>
              </a:rPr>
              <a:t>La notation UML permet de relier plusieurs classes (symbole particulier).</a:t>
            </a:r>
          </a:p>
          <a:p>
            <a:pPr algn="just"/>
            <a:endParaRPr lang="fr-FR" sz="2800" dirty="0">
              <a:latin typeface="Candara" panose="020E0502030303020204" pitchFamily="34" charset="0"/>
            </a:endParaRPr>
          </a:p>
          <a:p>
            <a:pPr algn="just"/>
            <a:r>
              <a:rPr lang="fr-FR" sz="2800" dirty="0">
                <a:latin typeface="Candara" panose="020E0502030303020204" pitchFamily="34" charset="0"/>
              </a:rPr>
              <a:t>Peut-être éventuellement rattachée à une classe-association (avec des attributs).</a:t>
            </a:r>
          </a:p>
          <a:p>
            <a:pPr algn="just"/>
            <a:endParaRPr lang="fr-FR" sz="2800" dirty="0">
              <a:latin typeface="Candara" panose="020E0502030303020204" pitchFamily="34" charset="0"/>
            </a:endParaRPr>
          </a:p>
          <a:p>
            <a:pPr algn="just"/>
            <a:r>
              <a:rPr lang="fr-FR" sz="2400" i="1" dirty="0">
                <a:latin typeface="Candara" panose="020E0502030303020204" pitchFamily="34" charset="0"/>
              </a:rPr>
              <a:t>=&gt; Pour un employé et un aéroport, une seule compagnie est concernée.</a:t>
            </a:r>
          </a:p>
        </p:txBody>
      </p:sp>
      <p:sp>
        <p:nvSpPr>
          <p:cNvPr id="12" name="Rectangle 11">
            <a:extLst>
              <a:ext uri="{FF2B5EF4-FFF2-40B4-BE49-F238E27FC236}">
                <a16:creationId xmlns:a16="http://schemas.microsoft.com/office/drawing/2014/main" id="{597F623A-59F9-478B-AE3C-2AB62DD790A2}"/>
              </a:ext>
            </a:extLst>
          </p:cNvPr>
          <p:cNvSpPr/>
          <p:nvPr/>
        </p:nvSpPr>
        <p:spPr>
          <a:xfrm>
            <a:off x="7634278" y="1776627"/>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001FBE80-4634-4DDF-99BF-E7C96995BC03}"/>
              </a:ext>
            </a:extLst>
          </p:cNvPr>
          <p:cNvCxnSpPr>
            <a:cxnSpLocks/>
          </p:cNvCxnSpPr>
          <p:nvPr/>
        </p:nvCxnSpPr>
        <p:spPr>
          <a:xfrm>
            <a:off x="7634277" y="217023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2DD2BF05-D3ED-4B8F-90CA-851011A82A52}"/>
              </a:ext>
            </a:extLst>
          </p:cNvPr>
          <p:cNvCxnSpPr>
            <a:cxnSpLocks/>
          </p:cNvCxnSpPr>
          <p:nvPr/>
        </p:nvCxnSpPr>
        <p:spPr>
          <a:xfrm>
            <a:off x="7634277" y="282309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C8FBB0C7-9DD3-4D50-8349-F82E04BA1381}"/>
              </a:ext>
            </a:extLst>
          </p:cNvPr>
          <p:cNvSpPr txBox="1"/>
          <p:nvPr/>
        </p:nvSpPr>
        <p:spPr>
          <a:xfrm>
            <a:off x="7634275" y="1771085"/>
            <a:ext cx="1376559" cy="338554"/>
          </a:xfrm>
          <a:prstGeom prst="rect">
            <a:avLst/>
          </a:prstGeom>
          <a:noFill/>
        </p:spPr>
        <p:txBody>
          <a:bodyPr wrap="square">
            <a:spAutoFit/>
          </a:bodyPr>
          <a:lstStyle/>
          <a:p>
            <a:pPr algn="ctr"/>
            <a:r>
              <a:rPr lang="fr-FR" sz="1600" dirty="0">
                <a:latin typeface="Candara" panose="020E0502030303020204" pitchFamily="34" charset="0"/>
              </a:rPr>
              <a:t>Compagnie</a:t>
            </a:r>
            <a:endParaRPr lang="fr-FR" sz="1600" dirty="0"/>
          </a:p>
        </p:txBody>
      </p:sp>
      <p:cxnSp>
        <p:nvCxnSpPr>
          <p:cNvPr id="16" name="Connecteur droit 15">
            <a:extLst>
              <a:ext uri="{FF2B5EF4-FFF2-40B4-BE49-F238E27FC236}">
                <a16:creationId xmlns:a16="http://schemas.microsoft.com/office/drawing/2014/main" id="{135360F3-E385-4651-8480-BE33F4F1B4FC}"/>
              </a:ext>
            </a:extLst>
          </p:cNvPr>
          <p:cNvCxnSpPr>
            <a:cxnSpLocks/>
            <a:endCxn id="12" idx="2"/>
          </p:cNvCxnSpPr>
          <p:nvPr/>
        </p:nvCxnSpPr>
        <p:spPr>
          <a:xfrm flipH="1" flipV="1">
            <a:off x="8363341" y="3149399"/>
            <a:ext cx="913931" cy="118104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3AB0205-D102-463D-8066-829825C9550B}"/>
              </a:ext>
            </a:extLst>
          </p:cNvPr>
          <p:cNvSpPr/>
          <p:nvPr/>
        </p:nvSpPr>
        <p:spPr>
          <a:xfrm rot="2702028">
            <a:off x="9146117" y="4375358"/>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0" name="Rectangle 19">
            <a:extLst>
              <a:ext uri="{FF2B5EF4-FFF2-40B4-BE49-F238E27FC236}">
                <a16:creationId xmlns:a16="http://schemas.microsoft.com/office/drawing/2014/main" id="{B1698134-94B3-43B5-96B7-B806EB3ADCF4}"/>
              </a:ext>
            </a:extLst>
          </p:cNvPr>
          <p:cNvSpPr/>
          <p:nvPr/>
        </p:nvSpPr>
        <p:spPr>
          <a:xfrm>
            <a:off x="6923530" y="5218625"/>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1" name="Connecteur droit 20">
            <a:extLst>
              <a:ext uri="{FF2B5EF4-FFF2-40B4-BE49-F238E27FC236}">
                <a16:creationId xmlns:a16="http://schemas.microsoft.com/office/drawing/2014/main" id="{5A96F6E8-6F95-44C4-8FFB-9960B4E2E1F8}"/>
              </a:ext>
            </a:extLst>
          </p:cNvPr>
          <p:cNvCxnSpPr>
            <a:cxnSpLocks/>
          </p:cNvCxnSpPr>
          <p:nvPr/>
        </p:nvCxnSpPr>
        <p:spPr>
          <a:xfrm>
            <a:off x="6923529" y="561223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FE21E76-072E-4137-B3CD-6968E17872F0}"/>
              </a:ext>
            </a:extLst>
          </p:cNvPr>
          <p:cNvCxnSpPr>
            <a:cxnSpLocks/>
          </p:cNvCxnSpPr>
          <p:nvPr/>
        </p:nvCxnSpPr>
        <p:spPr>
          <a:xfrm>
            <a:off x="6923529" y="626509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477F51B7-139F-4F90-81C6-A8986023F881}"/>
              </a:ext>
            </a:extLst>
          </p:cNvPr>
          <p:cNvSpPr txBox="1"/>
          <p:nvPr/>
        </p:nvSpPr>
        <p:spPr>
          <a:xfrm>
            <a:off x="6995603" y="5213083"/>
            <a:ext cx="1305017" cy="338554"/>
          </a:xfrm>
          <a:prstGeom prst="rect">
            <a:avLst/>
          </a:prstGeom>
          <a:noFill/>
        </p:spPr>
        <p:txBody>
          <a:bodyPr wrap="square">
            <a:spAutoFit/>
          </a:bodyPr>
          <a:lstStyle/>
          <a:p>
            <a:pPr algn="ctr"/>
            <a:r>
              <a:rPr lang="fr-FR" sz="1600" dirty="0">
                <a:latin typeface="Candara" panose="020E0502030303020204" pitchFamily="34" charset="0"/>
              </a:rPr>
              <a:t>Personnel</a:t>
            </a:r>
            <a:endParaRPr lang="fr-FR" sz="1600" dirty="0"/>
          </a:p>
        </p:txBody>
      </p:sp>
      <p:cxnSp>
        <p:nvCxnSpPr>
          <p:cNvPr id="25" name="Connecteur droit 24">
            <a:extLst>
              <a:ext uri="{FF2B5EF4-FFF2-40B4-BE49-F238E27FC236}">
                <a16:creationId xmlns:a16="http://schemas.microsoft.com/office/drawing/2014/main" id="{CD86E736-EF8A-471F-AC80-F689CA083922}"/>
              </a:ext>
            </a:extLst>
          </p:cNvPr>
          <p:cNvCxnSpPr>
            <a:cxnSpLocks/>
            <a:endCxn id="20" idx="3"/>
          </p:cNvCxnSpPr>
          <p:nvPr/>
        </p:nvCxnSpPr>
        <p:spPr>
          <a:xfrm flipH="1">
            <a:off x="8381655" y="4690520"/>
            <a:ext cx="895617" cy="121449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CDC0837-29E9-44E3-A6F3-866A504EC802}"/>
              </a:ext>
            </a:extLst>
          </p:cNvPr>
          <p:cNvSpPr/>
          <p:nvPr/>
        </p:nvSpPr>
        <p:spPr>
          <a:xfrm>
            <a:off x="10572427" y="3707590"/>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08DD8A0E-98A5-421B-84CA-5854FEFCAEBA}"/>
              </a:ext>
            </a:extLst>
          </p:cNvPr>
          <p:cNvCxnSpPr>
            <a:cxnSpLocks/>
          </p:cNvCxnSpPr>
          <p:nvPr/>
        </p:nvCxnSpPr>
        <p:spPr>
          <a:xfrm>
            <a:off x="10572426" y="410119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BFF57529-8511-4A55-B0E9-22C2231D9D0F}"/>
              </a:ext>
            </a:extLst>
          </p:cNvPr>
          <p:cNvCxnSpPr>
            <a:cxnSpLocks/>
          </p:cNvCxnSpPr>
          <p:nvPr/>
        </p:nvCxnSpPr>
        <p:spPr>
          <a:xfrm>
            <a:off x="10572426" y="475405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F80C55B2-8F4D-4F08-BD25-1970417A9072}"/>
              </a:ext>
            </a:extLst>
          </p:cNvPr>
          <p:cNvSpPr txBox="1"/>
          <p:nvPr/>
        </p:nvSpPr>
        <p:spPr>
          <a:xfrm>
            <a:off x="10572425" y="3702048"/>
            <a:ext cx="1394674" cy="338554"/>
          </a:xfrm>
          <a:prstGeom prst="rect">
            <a:avLst/>
          </a:prstGeom>
          <a:noFill/>
        </p:spPr>
        <p:txBody>
          <a:bodyPr wrap="square">
            <a:spAutoFit/>
          </a:bodyPr>
          <a:lstStyle/>
          <a:p>
            <a:pPr algn="ctr"/>
            <a:r>
              <a:rPr lang="fr-FR" sz="1600" dirty="0">
                <a:latin typeface="Candara" panose="020E0502030303020204" pitchFamily="34" charset="0"/>
              </a:rPr>
              <a:t>Aéroport</a:t>
            </a:r>
            <a:endParaRPr lang="fr-FR" sz="1600" dirty="0"/>
          </a:p>
        </p:txBody>
      </p:sp>
      <p:cxnSp>
        <p:nvCxnSpPr>
          <p:cNvPr id="35" name="Connecteur droit 34">
            <a:extLst>
              <a:ext uri="{FF2B5EF4-FFF2-40B4-BE49-F238E27FC236}">
                <a16:creationId xmlns:a16="http://schemas.microsoft.com/office/drawing/2014/main" id="{9F86353B-9768-48A7-B5E3-5FA24BFF7652}"/>
              </a:ext>
            </a:extLst>
          </p:cNvPr>
          <p:cNvCxnSpPr>
            <a:cxnSpLocks/>
            <a:stCxn id="31" idx="1"/>
          </p:cNvCxnSpPr>
          <p:nvPr/>
        </p:nvCxnSpPr>
        <p:spPr>
          <a:xfrm flipH="1">
            <a:off x="9462143" y="4393976"/>
            <a:ext cx="1110284" cy="10082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00A442B4-A149-4B73-A7F2-703B507D445D}"/>
              </a:ext>
            </a:extLst>
          </p:cNvPr>
          <p:cNvSpPr txBox="1"/>
          <p:nvPr/>
        </p:nvSpPr>
        <p:spPr>
          <a:xfrm>
            <a:off x="10006333" y="4454572"/>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39" name="ZoneTexte 38">
            <a:extLst>
              <a:ext uri="{FF2B5EF4-FFF2-40B4-BE49-F238E27FC236}">
                <a16:creationId xmlns:a16="http://schemas.microsoft.com/office/drawing/2014/main" id="{19D17A8D-FAF4-4698-BF43-4814783CC9EE}"/>
              </a:ext>
            </a:extLst>
          </p:cNvPr>
          <p:cNvSpPr txBox="1"/>
          <p:nvPr/>
        </p:nvSpPr>
        <p:spPr>
          <a:xfrm>
            <a:off x="8436666" y="5792762"/>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40" name="ZoneTexte 39">
            <a:extLst>
              <a:ext uri="{FF2B5EF4-FFF2-40B4-BE49-F238E27FC236}">
                <a16:creationId xmlns:a16="http://schemas.microsoft.com/office/drawing/2014/main" id="{7A9AAB50-AC92-44A3-8CE6-60CCEE624E6A}"/>
              </a:ext>
            </a:extLst>
          </p:cNvPr>
          <p:cNvSpPr txBox="1"/>
          <p:nvPr/>
        </p:nvSpPr>
        <p:spPr>
          <a:xfrm>
            <a:off x="8664745" y="3181090"/>
            <a:ext cx="612527"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Tree>
    <p:extLst>
      <p:ext uri="{BB962C8B-B14F-4D97-AF65-F5344CB8AC3E}">
        <p14:creationId xmlns:p14="http://schemas.microsoft.com/office/powerpoint/2010/main" val="19844152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n-aires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985238" cy="3970318"/>
          </a:xfrm>
          <a:prstGeom prst="rect">
            <a:avLst/>
          </a:prstGeom>
        </p:spPr>
        <p:txBody>
          <a:bodyPr wrap="square">
            <a:spAutoFit/>
          </a:bodyPr>
          <a:lstStyle/>
          <a:p>
            <a:pPr algn="just"/>
            <a:r>
              <a:rPr lang="fr-FR" sz="2800" dirty="0">
                <a:latin typeface="Candara" panose="020E0502030303020204" pitchFamily="34" charset="0"/>
              </a:rPr>
              <a:t>Ce qu’il est possible de voir :</a:t>
            </a:r>
          </a:p>
          <a:p>
            <a:pPr algn="just"/>
            <a:endParaRPr lang="fr-FR" sz="2800" dirty="0">
              <a:latin typeface="Candara" panose="020E0502030303020204" pitchFamily="34" charset="0"/>
            </a:endParaRPr>
          </a:p>
          <a:p>
            <a:pPr algn="just"/>
            <a:r>
              <a:rPr lang="fr-FR" sz="2800" dirty="0">
                <a:latin typeface="Candara" panose="020E0502030303020204" pitchFamily="34" charset="0"/>
              </a:rPr>
              <a:t>Tous les outils ne permettent pas d’implémenter cette association avec ce symbole.</a:t>
            </a:r>
          </a:p>
          <a:p>
            <a:pPr algn="just"/>
            <a:endParaRPr lang="fr-FR" sz="2800" dirty="0">
              <a:latin typeface="Candara" panose="020E0502030303020204" pitchFamily="34" charset="0"/>
            </a:endParaRPr>
          </a:p>
          <a:p>
            <a:pPr algn="just"/>
            <a:r>
              <a:rPr lang="fr-FR" sz="2800" dirty="0">
                <a:latin typeface="Candara" panose="020E0502030303020204" pitchFamily="34" charset="0"/>
              </a:rPr>
              <a:t>Combinaisons avec des doublons</a:t>
            </a:r>
          </a:p>
          <a:p>
            <a:pPr algn="just"/>
            <a:endParaRPr lang="fr-FR" sz="2800" dirty="0">
              <a:latin typeface="Candara" panose="020E0502030303020204" pitchFamily="34" charset="0"/>
            </a:endParaRPr>
          </a:p>
          <a:p>
            <a:pPr algn="just"/>
            <a:r>
              <a:rPr lang="fr-FR" sz="2800" dirty="0">
                <a:latin typeface="Candara" panose="020E0502030303020204" pitchFamily="34" charset="0"/>
              </a:rPr>
              <a:t>Aucune cohérence</a:t>
            </a:r>
          </a:p>
        </p:txBody>
      </p:sp>
      <p:sp>
        <p:nvSpPr>
          <p:cNvPr id="12" name="Rectangle 11">
            <a:extLst>
              <a:ext uri="{FF2B5EF4-FFF2-40B4-BE49-F238E27FC236}">
                <a16:creationId xmlns:a16="http://schemas.microsoft.com/office/drawing/2014/main" id="{597F623A-59F9-478B-AE3C-2AB62DD790A2}"/>
              </a:ext>
            </a:extLst>
          </p:cNvPr>
          <p:cNvSpPr/>
          <p:nvPr/>
        </p:nvSpPr>
        <p:spPr>
          <a:xfrm>
            <a:off x="6923532" y="1794200"/>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001FBE80-4634-4DDF-99BF-E7C96995BC03}"/>
              </a:ext>
            </a:extLst>
          </p:cNvPr>
          <p:cNvCxnSpPr>
            <a:cxnSpLocks/>
          </p:cNvCxnSpPr>
          <p:nvPr/>
        </p:nvCxnSpPr>
        <p:spPr>
          <a:xfrm>
            <a:off x="6923531" y="218780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2DD2BF05-D3ED-4B8F-90CA-851011A82A52}"/>
              </a:ext>
            </a:extLst>
          </p:cNvPr>
          <p:cNvCxnSpPr>
            <a:cxnSpLocks/>
          </p:cNvCxnSpPr>
          <p:nvPr/>
        </p:nvCxnSpPr>
        <p:spPr>
          <a:xfrm>
            <a:off x="6923531" y="284066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C8FBB0C7-9DD3-4D50-8349-F82E04BA1381}"/>
              </a:ext>
            </a:extLst>
          </p:cNvPr>
          <p:cNvSpPr txBox="1"/>
          <p:nvPr/>
        </p:nvSpPr>
        <p:spPr>
          <a:xfrm>
            <a:off x="6923529" y="1788658"/>
            <a:ext cx="1376559" cy="338554"/>
          </a:xfrm>
          <a:prstGeom prst="rect">
            <a:avLst/>
          </a:prstGeom>
          <a:noFill/>
        </p:spPr>
        <p:txBody>
          <a:bodyPr wrap="square">
            <a:spAutoFit/>
          </a:bodyPr>
          <a:lstStyle/>
          <a:p>
            <a:pPr algn="ctr"/>
            <a:r>
              <a:rPr lang="fr-FR" sz="1600" dirty="0">
                <a:latin typeface="Candara" panose="020E0502030303020204" pitchFamily="34" charset="0"/>
              </a:rPr>
              <a:t>Compagnie</a:t>
            </a:r>
            <a:endParaRPr lang="fr-FR" sz="1600" dirty="0"/>
          </a:p>
        </p:txBody>
      </p:sp>
      <p:cxnSp>
        <p:nvCxnSpPr>
          <p:cNvPr id="16" name="Connecteur droit 15">
            <a:extLst>
              <a:ext uri="{FF2B5EF4-FFF2-40B4-BE49-F238E27FC236}">
                <a16:creationId xmlns:a16="http://schemas.microsoft.com/office/drawing/2014/main" id="{135360F3-E385-4651-8480-BE33F4F1B4FC}"/>
              </a:ext>
            </a:extLst>
          </p:cNvPr>
          <p:cNvCxnSpPr>
            <a:cxnSpLocks/>
            <a:stCxn id="26" idx="1"/>
            <a:endCxn id="12" idx="2"/>
          </p:cNvCxnSpPr>
          <p:nvPr/>
        </p:nvCxnSpPr>
        <p:spPr>
          <a:xfrm flipH="1" flipV="1">
            <a:off x="7652595" y="3166972"/>
            <a:ext cx="1262341" cy="86660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1698134-94B3-43B5-96B7-B806EB3ADCF4}"/>
              </a:ext>
            </a:extLst>
          </p:cNvPr>
          <p:cNvSpPr/>
          <p:nvPr/>
        </p:nvSpPr>
        <p:spPr>
          <a:xfrm>
            <a:off x="8978215" y="5271587"/>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1" name="Connecteur droit 20">
            <a:extLst>
              <a:ext uri="{FF2B5EF4-FFF2-40B4-BE49-F238E27FC236}">
                <a16:creationId xmlns:a16="http://schemas.microsoft.com/office/drawing/2014/main" id="{5A96F6E8-6F95-44C4-8FFB-9960B4E2E1F8}"/>
              </a:ext>
            </a:extLst>
          </p:cNvPr>
          <p:cNvCxnSpPr>
            <a:cxnSpLocks/>
          </p:cNvCxnSpPr>
          <p:nvPr/>
        </p:nvCxnSpPr>
        <p:spPr>
          <a:xfrm>
            <a:off x="8978214" y="566519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FE21E76-072E-4137-B3CD-6968E17872F0}"/>
              </a:ext>
            </a:extLst>
          </p:cNvPr>
          <p:cNvCxnSpPr>
            <a:cxnSpLocks/>
          </p:cNvCxnSpPr>
          <p:nvPr/>
        </p:nvCxnSpPr>
        <p:spPr>
          <a:xfrm>
            <a:off x="8978214" y="631805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477F51B7-139F-4F90-81C6-A8986023F881}"/>
              </a:ext>
            </a:extLst>
          </p:cNvPr>
          <p:cNvSpPr txBox="1"/>
          <p:nvPr/>
        </p:nvSpPr>
        <p:spPr>
          <a:xfrm>
            <a:off x="9050288" y="5266045"/>
            <a:ext cx="1305017" cy="338554"/>
          </a:xfrm>
          <a:prstGeom prst="rect">
            <a:avLst/>
          </a:prstGeom>
          <a:noFill/>
        </p:spPr>
        <p:txBody>
          <a:bodyPr wrap="square">
            <a:spAutoFit/>
          </a:bodyPr>
          <a:lstStyle/>
          <a:p>
            <a:pPr algn="ctr"/>
            <a:r>
              <a:rPr lang="fr-FR" sz="1600" dirty="0">
                <a:latin typeface="Candara" panose="020E0502030303020204" pitchFamily="34" charset="0"/>
              </a:rPr>
              <a:t>Personnel</a:t>
            </a:r>
            <a:endParaRPr lang="fr-FR" sz="1600" dirty="0"/>
          </a:p>
        </p:txBody>
      </p:sp>
      <p:cxnSp>
        <p:nvCxnSpPr>
          <p:cNvPr id="25" name="Connecteur droit 24">
            <a:extLst>
              <a:ext uri="{FF2B5EF4-FFF2-40B4-BE49-F238E27FC236}">
                <a16:creationId xmlns:a16="http://schemas.microsoft.com/office/drawing/2014/main" id="{CD86E736-EF8A-471F-AC80-F689CA083922}"/>
              </a:ext>
            </a:extLst>
          </p:cNvPr>
          <p:cNvCxnSpPr>
            <a:cxnSpLocks/>
            <a:stCxn id="26" idx="2"/>
            <a:endCxn id="20" idx="0"/>
          </p:cNvCxnSpPr>
          <p:nvPr/>
        </p:nvCxnSpPr>
        <p:spPr>
          <a:xfrm>
            <a:off x="9643999" y="4719967"/>
            <a:ext cx="63279" cy="55162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CDC0837-29E9-44E3-A6F3-866A504EC802}"/>
              </a:ext>
            </a:extLst>
          </p:cNvPr>
          <p:cNvSpPr/>
          <p:nvPr/>
        </p:nvSpPr>
        <p:spPr>
          <a:xfrm>
            <a:off x="10521420" y="1792326"/>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08DD8A0E-98A5-421B-84CA-5854FEFCAEBA}"/>
              </a:ext>
            </a:extLst>
          </p:cNvPr>
          <p:cNvCxnSpPr>
            <a:cxnSpLocks/>
          </p:cNvCxnSpPr>
          <p:nvPr/>
        </p:nvCxnSpPr>
        <p:spPr>
          <a:xfrm>
            <a:off x="10521419" y="218593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BFF57529-8511-4A55-B0E9-22C2231D9D0F}"/>
              </a:ext>
            </a:extLst>
          </p:cNvPr>
          <p:cNvCxnSpPr>
            <a:cxnSpLocks/>
          </p:cNvCxnSpPr>
          <p:nvPr/>
        </p:nvCxnSpPr>
        <p:spPr>
          <a:xfrm>
            <a:off x="10521419" y="283879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F80C55B2-8F4D-4F08-BD25-1970417A9072}"/>
              </a:ext>
            </a:extLst>
          </p:cNvPr>
          <p:cNvSpPr txBox="1"/>
          <p:nvPr/>
        </p:nvSpPr>
        <p:spPr>
          <a:xfrm>
            <a:off x="10521418" y="1786784"/>
            <a:ext cx="1394674" cy="338554"/>
          </a:xfrm>
          <a:prstGeom prst="rect">
            <a:avLst/>
          </a:prstGeom>
          <a:noFill/>
        </p:spPr>
        <p:txBody>
          <a:bodyPr wrap="square">
            <a:spAutoFit/>
          </a:bodyPr>
          <a:lstStyle/>
          <a:p>
            <a:pPr algn="ctr"/>
            <a:r>
              <a:rPr lang="fr-FR" sz="1600" dirty="0">
                <a:latin typeface="Candara" panose="020E0502030303020204" pitchFamily="34" charset="0"/>
              </a:rPr>
              <a:t>Aéroport</a:t>
            </a:r>
            <a:endParaRPr lang="fr-FR" sz="1600" dirty="0"/>
          </a:p>
        </p:txBody>
      </p:sp>
      <p:cxnSp>
        <p:nvCxnSpPr>
          <p:cNvPr id="35" name="Connecteur droit 34">
            <a:extLst>
              <a:ext uri="{FF2B5EF4-FFF2-40B4-BE49-F238E27FC236}">
                <a16:creationId xmlns:a16="http://schemas.microsoft.com/office/drawing/2014/main" id="{9F86353B-9768-48A7-B5E3-5FA24BFF7652}"/>
              </a:ext>
            </a:extLst>
          </p:cNvPr>
          <p:cNvCxnSpPr>
            <a:cxnSpLocks/>
            <a:stCxn id="31" idx="2"/>
            <a:endCxn id="26" idx="3"/>
          </p:cNvCxnSpPr>
          <p:nvPr/>
        </p:nvCxnSpPr>
        <p:spPr>
          <a:xfrm flipH="1">
            <a:off x="10373061" y="3165098"/>
            <a:ext cx="877422" cy="86848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00A442B4-A149-4B73-A7F2-703B507D445D}"/>
              </a:ext>
            </a:extLst>
          </p:cNvPr>
          <p:cNvSpPr txBox="1"/>
          <p:nvPr/>
        </p:nvSpPr>
        <p:spPr>
          <a:xfrm>
            <a:off x="8300088" y="3971369"/>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39" name="ZoneTexte 38">
            <a:extLst>
              <a:ext uri="{FF2B5EF4-FFF2-40B4-BE49-F238E27FC236}">
                <a16:creationId xmlns:a16="http://schemas.microsoft.com/office/drawing/2014/main" id="{19D17A8D-FAF4-4698-BF43-4814783CC9EE}"/>
              </a:ext>
            </a:extLst>
          </p:cNvPr>
          <p:cNvSpPr txBox="1"/>
          <p:nvPr/>
        </p:nvSpPr>
        <p:spPr>
          <a:xfrm>
            <a:off x="9063111" y="4692870"/>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40" name="ZoneTexte 39">
            <a:extLst>
              <a:ext uri="{FF2B5EF4-FFF2-40B4-BE49-F238E27FC236}">
                <a16:creationId xmlns:a16="http://schemas.microsoft.com/office/drawing/2014/main" id="{7A9AAB50-AC92-44A3-8CE6-60CCEE624E6A}"/>
              </a:ext>
            </a:extLst>
          </p:cNvPr>
          <p:cNvSpPr txBox="1"/>
          <p:nvPr/>
        </p:nvSpPr>
        <p:spPr>
          <a:xfrm>
            <a:off x="7250934" y="3162347"/>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26" name="Rectangle 25">
            <a:extLst>
              <a:ext uri="{FF2B5EF4-FFF2-40B4-BE49-F238E27FC236}">
                <a16:creationId xmlns:a16="http://schemas.microsoft.com/office/drawing/2014/main" id="{2E0DEF36-BB81-4D33-8549-B419D8C4ED18}"/>
              </a:ext>
            </a:extLst>
          </p:cNvPr>
          <p:cNvSpPr/>
          <p:nvPr/>
        </p:nvSpPr>
        <p:spPr>
          <a:xfrm>
            <a:off x="8914936" y="3347195"/>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7" name="Connecteur droit 26">
            <a:extLst>
              <a:ext uri="{FF2B5EF4-FFF2-40B4-BE49-F238E27FC236}">
                <a16:creationId xmlns:a16="http://schemas.microsoft.com/office/drawing/2014/main" id="{10C6F3EB-5529-4A3A-9F5A-CE56F1B58E83}"/>
              </a:ext>
            </a:extLst>
          </p:cNvPr>
          <p:cNvCxnSpPr>
            <a:cxnSpLocks/>
          </p:cNvCxnSpPr>
          <p:nvPr/>
        </p:nvCxnSpPr>
        <p:spPr>
          <a:xfrm>
            <a:off x="8914935" y="374080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E048F2F8-5930-450C-9825-0AD1D4614D43}"/>
              </a:ext>
            </a:extLst>
          </p:cNvPr>
          <p:cNvCxnSpPr>
            <a:cxnSpLocks/>
          </p:cNvCxnSpPr>
          <p:nvPr/>
        </p:nvCxnSpPr>
        <p:spPr>
          <a:xfrm>
            <a:off x="8914935" y="439366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88C8F543-5C15-49CD-9526-174B1F118003}"/>
              </a:ext>
            </a:extLst>
          </p:cNvPr>
          <p:cNvSpPr txBox="1"/>
          <p:nvPr/>
        </p:nvSpPr>
        <p:spPr>
          <a:xfrm>
            <a:off x="8914934" y="3341653"/>
            <a:ext cx="1394674" cy="338554"/>
          </a:xfrm>
          <a:prstGeom prst="rect">
            <a:avLst/>
          </a:prstGeom>
          <a:noFill/>
        </p:spPr>
        <p:txBody>
          <a:bodyPr wrap="square">
            <a:spAutoFit/>
          </a:bodyPr>
          <a:lstStyle/>
          <a:p>
            <a:pPr algn="ctr"/>
            <a:r>
              <a:rPr lang="fr-FR" sz="1600" dirty="0">
                <a:latin typeface="Candara" panose="020E0502030303020204" pitchFamily="34" charset="0"/>
              </a:rPr>
              <a:t>Embauche</a:t>
            </a:r>
            <a:endParaRPr lang="fr-FR" sz="1600" dirty="0"/>
          </a:p>
        </p:txBody>
      </p:sp>
      <p:sp>
        <p:nvSpPr>
          <p:cNvPr id="36" name="ZoneTexte 35">
            <a:extLst>
              <a:ext uri="{FF2B5EF4-FFF2-40B4-BE49-F238E27FC236}">
                <a16:creationId xmlns:a16="http://schemas.microsoft.com/office/drawing/2014/main" id="{96E9E7C7-412F-469C-8311-1C22CD8667D8}"/>
              </a:ext>
            </a:extLst>
          </p:cNvPr>
          <p:cNvSpPr txBox="1"/>
          <p:nvPr/>
        </p:nvSpPr>
        <p:spPr>
          <a:xfrm>
            <a:off x="10431328" y="3933186"/>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37" name="ZoneTexte 36">
            <a:extLst>
              <a:ext uri="{FF2B5EF4-FFF2-40B4-BE49-F238E27FC236}">
                <a16:creationId xmlns:a16="http://schemas.microsoft.com/office/drawing/2014/main" id="{46ED2CA7-E283-4CDB-89B1-B4AB277F8E9C}"/>
              </a:ext>
            </a:extLst>
          </p:cNvPr>
          <p:cNvSpPr txBox="1"/>
          <p:nvPr/>
        </p:nvSpPr>
        <p:spPr>
          <a:xfrm>
            <a:off x="9693388" y="4885593"/>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41" name="ZoneTexte 40">
            <a:extLst>
              <a:ext uri="{FF2B5EF4-FFF2-40B4-BE49-F238E27FC236}">
                <a16:creationId xmlns:a16="http://schemas.microsoft.com/office/drawing/2014/main" id="{B61C2CCB-0BB1-446C-B19C-0D8C86A5BB0B}"/>
              </a:ext>
            </a:extLst>
          </p:cNvPr>
          <p:cNvSpPr txBox="1"/>
          <p:nvPr/>
        </p:nvSpPr>
        <p:spPr>
          <a:xfrm>
            <a:off x="11134421" y="3179810"/>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Tree>
    <p:extLst>
      <p:ext uri="{BB962C8B-B14F-4D97-AF65-F5344CB8AC3E}">
        <p14:creationId xmlns:p14="http://schemas.microsoft.com/office/powerpoint/2010/main" val="1156359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n-aires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985238" cy="4832092"/>
          </a:xfrm>
          <a:prstGeom prst="rect">
            <a:avLst/>
          </a:prstGeom>
        </p:spPr>
        <p:txBody>
          <a:bodyPr wrap="square">
            <a:spAutoFit/>
          </a:bodyPr>
          <a:lstStyle/>
          <a:p>
            <a:pPr algn="just"/>
            <a:r>
              <a:rPr lang="fr-FR" sz="2800" dirty="0">
                <a:latin typeface="Candara" panose="020E0502030303020204" pitchFamily="34" charset="0"/>
              </a:rPr>
              <a:t>Ce qu’il ne faut pas faire :</a:t>
            </a:r>
          </a:p>
          <a:p>
            <a:pPr algn="just"/>
            <a:endParaRPr lang="fr-FR" sz="2800" dirty="0">
              <a:latin typeface="Candara" panose="020E0502030303020204" pitchFamily="34" charset="0"/>
            </a:endParaRPr>
          </a:p>
          <a:p>
            <a:pPr algn="just"/>
            <a:r>
              <a:rPr lang="fr-FR" sz="2800" dirty="0">
                <a:latin typeface="Candara" panose="020E0502030303020204" pitchFamily="34" charset="0"/>
              </a:rPr>
              <a:t>Considérer les classes d’égale importance :</a:t>
            </a:r>
          </a:p>
          <a:p>
            <a:pPr algn="just"/>
            <a:endParaRPr lang="fr-FR" sz="2800" dirty="0">
              <a:latin typeface="Candara" panose="020E0502030303020204" pitchFamily="34" charset="0"/>
            </a:endParaRPr>
          </a:p>
          <a:p>
            <a:pPr marL="457200" indent="-457200" algn="just">
              <a:buFont typeface="Symbol" panose="05050102010706020507" pitchFamily="18" charset="2"/>
              <a:buChar char="Þ"/>
            </a:pPr>
            <a:r>
              <a:rPr lang="fr-FR" sz="2400" i="1" dirty="0">
                <a:latin typeface="Candara" panose="020E0502030303020204" pitchFamily="34" charset="0"/>
              </a:rPr>
              <a:t>Rapport émis par un collaborateur qui travaille pour un département sur un projet donné</a:t>
            </a:r>
          </a:p>
          <a:p>
            <a:pPr marL="457200" indent="-457200" algn="just">
              <a:buFont typeface="Symbol" panose="05050102010706020507" pitchFamily="18" charset="2"/>
              <a:buChar char="Þ"/>
            </a:pPr>
            <a:r>
              <a:rPr lang="fr-FR" sz="2400" i="1" dirty="0">
                <a:latin typeface="Candara" panose="020E0502030303020204" pitchFamily="34" charset="0"/>
              </a:rPr>
              <a:t>Collaborateur travaille pour un département, que le département explore plusieurs projets, et que le collaborateur peut travailler dans différents projets</a:t>
            </a:r>
            <a:endParaRPr lang="fr-FR" sz="2800" i="1" dirty="0">
              <a:latin typeface="Candara" panose="020E0502030303020204" pitchFamily="34" charset="0"/>
            </a:endParaRPr>
          </a:p>
        </p:txBody>
      </p:sp>
      <p:sp>
        <p:nvSpPr>
          <p:cNvPr id="42" name="Rectangle 41">
            <a:extLst>
              <a:ext uri="{FF2B5EF4-FFF2-40B4-BE49-F238E27FC236}">
                <a16:creationId xmlns:a16="http://schemas.microsoft.com/office/drawing/2014/main" id="{F5CA4AD4-36B9-4496-9848-BA11A3A97688}"/>
              </a:ext>
            </a:extLst>
          </p:cNvPr>
          <p:cNvSpPr/>
          <p:nvPr/>
        </p:nvSpPr>
        <p:spPr>
          <a:xfrm>
            <a:off x="7634278" y="1776627"/>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43" name="Connecteur droit 42">
            <a:extLst>
              <a:ext uri="{FF2B5EF4-FFF2-40B4-BE49-F238E27FC236}">
                <a16:creationId xmlns:a16="http://schemas.microsoft.com/office/drawing/2014/main" id="{5ED7D5AD-D84C-43DF-9705-F3ED3B74069E}"/>
              </a:ext>
            </a:extLst>
          </p:cNvPr>
          <p:cNvCxnSpPr>
            <a:cxnSpLocks/>
          </p:cNvCxnSpPr>
          <p:nvPr/>
        </p:nvCxnSpPr>
        <p:spPr>
          <a:xfrm>
            <a:off x="7634277" y="217023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6FDFAC61-56A2-4DE2-BF32-AC9CD8DB84C4}"/>
              </a:ext>
            </a:extLst>
          </p:cNvPr>
          <p:cNvCxnSpPr>
            <a:cxnSpLocks/>
          </p:cNvCxnSpPr>
          <p:nvPr/>
        </p:nvCxnSpPr>
        <p:spPr>
          <a:xfrm>
            <a:off x="7634277" y="282309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27B63287-ED46-44E3-8A9C-21224406D806}"/>
              </a:ext>
            </a:extLst>
          </p:cNvPr>
          <p:cNvSpPr txBox="1"/>
          <p:nvPr/>
        </p:nvSpPr>
        <p:spPr>
          <a:xfrm>
            <a:off x="7634275" y="1771085"/>
            <a:ext cx="1376559" cy="338554"/>
          </a:xfrm>
          <a:prstGeom prst="rect">
            <a:avLst/>
          </a:prstGeom>
          <a:noFill/>
        </p:spPr>
        <p:txBody>
          <a:bodyPr wrap="square">
            <a:spAutoFit/>
          </a:bodyPr>
          <a:lstStyle/>
          <a:p>
            <a:pPr algn="ctr"/>
            <a:r>
              <a:rPr lang="fr-FR" sz="1600" dirty="0">
                <a:latin typeface="Candara" panose="020E0502030303020204" pitchFamily="34" charset="0"/>
              </a:rPr>
              <a:t>Collaborateur</a:t>
            </a:r>
            <a:endParaRPr lang="fr-FR" sz="1600" dirty="0"/>
          </a:p>
        </p:txBody>
      </p:sp>
      <p:cxnSp>
        <p:nvCxnSpPr>
          <p:cNvPr id="46" name="Connecteur droit 45">
            <a:extLst>
              <a:ext uri="{FF2B5EF4-FFF2-40B4-BE49-F238E27FC236}">
                <a16:creationId xmlns:a16="http://schemas.microsoft.com/office/drawing/2014/main" id="{734F8779-2850-4F62-B593-2A95B6EC1545}"/>
              </a:ext>
            </a:extLst>
          </p:cNvPr>
          <p:cNvCxnSpPr>
            <a:cxnSpLocks/>
            <a:endCxn id="42" idx="2"/>
          </p:cNvCxnSpPr>
          <p:nvPr/>
        </p:nvCxnSpPr>
        <p:spPr>
          <a:xfrm flipH="1" flipV="1">
            <a:off x="8363341" y="3149399"/>
            <a:ext cx="913931" cy="118104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32328F7-A4E1-4C05-9D38-CDD5BB9792FD}"/>
              </a:ext>
            </a:extLst>
          </p:cNvPr>
          <p:cNvSpPr/>
          <p:nvPr/>
        </p:nvSpPr>
        <p:spPr>
          <a:xfrm rot="2702028">
            <a:off x="9146117" y="4375358"/>
            <a:ext cx="262311" cy="26058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48" name="Rectangle 47">
            <a:extLst>
              <a:ext uri="{FF2B5EF4-FFF2-40B4-BE49-F238E27FC236}">
                <a16:creationId xmlns:a16="http://schemas.microsoft.com/office/drawing/2014/main" id="{B913BF43-E97C-4C37-8DAE-AFA6B5C1F086}"/>
              </a:ext>
            </a:extLst>
          </p:cNvPr>
          <p:cNvSpPr/>
          <p:nvPr/>
        </p:nvSpPr>
        <p:spPr>
          <a:xfrm>
            <a:off x="6923530" y="5218625"/>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49" name="Connecteur droit 48">
            <a:extLst>
              <a:ext uri="{FF2B5EF4-FFF2-40B4-BE49-F238E27FC236}">
                <a16:creationId xmlns:a16="http://schemas.microsoft.com/office/drawing/2014/main" id="{C40D3541-3FCD-4227-AF1B-2BC924717298}"/>
              </a:ext>
            </a:extLst>
          </p:cNvPr>
          <p:cNvCxnSpPr>
            <a:cxnSpLocks/>
          </p:cNvCxnSpPr>
          <p:nvPr/>
        </p:nvCxnSpPr>
        <p:spPr>
          <a:xfrm>
            <a:off x="6923529" y="561223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7BB3A7B8-F584-4B27-86E8-37A14B72BC28}"/>
              </a:ext>
            </a:extLst>
          </p:cNvPr>
          <p:cNvCxnSpPr>
            <a:cxnSpLocks/>
          </p:cNvCxnSpPr>
          <p:nvPr/>
        </p:nvCxnSpPr>
        <p:spPr>
          <a:xfrm>
            <a:off x="6923529" y="626509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ZoneTexte 50">
            <a:extLst>
              <a:ext uri="{FF2B5EF4-FFF2-40B4-BE49-F238E27FC236}">
                <a16:creationId xmlns:a16="http://schemas.microsoft.com/office/drawing/2014/main" id="{413E14EF-2189-41CD-90F9-CCD93FCA61C4}"/>
              </a:ext>
            </a:extLst>
          </p:cNvPr>
          <p:cNvSpPr txBox="1"/>
          <p:nvPr/>
        </p:nvSpPr>
        <p:spPr>
          <a:xfrm>
            <a:off x="6995603" y="5213083"/>
            <a:ext cx="1305017" cy="338554"/>
          </a:xfrm>
          <a:prstGeom prst="rect">
            <a:avLst/>
          </a:prstGeom>
          <a:noFill/>
        </p:spPr>
        <p:txBody>
          <a:bodyPr wrap="square">
            <a:spAutoFit/>
          </a:bodyPr>
          <a:lstStyle/>
          <a:p>
            <a:pPr algn="ctr"/>
            <a:r>
              <a:rPr lang="fr-FR" sz="1600" dirty="0">
                <a:latin typeface="Candara" panose="020E0502030303020204" pitchFamily="34" charset="0"/>
              </a:rPr>
              <a:t>Projet</a:t>
            </a:r>
            <a:endParaRPr lang="fr-FR" sz="1600" dirty="0"/>
          </a:p>
        </p:txBody>
      </p:sp>
      <p:cxnSp>
        <p:nvCxnSpPr>
          <p:cNvPr id="52" name="Connecteur droit 51">
            <a:extLst>
              <a:ext uri="{FF2B5EF4-FFF2-40B4-BE49-F238E27FC236}">
                <a16:creationId xmlns:a16="http://schemas.microsoft.com/office/drawing/2014/main" id="{7EF376F7-5B70-44F2-9ADB-52F53DD854FE}"/>
              </a:ext>
            </a:extLst>
          </p:cNvPr>
          <p:cNvCxnSpPr>
            <a:cxnSpLocks/>
            <a:endCxn id="48" idx="3"/>
          </p:cNvCxnSpPr>
          <p:nvPr/>
        </p:nvCxnSpPr>
        <p:spPr>
          <a:xfrm flipH="1">
            <a:off x="8381655" y="4690520"/>
            <a:ext cx="895617" cy="121449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9DD4EB4B-47CF-4F3A-A623-B43B7A6A5566}"/>
              </a:ext>
            </a:extLst>
          </p:cNvPr>
          <p:cNvSpPr/>
          <p:nvPr/>
        </p:nvSpPr>
        <p:spPr>
          <a:xfrm>
            <a:off x="10572427" y="3707590"/>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54" name="Connecteur droit 53">
            <a:extLst>
              <a:ext uri="{FF2B5EF4-FFF2-40B4-BE49-F238E27FC236}">
                <a16:creationId xmlns:a16="http://schemas.microsoft.com/office/drawing/2014/main" id="{7D307D44-E54F-4939-B20F-0442383CFBB7}"/>
              </a:ext>
            </a:extLst>
          </p:cNvPr>
          <p:cNvCxnSpPr>
            <a:cxnSpLocks/>
          </p:cNvCxnSpPr>
          <p:nvPr/>
        </p:nvCxnSpPr>
        <p:spPr>
          <a:xfrm>
            <a:off x="10572426" y="410119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D18554B5-A737-4392-B50F-86676F43F68C}"/>
              </a:ext>
            </a:extLst>
          </p:cNvPr>
          <p:cNvCxnSpPr>
            <a:cxnSpLocks/>
          </p:cNvCxnSpPr>
          <p:nvPr/>
        </p:nvCxnSpPr>
        <p:spPr>
          <a:xfrm>
            <a:off x="10572426" y="475405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ZoneTexte 55">
            <a:extLst>
              <a:ext uri="{FF2B5EF4-FFF2-40B4-BE49-F238E27FC236}">
                <a16:creationId xmlns:a16="http://schemas.microsoft.com/office/drawing/2014/main" id="{BE40CDF1-90CF-4703-9B2F-6A62F0ADD0C2}"/>
              </a:ext>
            </a:extLst>
          </p:cNvPr>
          <p:cNvSpPr txBox="1"/>
          <p:nvPr/>
        </p:nvSpPr>
        <p:spPr>
          <a:xfrm>
            <a:off x="10572425" y="3702048"/>
            <a:ext cx="1394674" cy="338554"/>
          </a:xfrm>
          <a:prstGeom prst="rect">
            <a:avLst/>
          </a:prstGeom>
          <a:noFill/>
        </p:spPr>
        <p:txBody>
          <a:bodyPr wrap="square">
            <a:spAutoFit/>
          </a:bodyPr>
          <a:lstStyle/>
          <a:p>
            <a:pPr algn="ctr"/>
            <a:r>
              <a:rPr lang="fr-FR" sz="1600" dirty="0">
                <a:latin typeface="Candara" panose="020E0502030303020204" pitchFamily="34" charset="0"/>
              </a:rPr>
              <a:t>Département</a:t>
            </a:r>
            <a:endParaRPr lang="fr-FR" sz="1600" dirty="0"/>
          </a:p>
        </p:txBody>
      </p:sp>
      <p:cxnSp>
        <p:nvCxnSpPr>
          <p:cNvPr id="57" name="Connecteur droit 56">
            <a:extLst>
              <a:ext uri="{FF2B5EF4-FFF2-40B4-BE49-F238E27FC236}">
                <a16:creationId xmlns:a16="http://schemas.microsoft.com/office/drawing/2014/main" id="{C05471EF-F901-4FEF-9087-2EBEBE1FD0B8}"/>
              </a:ext>
            </a:extLst>
          </p:cNvPr>
          <p:cNvCxnSpPr>
            <a:cxnSpLocks/>
            <a:stCxn id="53" idx="1"/>
          </p:cNvCxnSpPr>
          <p:nvPr/>
        </p:nvCxnSpPr>
        <p:spPr>
          <a:xfrm flipH="1">
            <a:off x="9462143" y="4393976"/>
            <a:ext cx="1110284" cy="10082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ZoneTexte 57">
            <a:extLst>
              <a:ext uri="{FF2B5EF4-FFF2-40B4-BE49-F238E27FC236}">
                <a16:creationId xmlns:a16="http://schemas.microsoft.com/office/drawing/2014/main" id="{E2B669D8-0708-4B6A-B71E-3F77FBDCB4A5}"/>
              </a:ext>
            </a:extLst>
          </p:cNvPr>
          <p:cNvSpPr txBox="1"/>
          <p:nvPr/>
        </p:nvSpPr>
        <p:spPr>
          <a:xfrm>
            <a:off x="10006333" y="4454572"/>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59" name="ZoneTexte 58">
            <a:extLst>
              <a:ext uri="{FF2B5EF4-FFF2-40B4-BE49-F238E27FC236}">
                <a16:creationId xmlns:a16="http://schemas.microsoft.com/office/drawing/2014/main" id="{30A5D1A6-1A4D-43CD-84E1-A3BDF1FB3498}"/>
              </a:ext>
            </a:extLst>
          </p:cNvPr>
          <p:cNvSpPr txBox="1"/>
          <p:nvPr/>
        </p:nvSpPr>
        <p:spPr>
          <a:xfrm>
            <a:off x="8436666" y="5792762"/>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60" name="ZoneTexte 59">
            <a:extLst>
              <a:ext uri="{FF2B5EF4-FFF2-40B4-BE49-F238E27FC236}">
                <a16:creationId xmlns:a16="http://schemas.microsoft.com/office/drawing/2014/main" id="{C4765FB5-0D12-4679-A3FB-7E3CA460A6D0}"/>
              </a:ext>
            </a:extLst>
          </p:cNvPr>
          <p:cNvSpPr txBox="1"/>
          <p:nvPr/>
        </p:nvSpPr>
        <p:spPr>
          <a:xfrm>
            <a:off x="8664745" y="3181090"/>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61" name="Rectangle 60">
            <a:extLst>
              <a:ext uri="{FF2B5EF4-FFF2-40B4-BE49-F238E27FC236}">
                <a16:creationId xmlns:a16="http://schemas.microsoft.com/office/drawing/2014/main" id="{A16CD88E-B18C-4649-8872-C28A8B6A987F}"/>
              </a:ext>
            </a:extLst>
          </p:cNvPr>
          <p:cNvSpPr/>
          <p:nvPr/>
        </p:nvSpPr>
        <p:spPr>
          <a:xfrm>
            <a:off x="9462143" y="5612232"/>
            <a:ext cx="1613837" cy="1080725"/>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62" name="Connecteur droit 61">
            <a:extLst>
              <a:ext uri="{FF2B5EF4-FFF2-40B4-BE49-F238E27FC236}">
                <a16:creationId xmlns:a16="http://schemas.microsoft.com/office/drawing/2014/main" id="{9D863F21-A0BC-4F6E-9BA8-CAA70F8DFEF9}"/>
              </a:ext>
            </a:extLst>
          </p:cNvPr>
          <p:cNvCxnSpPr>
            <a:cxnSpLocks/>
          </p:cNvCxnSpPr>
          <p:nvPr/>
        </p:nvCxnSpPr>
        <p:spPr>
          <a:xfrm>
            <a:off x="9462143" y="6011179"/>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C3AAB50D-C079-43A6-9BEF-10C34A8434CD}"/>
              </a:ext>
            </a:extLst>
          </p:cNvPr>
          <p:cNvCxnSpPr>
            <a:cxnSpLocks/>
          </p:cNvCxnSpPr>
          <p:nvPr/>
        </p:nvCxnSpPr>
        <p:spPr>
          <a:xfrm>
            <a:off x="9462143" y="6535273"/>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ZoneTexte 63">
            <a:extLst>
              <a:ext uri="{FF2B5EF4-FFF2-40B4-BE49-F238E27FC236}">
                <a16:creationId xmlns:a16="http://schemas.microsoft.com/office/drawing/2014/main" id="{BADDF2BF-2C16-4BD1-9304-24001593DF2D}"/>
              </a:ext>
            </a:extLst>
          </p:cNvPr>
          <p:cNvSpPr txBox="1"/>
          <p:nvPr/>
        </p:nvSpPr>
        <p:spPr>
          <a:xfrm>
            <a:off x="9497408" y="5629363"/>
            <a:ext cx="1543060" cy="338554"/>
          </a:xfrm>
          <a:prstGeom prst="rect">
            <a:avLst/>
          </a:prstGeom>
          <a:noFill/>
        </p:spPr>
        <p:txBody>
          <a:bodyPr wrap="square">
            <a:spAutoFit/>
          </a:bodyPr>
          <a:lstStyle/>
          <a:p>
            <a:pPr algn="ctr"/>
            <a:r>
              <a:rPr lang="fr-FR" sz="1600" dirty="0">
                <a:latin typeface="Candara" panose="020E0502030303020204" pitchFamily="34" charset="0"/>
              </a:rPr>
              <a:t>Rapport</a:t>
            </a:r>
            <a:endParaRPr lang="fr-FR" sz="1600" dirty="0"/>
          </a:p>
        </p:txBody>
      </p:sp>
      <p:cxnSp>
        <p:nvCxnSpPr>
          <p:cNvPr id="66" name="Connecteur droit 65">
            <a:extLst>
              <a:ext uri="{FF2B5EF4-FFF2-40B4-BE49-F238E27FC236}">
                <a16:creationId xmlns:a16="http://schemas.microsoft.com/office/drawing/2014/main" id="{3BADDE2E-5634-404A-953A-FDC157402AD7}"/>
              </a:ext>
            </a:extLst>
          </p:cNvPr>
          <p:cNvCxnSpPr>
            <a:cxnSpLocks/>
          </p:cNvCxnSpPr>
          <p:nvPr/>
        </p:nvCxnSpPr>
        <p:spPr>
          <a:xfrm>
            <a:off x="9568050" y="4754057"/>
            <a:ext cx="266336" cy="32630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A7A6E986-418A-491C-BA29-E15016CF485F}"/>
              </a:ext>
            </a:extLst>
          </p:cNvPr>
          <p:cNvCxnSpPr>
            <a:cxnSpLocks/>
          </p:cNvCxnSpPr>
          <p:nvPr/>
        </p:nvCxnSpPr>
        <p:spPr>
          <a:xfrm>
            <a:off x="10032967" y="5299969"/>
            <a:ext cx="238503" cy="27217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8649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ACCF645-2721-436B-81F8-B8CF4944F95D}"/>
              </a:ext>
            </a:extLst>
          </p:cNvPr>
          <p:cNvPicPr>
            <a:picLocks noChangeAspect="1"/>
          </p:cNvPicPr>
          <p:nvPr/>
        </p:nvPicPr>
        <p:blipFill>
          <a:blip r:embed="rId2"/>
          <a:stretch>
            <a:fillRect/>
          </a:stretch>
        </p:blipFill>
        <p:spPr>
          <a:xfrm>
            <a:off x="5060456" y="3501187"/>
            <a:ext cx="6969615" cy="2983568"/>
          </a:xfrm>
          <a:prstGeom prst="rect">
            <a:avLst/>
          </a:prstGeom>
        </p:spPr>
      </p:pic>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n-aires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985238" cy="1815882"/>
          </a:xfrm>
          <a:prstGeom prst="rect">
            <a:avLst/>
          </a:prstGeom>
        </p:spPr>
        <p:txBody>
          <a:bodyPr wrap="square">
            <a:spAutoFit/>
          </a:bodyPr>
          <a:lstStyle/>
          <a:p>
            <a:pPr algn="just"/>
            <a:r>
              <a:rPr lang="fr-FR" sz="2800" dirty="0">
                <a:latin typeface="Candara" panose="020E0502030303020204" pitchFamily="34" charset="0"/>
              </a:rPr>
              <a:t>Ce qu’il ne faut pas faire :</a:t>
            </a:r>
          </a:p>
          <a:p>
            <a:pPr algn="just"/>
            <a:endParaRPr lang="fr-FR" sz="2800" dirty="0">
              <a:latin typeface="Candara" panose="020E0502030303020204" pitchFamily="34" charset="0"/>
            </a:endParaRPr>
          </a:p>
          <a:p>
            <a:pPr algn="just"/>
            <a:r>
              <a:rPr lang="fr-FR" sz="2800" dirty="0">
                <a:latin typeface="Candara" panose="020E0502030303020204" pitchFamily="34" charset="0"/>
              </a:rPr>
              <a:t>Difficile de respecter les contraintes =&gt; possibilité de données </a:t>
            </a:r>
            <a:r>
              <a:rPr lang="fr-FR" sz="2800" dirty="0" err="1">
                <a:latin typeface="Candara" panose="020E0502030303020204" pitchFamily="34" charset="0"/>
              </a:rPr>
              <a:t>éronnées</a:t>
            </a:r>
            <a:r>
              <a:rPr lang="fr-FR" sz="2800" dirty="0">
                <a:latin typeface="Candara" panose="020E0502030303020204" pitchFamily="34" charset="0"/>
              </a:rPr>
              <a:t>. </a:t>
            </a:r>
          </a:p>
        </p:txBody>
      </p:sp>
      <p:sp>
        <p:nvSpPr>
          <p:cNvPr id="33" name="ZoneTexte 32">
            <a:extLst>
              <a:ext uri="{FF2B5EF4-FFF2-40B4-BE49-F238E27FC236}">
                <a16:creationId xmlns:a16="http://schemas.microsoft.com/office/drawing/2014/main" id="{3F8E9B8D-0C61-4AEB-A2B4-5B804E733867}"/>
              </a:ext>
            </a:extLst>
          </p:cNvPr>
          <p:cNvSpPr txBox="1"/>
          <p:nvPr/>
        </p:nvSpPr>
        <p:spPr>
          <a:xfrm>
            <a:off x="4437375" y="6377173"/>
            <a:ext cx="7754626" cy="369332"/>
          </a:xfrm>
          <a:prstGeom prst="rect">
            <a:avLst/>
          </a:prstGeom>
          <a:noFill/>
        </p:spPr>
        <p:txBody>
          <a:bodyPr wrap="square">
            <a:spAutoFit/>
          </a:bodyPr>
          <a:lstStyle/>
          <a:p>
            <a:pPr algn="ctr"/>
            <a:r>
              <a:rPr lang="fr-FR" dirty="0"/>
              <a:t>https://laurent-audibert.developpez.com/Cours-UML/?page=diagramme-classes</a:t>
            </a:r>
          </a:p>
        </p:txBody>
      </p:sp>
    </p:spTree>
    <p:extLst>
      <p:ext uri="{BB962C8B-B14F-4D97-AF65-F5344CB8AC3E}">
        <p14:creationId xmlns:p14="http://schemas.microsoft.com/office/powerpoint/2010/main" val="1833709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associations n-aires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547536" cy="3970318"/>
          </a:xfrm>
          <a:prstGeom prst="rect">
            <a:avLst/>
          </a:prstGeom>
        </p:spPr>
        <p:txBody>
          <a:bodyPr wrap="square">
            <a:spAutoFit/>
          </a:bodyPr>
          <a:lstStyle/>
          <a:p>
            <a:pPr algn="just"/>
            <a:r>
              <a:rPr lang="fr-FR" sz="2800" dirty="0">
                <a:latin typeface="Candara" panose="020E0502030303020204" pitchFamily="34" charset="0"/>
              </a:rPr>
              <a:t>Ce qu’il faut faire :</a:t>
            </a:r>
          </a:p>
          <a:p>
            <a:pPr algn="just"/>
            <a:endParaRPr lang="fr-FR" sz="2800" dirty="0">
              <a:latin typeface="Candara" panose="020E0502030303020204" pitchFamily="34" charset="0"/>
            </a:endParaRPr>
          </a:p>
          <a:p>
            <a:pPr algn="just"/>
            <a:r>
              <a:rPr lang="fr-FR" sz="2800" dirty="0">
                <a:latin typeface="Candara" panose="020E0502030303020204" pitchFamily="34" charset="0"/>
              </a:rPr>
              <a:t>Trouver le(s) couple(s) fort(s)</a:t>
            </a:r>
          </a:p>
          <a:p>
            <a:pPr algn="just"/>
            <a:endParaRPr lang="fr-FR" sz="2800" dirty="0">
              <a:latin typeface="Candara" panose="020E0502030303020204" pitchFamily="34" charset="0"/>
            </a:endParaRPr>
          </a:p>
          <a:p>
            <a:pPr algn="just"/>
            <a:r>
              <a:rPr lang="fr-FR" sz="2800" dirty="0">
                <a:latin typeface="Candara" panose="020E0502030303020204" pitchFamily="34" charset="0"/>
              </a:rPr>
              <a:t>Construire l’association de degré 3, 4, </a:t>
            </a:r>
            <a:r>
              <a:rPr lang="fr-FR" sz="2800" dirty="0" err="1">
                <a:latin typeface="Candara" panose="020E0502030303020204" pitchFamily="34" charset="0"/>
              </a:rPr>
              <a:t>etc</a:t>
            </a:r>
            <a:r>
              <a:rPr lang="fr-FR" sz="2800" dirty="0">
                <a:latin typeface="Candara" panose="020E0502030303020204" pitchFamily="34" charset="0"/>
              </a:rPr>
              <a:t> à partir de ce couple fort</a:t>
            </a:r>
          </a:p>
          <a:p>
            <a:pPr algn="just"/>
            <a:endParaRPr lang="fr-FR" sz="2800" dirty="0">
              <a:latin typeface="Candara" panose="020E0502030303020204" pitchFamily="34" charset="0"/>
            </a:endParaRPr>
          </a:p>
          <a:p>
            <a:pPr algn="just"/>
            <a:r>
              <a:rPr lang="fr-FR" sz="2800" dirty="0">
                <a:latin typeface="Candara" panose="020E0502030303020204" pitchFamily="34" charset="0"/>
              </a:rPr>
              <a:t>Le couple fort désignera des autorisations et des interdictions</a:t>
            </a:r>
          </a:p>
        </p:txBody>
      </p:sp>
      <p:sp>
        <p:nvSpPr>
          <p:cNvPr id="8" name="Rectangle 7">
            <a:extLst>
              <a:ext uri="{FF2B5EF4-FFF2-40B4-BE49-F238E27FC236}">
                <a16:creationId xmlns:a16="http://schemas.microsoft.com/office/drawing/2014/main" id="{D2CA23DE-7146-407D-BE00-B81929A75A38}"/>
              </a:ext>
            </a:extLst>
          </p:cNvPr>
          <p:cNvSpPr/>
          <p:nvPr/>
        </p:nvSpPr>
        <p:spPr>
          <a:xfrm>
            <a:off x="6923532" y="1794200"/>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63C31954-55C7-48E4-BFDA-3BFCB1B9A749}"/>
              </a:ext>
            </a:extLst>
          </p:cNvPr>
          <p:cNvCxnSpPr>
            <a:cxnSpLocks/>
          </p:cNvCxnSpPr>
          <p:nvPr/>
        </p:nvCxnSpPr>
        <p:spPr>
          <a:xfrm>
            <a:off x="6923531" y="218780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67B34C48-93BB-45D0-A037-EFF72B6C7A9E}"/>
              </a:ext>
            </a:extLst>
          </p:cNvPr>
          <p:cNvCxnSpPr>
            <a:cxnSpLocks/>
          </p:cNvCxnSpPr>
          <p:nvPr/>
        </p:nvCxnSpPr>
        <p:spPr>
          <a:xfrm>
            <a:off x="6923531" y="2840667"/>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7B998FE4-EAA8-4F2D-A1D6-C0C6D3F88F58}"/>
              </a:ext>
            </a:extLst>
          </p:cNvPr>
          <p:cNvSpPr txBox="1"/>
          <p:nvPr/>
        </p:nvSpPr>
        <p:spPr>
          <a:xfrm>
            <a:off x="6923529" y="1788658"/>
            <a:ext cx="1376559" cy="338554"/>
          </a:xfrm>
          <a:prstGeom prst="rect">
            <a:avLst/>
          </a:prstGeom>
          <a:noFill/>
        </p:spPr>
        <p:txBody>
          <a:bodyPr wrap="square">
            <a:spAutoFit/>
          </a:bodyPr>
          <a:lstStyle/>
          <a:p>
            <a:pPr algn="ctr"/>
            <a:r>
              <a:rPr lang="fr-FR" sz="1600" dirty="0">
                <a:latin typeface="Candara" panose="020E0502030303020204" pitchFamily="34" charset="0"/>
              </a:rPr>
              <a:t>Compagnie</a:t>
            </a:r>
            <a:endParaRPr lang="fr-FR" sz="1600" dirty="0"/>
          </a:p>
        </p:txBody>
      </p:sp>
      <p:cxnSp>
        <p:nvCxnSpPr>
          <p:cNvPr id="12" name="Connecteur droit 11">
            <a:extLst>
              <a:ext uri="{FF2B5EF4-FFF2-40B4-BE49-F238E27FC236}">
                <a16:creationId xmlns:a16="http://schemas.microsoft.com/office/drawing/2014/main" id="{F9D37D9C-1AC3-4E24-AA88-E381FA59A798}"/>
              </a:ext>
            </a:extLst>
          </p:cNvPr>
          <p:cNvCxnSpPr>
            <a:cxnSpLocks/>
            <a:stCxn id="13" idx="1"/>
            <a:endCxn id="8" idx="2"/>
          </p:cNvCxnSpPr>
          <p:nvPr/>
        </p:nvCxnSpPr>
        <p:spPr>
          <a:xfrm flipH="1" flipV="1">
            <a:off x="7652595" y="3166972"/>
            <a:ext cx="1325620" cy="279100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CBD1089-486D-4266-AEAF-79764381091D}"/>
              </a:ext>
            </a:extLst>
          </p:cNvPr>
          <p:cNvSpPr/>
          <p:nvPr/>
        </p:nvSpPr>
        <p:spPr>
          <a:xfrm>
            <a:off x="8978215" y="5271587"/>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4" name="Connecteur droit 13">
            <a:extLst>
              <a:ext uri="{FF2B5EF4-FFF2-40B4-BE49-F238E27FC236}">
                <a16:creationId xmlns:a16="http://schemas.microsoft.com/office/drawing/2014/main" id="{1AECFCF2-CC50-4428-9489-C10A94D187B4}"/>
              </a:ext>
            </a:extLst>
          </p:cNvPr>
          <p:cNvCxnSpPr>
            <a:cxnSpLocks/>
          </p:cNvCxnSpPr>
          <p:nvPr/>
        </p:nvCxnSpPr>
        <p:spPr>
          <a:xfrm>
            <a:off x="8978214" y="566519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7712E69D-A702-463A-BAC9-940767AB0B39}"/>
              </a:ext>
            </a:extLst>
          </p:cNvPr>
          <p:cNvCxnSpPr>
            <a:cxnSpLocks/>
          </p:cNvCxnSpPr>
          <p:nvPr/>
        </p:nvCxnSpPr>
        <p:spPr>
          <a:xfrm>
            <a:off x="8978214" y="6318054"/>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FC827475-6A6D-4DA9-BFBD-B8C9924040DC}"/>
              </a:ext>
            </a:extLst>
          </p:cNvPr>
          <p:cNvSpPr txBox="1"/>
          <p:nvPr/>
        </p:nvSpPr>
        <p:spPr>
          <a:xfrm>
            <a:off x="9050288" y="5266045"/>
            <a:ext cx="1305017" cy="338554"/>
          </a:xfrm>
          <a:prstGeom prst="rect">
            <a:avLst/>
          </a:prstGeom>
          <a:noFill/>
        </p:spPr>
        <p:txBody>
          <a:bodyPr wrap="square">
            <a:spAutoFit/>
          </a:bodyPr>
          <a:lstStyle/>
          <a:p>
            <a:pPr algn="ctr"/>
            <a:r>
              <a:rPr lang="fr-FR" sz="1600" dirty="0">
                <a:latin typeface="Candara" panose="020E0502030303020204" pitchFamily="34" charset="0"/>
              </a:rPr>
              <a:t>Aéroport</a:t>
            </a:r>
            <a:endParaRPr lang="fr-FR" sz="1600" dirty="0"/>
          </a:p>
        </p:txBody>
      </p:sp>
      <p:cxnSp>
        <p:nvCxnSpPr>
          <p:cNvPr id="17" name="Connecteur droit 16">
            <a:extLst>
              <a:ext uri="{FF2B5EF4-FFF2-40B4-BE49-F238E27FC236}">
                <a16:creationId xmlns:a16="http://schemas.microsoft.com/office/drawing/2014/main" id="{8AE78D2F-737A-4F5C-8234-19B17EC17B57}"/>
              </a:ext>
            </a:extLst>
          </p:cNvPr>
          <p:cNvCxnSpPr>
            <a:cxnSpLocks/>
          </p:cNvCxnSpPr>
          <p:nvPr/>
        </p:nvCxnSpPr>
        <p:spPr>
          <a:xfrm flipH="1">
            <a:off x="8300088" y="4220440"/>
            <a:ext cx="227944" cy="11397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950CF4E-1585-4E8E-9F88-6A2956288EFE}"/>
              </a:ext>
            </a:extLst>
          </p:cNvPr>
          <p:cNvSpPr/>
          <p:nvPr/>
        </p:nvSpPr>
        <p:spPr>
          <a:xfrm>
            <a:off x="10521420" y="1792326"/>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9" name="Connecteur droit 18">
            <a:extLst>
              <a:ext uri="{FF2B5EF4-FFF2-40B4-BE49-F238E27FC236}">
                <a16:creationId xmlns:a16="http://schemas.microsoft.com/office/drawing/2014/main" id="{4261E427-C457-4D3B-8844-06A4078886F3}"/>
              </a:ext>
            </a:extLst>
          </p:cNvPr>
          <p:cNvCxnSpPr>
            <a:cxnSpLocks/>
          </p:cNvCxnSpPr>
          <p:nvPr/>
        </p:nvCxnSpPr>
        <p:spPr>
          <a:xfrm>
            <a:off x="10521419" y="218593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A7643C59-E896-42F5-AEC2-169B9205684D}"/>
              </a:ext>
            </a:extLst>
          </p:cNvPr>
          <p:cNvCxnSpPr>
            <a:cxnSpLocks/>
          </p:cNvCxnSpPr>
          <p:nvPr/>
        </p:nvCxnSpPr>
        <p:spPr>
          <a:xfrm>
            <a:off x="10521419" y="2838793"/>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BE9DE0C6-E829-4EF0-82F9-FF671F5B62B4}"/>
              </a:ext>
            </a:extLst>
          </p:cNvPr>
          <p:cNvSpPr txBox="1"/>
          <p:nvPr/>
        </p:nvSpPr>
        <p:spPr>
          <a:xfrm>
            <a:off x="10521418" y="1786784"/>
            <a:ext cx="1394674" cy="338554"/>
          </a:xfrm>
          <a:prstGeom prst="rect">
            <a:avLst/>
          </a:prstGeom>
          <a:noFill/>
        </p:spPr>
        <p:txBody>
          <a:bodyPr wrap="square">
            <a:spAutoFit/>
          </a:bodyPr>
          <a:lstStyle/>
          <a:p>
            <a:pPr algn="ctr"/>
            <a:r>
              <a:rPr lang="fr-FR" sz="1600" dirty="0">
                <a:latin typeface="Candara" panose="020E0502030303020204" pitchFamily="34" charset="0"/>
              </a:rPr>
              <a:t>Personnel</a:t>
            </a:r>
            <a:endParaRPr lang="fr-FR" sz="1600" dirty="0"/>
          </a:p>
        </p:txBody>
      </p:sp>
      <p:cxnSp>
        <p:nvCxnSpPr>
          <p:cNvPr id="22" name="Connecteur droit 21">
            <a:extLst>
              <a:ext uri="{FF2B5EF4-FFF2-40B4-BE49-F238E27FC236}">
                <a16:creationId xmlns:a16="http://schemas.microsoft.com/office/drawing/2014/main" id="{B5531346-19DD-4B8F-ABFE-A75C4BB17A4B}"/>
              </a:ext>
            </a:extLst>
          </p:cNvPr>
          <p:cNvCxnSpPr>
            <a:cxnSpLocks/>
            <a:stCxn id="18" idx="2"/>
            <a:endCxn id="26" idx="3"/>
          </p:cNvCxnSpPr>
          <p:nvPr/>
        </p:nvCxnSpPr>
        <p:spPr>
          <a:xfrm flipH="1">
            <a:off x="10373061" y="3165098"/>
            <a:ext cx="877422" cy="86848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390B1306-24C2-46C0-AED0-A2DDF178F726}"/>
              </a:ext>
            </a:extLst>
          </p:cNvPr>
          <p:cNvSpPr txBox="1"/>
          <p:nvPr/>
        </p:nvSpPr>
        <p:spPr>
          <a:xfrm>
            <a:off x="8384411" y="5807084"/>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24" name="ZoneTexte 23">
            <a:extLst>
              <a:ext uri="{FF2B5EF4-FFF2-40B4-BE49-F238E27FC236}">
                <a16:creationId xmlns:a16="http://schemas.microsoft.com/office/drawing/2014/main" id="{E19096E7-5795-487C-A2BB-BCCA38C25C28}"/>
              </a:ext>
            </a:extLst>
          </p:cNvPr>
          <p:cNvSpPr txBox="1"/>
          <p:nvPr/>
        </p:nvSpPr>
        <p:spPr>
          <a:xfrm>
            <a:off x="7206289" y="3274096"/>
            <a:ext cx="612527"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26" name="Rectangle 25">
            <a:extLst>
              <a:ext uri="{FF2B5EF4-FFF2-40B4-BE49-F238E27FC236}">
                <a16:creationId xmlns:a16="http://schemas.microsoft.com/office/drawing/2014/main" id="{4B50EAC7-51A4-47F8-BC26-08610F882BEB}"/>
              </a:ext>
            </a:extLst>
          </p:cNvPr>
          <p:cNvSpPr/>
          <p:nvPr/>
        </p:nvSpPr>
        <p:spPr>
          <a:xfrm>
            <a:off x="8914936" y="3347195"/>
            <a:ext cx="1458125" cy="1372772"/>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7" name="Connecteur droit 26">
            <a:extLst>
              <a:ext uri="{FF2B5EF4-FFF2-40B4-BE49-F238E27FC236}">
                <a16:creationId xmlns:a16="http://schemas.microsoft.com/office/drawing/2014/main" id="{E5BF4944-A688-44CE-B670-A948FAACBF49}"/>
              </a:ext>
            </a:extLst>
          </p:cNvPr>
          <p:cNvCxnSpPr>
            <a:cxnSpLocks/>
          </p:cNvCxnSpPr>
          <p:nvPr/>
        </p:nvCxnSpPr>
        <p:spPr>
          <a:xfrm>
            <a:off x="8914935" y="374080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D257743F-6F61-48B8-AABC-CEA92C640F6B}"/>
              </a:ext>
            </a:extLst>
          </p:cNvPr>
          <p:cNvCxnSpPr>
            <a:cxnSpLocks/>
          </p:cNvCxnSpPr>
          <p:nvPr/>
        </p:nvCxnSpPr>
        <p:spPr>
          <a:xfrm>
            <a:off x="8914935" y="4393662"/>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523FEB05-3324-4B03-B26E-509B177D1DC9}"/>
              </a:ext>
            </a:extLst>
          </p:cNvPr>
          <p:cNvSpPr txBox="1"/>
          <p:nvPr/>
        </p:nvSpPr>
        <p:spPr>
          <a:xfrm>
            <a:off x="8914934" y="3341653"/>
            <a:ext cx="1394674" cy="338554"/>
          </a:xfrm>
          <a:prstGeom prst="rect">
            <a:avLst/>
          </a:prstGeom>
          <a:noFill/>
        </p:spPr>
        <p:txBody>
          <a:bodyPr wrap="square">
            <a:spAutoFit/>
          </a:bodyPr>
          <a:lstStyle/>
          <a:p>
            <a:pPr algn="ctr"/>
            <a:r>
              <a:rPr lang="fr-FR" sz="1600" dirty="0">
                <a:latin typeface="Candara" panose="020E0502030303020204" pitchFamily="34" charset="0"/>
              </a:rPr>
              <a:t>Comptoir</a:t>
            </a:r>
            <a:endParaRPr lang="fr-FR" sz="1600" dirty="0"/>
          </a:p>
        </p:txBody>
      </p:sp>
      <p:sp>
        <p:nvSpPr>
          <p:cNvPr id="30" name="ZoneTexte 29">
            <a:extLst>
              <a:ext uri="{FF2B5EF4-FFF2-40B4-BE49-F238E27FC236}">
                <a16:creationId xmlns:a16="http://schemas.microsoft.com/office/drawing/2014/main" id="{FC1FA79D-C403-457A-B5C4-D1455E6F96C9}"/>
              </a:ext>
            </a:extLst>
          </p:cNvPr>
          <p:cNvSpPr txBox="1"/>
          <p:nvPr/>
        </p:nvSpPr>
        <p:spPr>
          <a:xfrm>
            <a:off x="10431328" y="3933186"/>
            <a:ext cx="612527"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31" name="ZoneTexte 30">
            <a:extLst>
              <a:ext uri="{FF2B5EF4-FFF2-40B4-BE49-F238E27FC236}">
                <a16:creationId xmlns:a16="http://schemas.microsoft.com/office/drawing/2014/main" id="{0B8295C7-7482-484C-976E-F505790FF0BF}"/>
              </a:ext>
            </a:extLst>
          </p:cNvPr>
          <p:cNvSpPr txBox="1"/>
          <p:nvPr/>
        </p:nvSpPr>
        <p:spPr>
          <a:xfrm>
            <a:off x="9693388" y="4885593"/>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32" name="ZoneTexte 31">
            <a:extLst>
              <a:ext uri="{FF2B5EF4-FFF2-40B4-BE49-F238E27FC236}">
                <a16:creationId xmlns:a16="http://schemas.microsoft.com/office/drawing/2014/main" id="{2488313D-B398-4536-A0D8-F4D59FC18814}"/>
              </a:ext>
            </a:extLst>
          </p:cNvPr>
          <p:cNvSpPr txBox="1"/>
          <p:nvPr/>
        </p:nvSpPr>
        <p:spPr>
          <a:xfrm>
            <a:off x="11134421" y="3179810"/>
            <a:ext cx="612527"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cxnSp>
        <p:nvCxnSpPr>
          <p:cNvPr id="36" name="Connecteur droit 35">
            <a:extLst>
              <a:ext uri="{FF2B5EF4-FFF2-40B4-BE49-F238E27FC236}">
                <a16:creationId xmlns:a16="http://schemas.microsoft.com/office/drawing/2014/main" id="{B4C812C4-755C-4A8C-A001-E5AB2B634BF1}"/>
              </a:ext>
            </a:extLst>
          </p:cNvPr>
          <p:cNvCxnSpPr>
            <a:cxnSpLocks/>
          </p:cNvCxnSpPr>
          <p:nvPr/>
        </p:nvCxnSpPr>
        <p:spPr>
          <a:xfrm flipH="1">
            <a:off x="8628725" y="4042459"/>
            <a:ext cx="227944" cy="11397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9233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D16098E-5EEF-4DDB-803E-13B40B622598}"/>
              </a:ext>
            </a:extLst>
          </p:cNvPr>
          <p:cNvPicPr>
            <a:picLocks noChangeAspect="1"/>
          </p:cNvPicPr>
          <p:nvPr/>
        </p:nvPicPr>
        <p:blipFill>
          <a:blip r:embed="rId2"/>
          <a:stretch>
            <a:fillRect/>
          </a:stretch>
        </p:blipFill>
        <p:spPr>
          <a:xfrm>
            <a:off x="6224726" y="2264004"/>
            <a:ext cx="5621045" cy="4247722"/>
          </a:xfrm>
          <a:prstGeom prst="rect">
            <a:avLst/>
          </a:prstGeom>
        </p:spPr>
      </p:pic>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contraintes dans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4864964" cy="4832092"/>
          </a:xfrm>
          <a:prstGeom prst="rect">
            <a:avLst/>
          </a:prstGeom>
        </p:spPr>
        <p:txBody>
          <a:bodyPr wrap="square">
            <a:spAutoFit/>
          </a:bodyPr>
          <a:lstStyle/>
          <a:p>
            <a:pPr algn="just"/>
            <a:r>
              <a:rPr lang="fr-FR" sz="2800" dirty="0">
                <a:latin typeface="Candara" panose="020E0502030303020204" pitchFamily="34" charset="0"/>
              </a:rPr>
              <a:t>Mécanisme d'extension qui vous permet de détailler la sémantique d'un élément de modèle UML.</a:t>
            </a:r>
          </a:p>
          <a:p>
            <a:pPr algn="just"/>
            <a:endParaRPr lang="fr-FR" sz="2800" dirty="0">
              <a:latin typeface="Candara" panose="020E0502030303020204" pitchFamily="34" charset="0"/>
            </a:endParaRPr>
          </a:p>
          <a:p>
            <a:pPr algn="just"/>
            <a:r>
              <a:rPr lang="fr-FR" sz="2800" dirty="0">
                <a:latin typeface="Candara" panose="020E0502030303020204" pitchFamily="34" charset="0"/>
              </a:rPr>
              <a:t>Souvent règle métier</a:t>
            </a:r>
          </a:p>
          <a:p>
            <a:pPr algn="just"/>
            <a:endParaRPr lang="fr-FR" sz="2800" dirty="0">
              <a:latin typeface="Candara" panose="020E0502030303020204" pitchFamily="34" charset="0"/>
            </a:endParaRPr>
          </a:p>
          <a:p>
            <a:pPr algn="just"/>
            <a:r>
              <a:rPr lang="fr-FR" sz="2800" dirty="0">
                <a:latin typeface="Candara" panose="020E0502030303020204" pitchFamily="34" charset="0"/>
              </a:rPr>
              <a:t>UML utilise OCL pour exprimer les contraintes. </a:t>
            </a:r>
          </a:p>
          <a:p>
            <a:pPr algn="just"/>
            <a:endParaRPr lang="fr-FR" sz="2800" dirty="0">
              <a:latin typeface="Candara" panose="020E0502030303020204" pitchFamily="34" charset="0"/>
            </a:endParaRPr>
          </a:p>
          <a:p>
            <a:pPr algn="just"/>
            <a:r>
              <a:rPr lang="fr-FR" sz="2800" dirty="0">
                <a:latin typeface="Candara" panose="020E0502030303020204" pitchFamily="34" charset="0"/>
              </a:rPr>
              <a:t>Object </a:t>
            </a:r>
            <a:r>
              <a:rPr lang="fr-FR" sz="2800" dirty="0" err="1">
                <a:latin typeface="Candara" panose="020E0502030303020204" pitchFamily="34" charset="0"/>
              </a:rPr>
              <a:t>Constraint</a:t>
            </a:r>
            <a:r>
              <a:rPr lang="fr-FR" sz="2800" dirty="0">
                <a:latin typeface="Candara" panose="020E0502030303020204" pitchFamily="34" charset="0"/>
              </a:rPr>
              <a:t> </a:t>
            </a:r>
            <a:r>
              <a:rPr lang="fr-FR" sz="2800" dirty="0" err="1">
                <a:latin typeface="Candara" panose="020E0502030303020204" pitchFamily="34" charset="0"/>
              </a:rPr>
              <a:t>Language</a:t>
            </a:r>
            <a:endParaRPr lang="fr-FR" sz="2800" dirty="0">
              <a:latin typeface="Candara" panose="020E0502030303020204" pitchFamily="34" charset="0"/>
            </a:endParaRPr>
          </a:p>
        </p:txBody>
      </p:sp>
    </p:spTree>
    <p:extLst>
      <p:ext uri="{BB962C8B-B14F-4D97-AF65-F5344CB8AC3E}">
        <p14:creationId xmlns:p14="http://schemas.microsoft.com/office/powerpoint/2010/main" val="28055202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Les contraintes dans UML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3" y="1971819"/>
            <a:ext cx="5131294" cy="3108543"/>
          </a:xfrm>
          <a:prstGeom prst="rect">
            <a:avLst/>
          </a:prstGeom>
        </p:spPr>
        <p:txBody>
          <a:bodyPr wrap="square">
            <a:spAutoFit/>
          </a:bodyPr>
          <a:lstStyle/>
          <a:p>
            <a:pPr algn="just"/>
            <a:r>
              <a:rPr lang="fr-FR" sz="2800" dirty="0">
                <a:latin typeface="Candara" panose="020E0502030303020204" pitchFamily="34" charset="0"/>
              </a:rPr>
              <a:t>Les contraintes OCL prédéfinies</a:t>
            </a:r>
          </a:p>
          <a:p>
            <a:pPr algn="just"/>
            <a:endParaRPr lang="fr-FR" sz="2800" dirty="0">
              <a:latin typeface="Candara" panose="020E0502030303020204" pitchFamily="34" charset="0"/>
            </a:endParaRPr>
          </a:p>
          <a:p>
            <a:pPr algn="ctr"/>
            <a:r>
              <a:rPr lang="fr-FR" sz="2800" dirty="0">
                <a:latin typeface="Candara" panose="020E0502030303020204" pitchFamily="34" charset="0"/>
              </a:rPr>
              <a:t>{</a:t>
            </a:r>
            <a:r>
              <a:rPr lang="fr-FR" sz="2800" dirty="0" err="1">
                <a:latin typeface="Candara" panose="020E0502030303020204" pitchFamily="34" charset="0"/>
              </a:rPr>
              <a:t>subset</a:t>
            </a:r>
            <a:r>
              <a:rPr lang="fr-FR" sz="2800" dirty="0">
                <a:latin typeface="Candara" panose="020E0502030303020204" pitchFamily="34" charset="0"/>
              </a:rPr>
              <a:t>}</a:t>
            </a:r>
          </a:p>
          <a:p>
            <a:pPr algn="ctr"/>
            <a:r>
              <a:rPr lang="fr-FR" sz="2800" dirty="0">
                <a:latin typeface="Candara" panose="020E0502030303020204" pitchFamily="34" charset="0"/>
              </a:rPr>
              <a:t>{</a:t>
            </a:r>
            <a:r>
              <a:rPr lang="fr-FR" sz="2800" dirty="0" err="1">
                <a:latin typeface="Candara" panose="020E0502030303020204" pitchFamily="34" charset="0"/>
              </a:rPr>
              <a:t>xor</a:t>
            </a:r>
            <a:r>
              <a:rPr lang="fr-FR" sz="2800" dirty="0">
                <a:latin typeface="Candara" panose="020E0502030303020204" pitchFamily="34" charset="0"/>
              </a:rPr>
              <a:t>}</a:t>
            </a:r>
          </a:p>
          <a:p>
            <a:pPr algn="ctr"/>
            <a:r>
              <a:rPr lang="fr-FR" sz="2800" dirty="0">
                <a:latin typeface="Candara" panose="020E0502030303020204" pitchFamily="34" charset="0"/>
              </a:rPr>
              <a:t>{</a:t>
            </a:r>
            <a:r>
              <a:rPr lang="fr-FR" sz="2800" dirty="0" err="1">
                <a:latin typeface="Candara" panose="020E0502030303020204" pitchFamily="34" charset="0"/>
              </a:rPr>
              <a:t>ordered</a:t>
            </a:r>
            <a:r>
              <a:rPr lang="fr-FR" sz="2800" dirty="0">
                <a:latin typeface="Candara" panose="020E0502030303020204" pitchFamily="34" charset="0"/>
              </a:rPr>
              <a:t>}</a:t>
            </a:r>
          </a:p>
          <a:p>
            <a:pPr algn="ctr"/>
            <a:r>
              <a:rPr lang="fr-FR" sz="2800" dirty="0">
                <a:latin typeface="Candara" panose="020E0502030303020204" pitchFamily="34" charset="0"/>
              </a:rPr>
              <a:t>{</a:t>
            </a:r>
            <a:r>
              <a:rPr lang="fr-FR" sz="2800" dirty="0" err="1">
                <a:latin typeface="Candara" panose="020E0502030303020204" pitchFamily="34" charset="0"/>
              </a:rPr>
              <a:t>frozen</a:t>
            </a:r>
            <a:r>
              <a:rPr lang="fr-FR" sz="2800" dirty="0">
                <a:latin typeface="Candara" panose="020E0502030303020204" pitchFamily="34" charset="0"/>
              </a:rPr>
              <a:t>}</a:t>
            </a:r>
          </a:p>
          <a:p>
            <a:pPr algn="ctr"/>
            <a:r>
              <a:rPr lang="fr-FR" sz="2800" dirty="0">
                <a:latin typeface="Candara" panose="020E0502030303020204" pitchFamily="34" charset="0"/>
              </a:rPr>
              <a:t>{</a:t>
            </a:r>
            <a:r>
              <a:rPr lang="fr-FR" sz="2800" dirty="0" err="1">
                <a:latin typeface="Candara" panose="020E0502030303020204" pitchFamily="34" charset="0"/>
              </a:rPr>
              <a:t>addOnly</a:t>
            </a:r>
            <a:r>
              <a:rPr lang="fr-FR" sz="2800" dirty="0">
                <a:latin typeface="Candara" panose="020E0502030303020204" pitchFamily="34" charset="0"/>
              </a:rPr>
              <a:t>}</a:t>
            </a:r>
          </a:p>
        </p:txBody>
      </p:sp>
      <p:sp>
        <p:nvSpPr>
          <p:cNvPr id="9" name="Rectangle 8">
            <a:extLst>
              <a:ext uri="{FF2B5EF4-FFF2-40B4-BE49-F238E27FC236}">
                <a16:creationId xmlns:a16="http://schemas.microsoft.com/office/drawing/2014/main" id="{80AF52EC-87C5-4991-BE4C-D82E187E9901}"/>
              </a:ext>
            </a:extLst>
          </p:cNvPr>
          <p:cNvSpPr/>
          <p:nvPr/>
        </p:nvSpPr>
        <p:spPr>
          <a:xfrm>
            <a:off x="5557856" y="3158087"/>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A19EF592-64B0-4BFC-92B2-AA323650C6E2}"/>
              </a:ext>
            </a:extLst>
          </p:cNvPr>
          <p:cNvCxnSpPr>
            <a:cxnSpLocks/>
          </p:cNvCxnSpPr>
          <p:nvPr/>
        </p:nvCxnSpPr>
        <p:spPr>
          <a:xfrm>
            <a:off x="5557856" y="3770100"/>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3C00311A-A58A-4603-A5D1-097FE4E0E3FE}"/>
              </a:ext>
            </a:extLst>
          </p:cNvPr>
          <p:cNvCxnSpPr>
            <a:cxnSpLocks/>
          </p:cNvCxnSpPr>
          <p:nvPr/>
        </p:nvCxnSpPr>
        <p:spPr>
          <a:xfrm>
            <a:off x="5557856" y="4711450"/>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347ECF53-5928-49F2-A4E7-A16334644E33}"/>
              </a:ext>
            </a:extLst>
          </p:cNvPr>
          <p:cNvSpPr txBox="1"/>
          <p:nvPr/>
        </p:nvSpPr>
        <p:spPr>
          <a:xfrm>
            <a:off x="5628881" y="3281753"/>
            <a:ext cx="1318976" cy="369332"/>
          </a:xfrm>
          <a:prstGeom prst="rect">
            <a:avLst/>
          </a:prstGeom>
          <a:noFill/>
        </p:spPr>
        <p:txBody>
          <a:bodyPr wrap="square">
            <a:spAutoFit/>
          </a:bodyPr>
          <a:lstStyle/>
          <a:p>
            <a:pPr algn="ctr"/>
            <a:r>
              <a:rPr lang="fr-FR" sz="1800" dirty="0">
                <a:latin typeface="Candara" panose="020E0502030303020204" pitchFamily="34" charset="0"/>
              </a:rPr>
              <a:t>Association</a:t>
            </a:r>
            <a:endParaRPr lang="fr-FR" dirty="0"/>
          </a:p>
        </p:txBody>
      </p:sp>
      <p:sp>
        <p:nvSpPr>
          <p:cNvPr id="13" name="ZoneTexte 12">
            <a:extLst>
              <a:ext uri="{FF2B5EF4-FFF2-40B4-BE49-F238E27FC236}">
                <a16:creationId xmlns:a16="http://schemas.microsoft.com/office/drawing/2014/main" id="{B962334B-6524-4951-BB73-86F346F46F6D}"/>
              </a:ext>
            </a:extLst>
          </p:cNvPr>
          <p:cNvSpPr txBox="1"/>
          <p:nvPr/>
        </p:nvSpPr>
        <p:spPr>
          <a:xfrm>
            <a:off x="5816659" y="3996766"/>
            <a:ext cx="10601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sp>
        <p:nvSpPr>
          <p:cNvPr id="14" name="Rectangle 13">
            <a:extLst>
              <a:ext uri="{FF2B5EF4-FFF2-40B4-BE49-F238E27FC236}">
                <a16:creationId xmlns:a16="http://schemas.microsoft.com/office/drawing/2014/main" id="{217A9202-F31F-45C4-8D00-B78F73596B7E}"/>
              </a:ext>
            </a:extLst>
          </p:cNvPr>
          <p:cNvSpPr/>
          <p:nvPr/>
        </p:nvSpPr>
        <p:spPr>
          <a:xfrm>
            <a:off x="10091643" y="3129119"/>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5" name="Connecteur droit 14">
            <a:extLst>
              <a:ext uri="{FF2B5EF4-FFF2-40B4-BE49-F238E27FC236}">
                <a16:creationId xmlns:a16="http://schemas.microsoft.com/office/drawing/2014/main" id="{A9500ADD-81F1-480E-85AA-11A6E21BCC61}"/>
              </a:ext>
            </a:extLst>
          </p:cNvPr>
          <p:cNvCxnSpPr>
            <a:cxnSpLocks/>
          </p:cNvCxnSpPr>
          <p:nvPr/>
        </p:nvCxnSpPr>
        <p:spPr>
          <a:xfrm>
            <a:off x="10091643" y="3741132"/>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56109193-C58B-4A01-817E-E395A69D4862}"/>
              </a:ext>
            </a:extLst>
          </p:cNvPr>
          <p:cNvCxnSpPr>
            <a:cxnSpLocks/>
          </p:cNvCxnSpPr>
          <p:nvPr/>
        </p:nvCxnSpPr>
        <p:spPr>
          <a:xfrm>
            <a:off x="10091643" y="4682482"/>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B0206BBC-61E7-40CC-B78E-12E9C6148178}"/>
              </a:ext>
            </a:extLst>
          </p:cNvPr>
          <p:cNvSpPr txBox="1"/>
          <p:nvPr/>
        </p:nvSpPr>
        <p:spPr>
          <a:xfrm>
            <a:off x="10350448" y="3252785"/>
            <a:ext cx="1139010" cy="369332"/>
          </a:xfrm>
          <a:prstGeom prst="rect">
            <a:avLst/>
          </a:prstGeom>
          <a:noFill/>
        </p:spPr>
        <p:txBody>
          <a:bodyPr wrap="square">
            <a:spAutoFit/>
          </a:bodyPr>
          <a:lstStyle/>
          <a:p>
            <a:pPr algn="ctr"/>
            <a:r>
              <a:rPr lang="fr-FR" sz="1800" dirty="0">
                <a:latin typeface="Candara" panose="020E0502030303020204" pitchFamily="34" charset="0"/>
              </a:rPr>
              <a:t>Personne</a:t>
            </a:r>
            <a:endParaRPr lang="fr-FR" dirty="0"/>
          </a:p>
        </p:txBody>
      </p:sp>
      <p:sp>
        <p:nvSpPr>
          <p:cNvPr id="18" name="ZoneTexte 17">
            <a:extLst>
              <a:ext uri="{FF2B5EF4-FFF2-40B4-BE49-F238E27FC236}">
                <a16:creationId xmlns:a16="http://schemas.microsoft.com/office/drawing/2014/main" id="{DE116155-BA1F-44C6-ADE4-DCC48031C878}"/>
              </a:ext>
            </a:extLst>
          </p:cNvPr>
          <p:cNvSpPr txBox="1"/>
          <p:nvPr/>
        </p:nvSpPr>
        <p:spPr>
          <a:xfrm>
            <a:off x="10350446" y="3967798"/>
            <a:ext cx="831574" cy="369332"/>
          </a:xfrm>
          <a:prstGeom prst="rect">
            <a:avLst/>
          </a:prstGeom>
          <a:noFill/>
        </p:spPr>
        <p:txBody>
          <a:bodyPr wrap="square">
            <a:spAutoFit/>
          </a:bodyPr>
          <a:lstStyle/>
          <a:p>
            <a:r>
              <a:rPr lang="fr-FR" sz="1800" dirty="0">
                <a:latin typeface="Candara" panose="020E0502030303020204" pitchFamily="34" charset="0"/>
              </a:rPr>
              <a:t>Att…</a:t>
            </a:r>
            <a:endParaRPr lang="fr-FR" dirty="0">
              <a:latin typeface="Candara" panose="020E0502030303020204" pitchFamily="34" charset="0"/>
            </a:endParaRPr>
          </a:p>
        </p:txBody>
      </p:sp>
      <p:cxnSp>
        <p:nvCxnSpPr>
          <p:cNvPr id="19" name="Connecteur droit 18">
            <a:extLst>
              <a:ext uri="{FF2B5EF4-FFF2-40B4-BE49-F238E27FC236}">
                <a16:creationId xmlns:a16="http://schemas.microsoft.com/office/drawing/2014/main" id="{BFEFAD10-C1E3-4B3C-9530-AC497E2E9DBA}"/>
              </a:ext>
            </a:extLst>
          </p:cNvPr>
          <p:cNvCxnSpPr>
            <a:cxnSpLocks/>
          </p:cNvCxnSpPr>
          <p:nvPr/>
        </p:nvCxnSpPr>
        <p:spPr>
          <a:xfrm>
            <a:off x="7015981" y="3526090"/>
            <a:ext cx="3075662" cy="1734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ZoneTexte 19">
            <a:extLst>
              <a:ext uri="{FF2B5EF4-FFF2-40B4-BE49-F238E27FC236}">
                <a16:creationId xmlns:a16="http://schemas.microsoft.com/office/drawing/2014/main" id="{6C6F3C4F-C96F-4F7E-BEE4-48F6B3C6C65B}"/>
              </a:ext>
            </a:extLst>
          </p:cNvPr>
          <p:cNvSpPr txBox="1"/>
          <p:nvPr/>
        </p:nvSpPr>
        <p:spPr>
          <a:xfrm>
            <a:off x="6962256" y="3216523"/>
            <a:ext cx="547811" cy="369332"/>
          </a:xfrm>
          <a:prstGeom prst="rect">
            <a:avLst/>
          </a:prstGeom>
          <a:noFill/>
        </p:spPr>
        <p:txBody>
          <a:bodyPr wrap="square">
            <a:spAutoFit/>
          </a:bodyPr>
          <a:lstStyle/>
          <a:p>
            <a:r>
              <a:rPr lang="fr-FR" sz="1800" dirty="0">
                <a:latin typeface="Candara" panose="020E0502030303020204" pitchFamily="34" charset="0"/>
              </a:rPr>
              <a:t>0..1</a:t>
            </a:r>
            <a:endParaRPr lang="fr-FR" dirty="0"/>
          </a:p>
        </p:txBody>
      </p:sp>
      <p:sp>
        <p:nvSpPr>
          <p:cNvPr id="21" name="ZoneTexte 20">
            <a:extLst>
              <a:ext uri="{FF2B5EF4-FFF2-40B4-BE49-F238E27FC236}">
                <a16:creationId xmlns:a16="http://schemas.microsoft.com/office/drawing/2014/main" id="{9C3F75B2-9482-40E7-A640-D8D8A18A2567}"/>
              </a:ext>
            </a:extLst>
          </p:cNvPr>
          <p:cNvSpPr txBox="1"/>
          <p:nvPr/>
        </p:nvSpPr>
        <p:spPr>
          <a:xfrm>
            <a:off x="9646231" y="3216523"/>
            <a:ext cx="612527"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22" name="ZoneTexte 21">
            <a:extLst>
              <a:ext uri="{FF2B5EF4-FFF2-40B4-BE49-F238E27FC236}">
                <a16:creationId xmlns:a16="http://schemas.microsoft.com/office/drawing/2014/main" id="{B3131091-EC42-4A8B-B36A-25FAE154E0C5}"/>
              </a:ext>
            </a:extLst>
          </p:cNvPr>
          <p:cNvSpPr txBox="1"/>
          <p:nvPr/>
        </p:nvSpPr>
        <p:spPr>
          <a:xfrm>
            <a:off x="7945483" y="3556983"/>
            <a:ext cx="1458125" cy="369332"/>
          </a:xfrm>
          <a:prstGeom prst="rect">
            <a:avLst/>
          </a:prstGeom>
          <a:noFill/>
        </p:spPr>
        <p:txBody>
          <a:bodyPr wrap="square">
            <a:spAutoFit/>
          </a:bodyPr>
          <a:lstStyle/>
          <a:p>
            <a:pPr algn="ctr"/>
            <a:r>
              <a:rPr lang="fr-FR" dirty="0">
                <a:latin typeface="Candara" panose="020E0502030303020204" pitchFamily="34" charset="0"/>
              </a:rPr>
              <a:t>présider</a:t>
            </a:r>
            <a:endParaRPr lang="fr-FR" dirty="0"/>
          </a:p>
        </p:txBody>
      </p:sp>
      <p:cxnSp>
        <p:nvCxnSpPr>
          <p:cNvPr id="23" name="Connecteur droit 22">
            <a:extLst>
              <a:ext uri="{FF2B5EF4-FFF2-40B4-BE49-F238E27FC236}">
                <a16:creationId xmlns:a16="http://schemas.microsoft.com/office/drawing/2014/main" id="{6443CA95-3BC0-4F94-A3A8-D375AF31E9A8}"/>
              </a:ext>
            </a:extLst>
          </p:cNvPr>
          <p:cNvCxnSpPr>
            <a:cxnSpLocks/>
          </p:cNvCxnSpPr>
          <p:nvPr/>
        </p:nvCxnSpPr>
        <p:spPr>
          <a:xfrm>
            <a:off x="7015981" y="4514594"/>
            <a:ext cx="307566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4A8F6CFE-0ACE-44CC-B8D5-DE0482308972}"/>
              </a:ext>
            </a:extLst>
          </p:cNvPr>
          <p:cNvSpPr txBox="1"/>
          <p:nvPr/>
        </p:nvSpPr>
        <p:spPr>
          <a:xfrm>
            <a:off x="7008498" y="4212323"/>
            <a:ext cx="547811" cy="369332"/>
          </a:xfrm>
          <a:prstGeom prst="rect">
            <a:avLst/>
          </a:prstGeom>
          <a:noFill/>
        </p:spPr>
        <p:txBody>
          <a:bodyPr wrap="square">
            <a:spAutoFit/>
          </a:bodyPr>
          <a:lstStyle/>
          <a:p>
            <a:r>
              <a:rPr lang="fr-FR" sz="1800" dirty="0">
                <a:latin typeface="Candara" panose="020E0502030303020204" pitchFamily="34" charset="0"/>
              </a:rPr>
              <a:t>0..*</a:t>
            </a:r>
            <a:endParaRPr lang="fr-FR" dirty="0"/>
          </a:p>
        </p:txBody>
      </p:sp>
      <p:sp>
        <p:nvSpPr>
          <p:cNvPr id="25" name="ZoneTexte 24">
            <a:extLst>
              <a:ext uri="{FF2B5EF4-FFF2-40B4-BE49-F238E27FC236}">
                <a16:creationId xmlns:a16="http://schemas.microsoft.com/office/drawing/2014/main" id="{57852296-652F-4AE7-B66C-81A22464F9C7}"/>
              </a:ext>
            </a:extLst>
          </p:cNvPr>
          <p:cNvSpPr txBox="1"/>
          <p:nvPr/>
        </p:nvSpPr>
        <p:spPr>
          <a:xfrm>
            <a:off x="9646231" y="4212323"/>
            <a:ext cx="612527"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
        <p:nvSpPr>
          <p:cNvPr id="26" name="ZoneTexte 25">
            <a:extLst>
              <a:ext uri="{FF2B5EF4-FFF2-40B4-BE49-F238E27FC236}">
                <a16:creationId xmlns:a16="http://schemas.microsoft.com/office/drawing/2014/main" id="{51C4962F-DE73-4A10-A5C6-DA55EF572548}"/>
              </a:ext>
            </a:extLst>
          </p:cNvPr>
          <p:cNvSpPr txBox="1"/>
          <p:nvPr/>
        </p:nvSpPr>
        <p:spPr>
          <a:xfrm>
            <a:off x="7938081" y="4570519"/>
            <a:ext cx="1458125" cy="369332"/>
          </a:xfrm>
          <a:prstGeom prst="rect">
            <a:avLst/>
          </a:prstGeom>
          <a:noFill/>
        </p:spPr>
        <p:txBody>
          <a:bodyPr wrap="square">
            <a:spAutoFit/>
          </a:bodyPr>
          <a:lstStyle/>
          <a:p>
            <a:pPr algn="ctr"/>
            <a:r>
              <a:rPr lang="fr-FR" dirty="0">
                <a:latin typeface="Candara" panose="020E0502030303020204" pitchFamily="34" charset="0"/>
              </a:rPr>
              <a:t>Adhérer</a:t>
            </a:r>
            <a:endParaRPr lang="fr-FR" dirty="0"/>
          </a:p>
        </p:txBody>
      </p:sp>
      <p:sp>
        <p:nvSpPr>
          <p:cNvPr id="27" name="ZoneTexte 26">
            <a:extLst>
              <a:ext uri="{FF2B5EF4-FFF2-40B4-BE49-F238E27FC236}">
                <a16:creationId xmlns:a16="http://schemas.microsoft.com/office/drawing/2014/main" id="{F5CDA035-0DBC-4463-9D75-AAAED68B04F8}"/>
              </a:ext>
            </a:extLst>
          </p:cNvPr>
          <p:cNvSpPr txBox="1"/>
          <p:nvPr/>
        </p:nvSpPr>
        <p:spPr>
          <a:xfrm>
            <a:off x="7601757" y="3151253"/>
            <a:ext cx="1995800" cy="338554"/>
          </a:xfrm>
          <a:prstGeom prst="rect">
            <a:avLst/>
          </a:prstGeom>
          <a:noFill/>
        </p:spPr>
        <p:txBody>
          <a:bodyPr wrap="square">
            <a:spAutoFit/>
          </a:bodyPr>
          <a:lstStyle/>
          <a:p>
            <a:pPr algn="ctr"/>
            <a:r>
              <a:rPr lang="fr-FR" sz="1600" dirty="0">
                <a:latin typeface="Candara" panose="020E0502030303020204" pitchFamily="34" charset="0"/>
              </a:rPr>
              <a:t>{</a:t>
            </a:r>
            <a:r>
              <a:rPr lang="fr-FR" sz="1600" dirty="0" err="1">
                <a:latin typeface="Candara" panose="020E0502030303020204" pitchFamily="34" charset="0"/>
              </a:rPr>
              <a:t>subset</a:t>
            </a:r>
            <a:r>
              <a:rPr lang="fr-FR" sz="1600" dirty="0">
                <a:latin typeface="Candara" panose="020E0502030303020204" pitchFamily="34" charset="0"/>
              </a:rPr>
              <a:t> Adhérer}</a:t>
            </a:r>
            <a:endParaRPr lang="fr-FR" sz="1600" dirty="0"/>
          </a:p>
        </p:txBody>
      </p:sp>
    </p:spTree>
    <p:extLst>
      <p:ext uri="{BB962C8B-B14F-4D97-AF65-F5344CB8AC3E}">
        <p14:creationId xmlns:p14="http://schemas.microsoft.com/office/powerpoint/2010/main" val="24514912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En synthèse : la démarche à suivre</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4401205"/>
          </a:xfrm>
          <a:prstGeom prst="rect">
            <a:avLst/>
          </a:prstGeom>
        </p:spPr>
        <p:txBody>
          <a:bodyPr wrap="square">
            <a:spAutoFit/>
          </a:bodyPr>
          <a:lstStyle/>
          <a:p>
            <a:pPr algn="just"/>
            <a:r>
              <a:rPr lang="fr-FR" sz="2800" dirty="0">
                <a:latin typeface="Candara" panose="020E0502030303020204" pitchFamily="34" charset="0"/>
              </a:rPr>
              <a:t>Etablir la liste des attributs</a:t>
            </a:r>
          </a:p>
          <a:p>
            <a:pPr marL="457200" indent="-457200" algn="just">
              <a:buFont typeface="Wingdings" panose="05000000000000000000" pitchFamily="2" charset="2"/>
              <a:buChar char="ü"/>
            </a:pPr>
            <a:r>
              <a:rPr lang="fr-FR" sz="2800" dirty="0">
                <a:latin typeface="Candara" panose="020E0502030303020204" pitchFamily="34" charset="0"/>
              </a:rPr>
              <a:t>Décomposer l’attribut si c’est possible</a:t>
            </a:r>
          </a:p>
          <a:p>
            <a:pPr marL="457200" indent="-457200" algn="just">
              <a:buFont typeface="Wingdings" panose="05000000000000000000" pitchFamily="2" charset="2"/>
              <a:buChar char="ü"/>
            </a:pPr>
            <a:r>
              <a:rPr lang="fr-FR" sz="2800" dirty="0">
                <a:latin typeface="Candara" panose="020E0502030303020204" pitchFamily="34" charset="0"/>
              </a:rPr>
              <a:t>Le placer à un seul endroit (une classe ou une classe association)</a:t>
            </a:r>
          </a:p>
          <a:p>
            <a:pPr marL="457200" indent="-457200" algn="just">
              <a:buFont typeface="Wingdings" panose="05000000000000000000" pitchFamily="2" charset="2"/>
              <a:buChar char="ü"/>
            </a:pPr>
            <a:r>
              <a:rPr lang="fr-FR" sz="2800" dirty="0">
                <a:latin typeface="Candara" panose="020E0502030303020204" pitchFamily="34" charset="0"/>
              </a:rPr>
              <a:t>Trouver un identifiant (technique + métier ?) pour chaque classe</a:t>
            </a:r>
          </a:p>
          <a:p>
            <a:pPr algn="just"/>
            <a:endParaRPr lang="fr-FR" sz="2800" dirty="0">
              <a:latin typeface="Candara" panose="020E0502030303020204" pitchFamily="34" charset="0"/>
            </a:endParaRPr>
          </a:p>
          <a:p>
            <a:pPr algn="just"/>
            <a:r>
              <a:rPr lang="fr-FR" sz="2800" dirty="0">
                <a:latin typeface="Candara" panose="020E0502030303020204" pitchFamily="34" charset="0"/>
              </a:rPr>
              <a:t>Déterminer les associations</a:t>
            </a:r>
          </a:p>
          <a:p>
            <a:pPr marL="457200" indent="-457200" algn="just">
              <a:buFont typeface="Wingdings" panose="05000000000000000000" pitchFamily="2" charset="2"/>
              <a:buChar char="ü"/>
            </a:pPr>
            <a:r>
              <a:rPr lang="fr-FR" sz="2800" dirty="0">
                <a:latin typeface="Candara" panose="020E0502030303020204" pitchFamily="34" charset="0"/>
              </a:rPr>
              <a:t>Ne pas se tromper sur les cardinalités maximales</a:t>
            </a:r>
          </a:p>
          <a:p>
            <a:pPr marL="457200" indent="-457200" algn="just">
              <a:buFont typeface="Wingdings" panose="05000000000000000000" pitchFamily="2" charset="2"/>
              <a:buChar char="ü"/>
            </a:pPr>
            <a:r>
              <a:rPr lang="fr-FR" sz="2800" dirty="0">
                <a:latin typeface="Candara" panose="020E0502030303020204" pitchFamily="34" charset="0"/>
              </a:rPr>
              <a:t>Statuer sur les doublons pour chaque couple de classe</a:t>
            </a:r>
          </a:p>
          <a:p>
            <a:pPr marL="457200" indent="-457200" algn="just">
              <a:buFont typeface="Wingdings" panose="05000000000000000000" pitchFamily="2" charset="2"/>
              <a:buChar char="ü"/>
            </a:pPr>
            <a:r>
              <a:rPr lang="fr-FR" sz="2800" dirty="0">
                <a:latin typeface="Candara" panose="020E0502030303020204" pitchFamily="34" charset="0"/>
              </a:rPr>
              <a:t>Comprendre l’héritage</a:t>
            </a:r>
          </a:p>
          <a:p>
            <a:pPr marL="457200" indent="-457200" algn="just">
              <a:buFont typeface="Wingdings" panose="05000000000000000000" pitchFamily="2" charset="2"/>
              <a:buChar char="ü"/>
            </a:pPr>
            <a:r>
              <a:rPr lang="fr-FR" sz="2800" dirty="0">
                <a:latin typeface="Candara" panose="020E0502030303020204" pitchFamily="34" charset="0"/>
              </a:rPr>
              <a:t>Gérer les contraintes</a:t>
            </a:r>
          </a:p>
        </p:txBody>
      </p:sp>
    </p:spTree>
    <p:extLst>
      <p:ext uri="{BB962C8B-B14F-4D97-AF65-F5344CB8AC3E}">
        <p14:creationId xmlns:p14="http://schemas.microsoft.com/office/powerpoint/2010/main" val="7672708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Diagramme de classe</a:t>
            </a:r>
          </a:p>
        </p:txBody>
      </p:sp>
      <p:sp>
        <p:nvSpPr>
          <p:cNvPr id="4" name="Rectangle 3">
            <a:extLst>
              <a:ext uri="{FF2B5EF4-FFF2-40B4-BE49-F238E27FC236}">
                <a16:creationId xmlns:a16="http://schemas.microsoft.com/office/drawing/2014/main" id="{E9E07D0F-F35B-4208-BFBD-B42411881582}"/>
              </a:ext>
            </a:extLst>
          </p:cNvPr>
          <p:cNvSpPr/>
          <p:nvPr/>
        </p:nvSpPr>
        <p:spPr>
          <a:xfrm>
            <a:off x="239790" y="2321004"/>
            <a:ext cx="11712420" cy="2215991"/>
          </a:xfrm>
          <a:prstGeom prst="rect">
            <a:avLst/>
          </a:prstGeom>
        </p:spPr>
        <p:txBody>
          <a:bodyPr wrap="square">
            <a:spAutoFit/>
          </a:bodyPr>
          <a:lstStyle/>
          <a:p>
            <a:pPr algn="ctr"/>
            <a:r>
              <a:rPr lang="fr-FR" sz="13800" b="1" dirty="0">
                <a:latin typeface="Candara" panose="020E0502030303020204" pitchFamily="34" charset="0"/>
              </a:rPr>
              <a:t>Des questions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635528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err="1">
                <a:latin typeface="Candara" panose="020E0502030303020204" pitchFamily="34" charset="0"/>
              </a:rPr>
              <a:t>Now</a:t>
            </a:r>
            <a:r>
              <a:rPr lang="fr-FR" sz="6000" b="1" dirty="0">
                <a:latin typeface="Candara" panose="020E0502030303020204" pitchFamily="34" charset="0"/>
              </a:rPr>
              <a:t>!</a:t>
            </a:r>
          </a:p>
        </p:txBody>
      </p:sp>
      <p:sp>
        <p:nvSpPr>
          <p:cNvPr id="4" name="Rectangle 3">
            <a:extLst>
              <a:ext uri="{FF2B5EF4-FFF2-40B4-BE49-F238E27FC236}">
                <a16:creationId xmlns:a16="http://schemas.microsoft.com/office/drawing/2014/main" id="{E9E07D0F-F35B-4208-BFBD-B42411881582}"/>
              </a:ext>
            </a:extLst>
          </p:cNvPr>
          <p:cNvSpPr/>
          <p:nvPr/>
        </p:nvSpPr>
        <p:spPr>
          <a:xfrm>
            <a:off x="239790" y="2321004"/>
            <a:ext cx="11712420" cy="3046988"/>
          </a:xfrm>
          <a:prstGeom prst="rect">
            <a:avLst/>
          </a:prstGeom>
        </p:spPr>
        <p:txBody>
          <a:bodyPr wrap="square">
            <a:spAutoFit/>
          </a:bodyPr>
          <a:lstStyle/>
          <a:p>
            <a:pPr algn="ctr"/>
            <a:r>
              <a:rPr lang="fr-FR" sz="9600" b="1" dirty="0">
                <a:latin typeface="Candara" panose="020E0502030303020204" pitchFamily="34" charset="0"/>
              </a:rPr>
              <a:t>Passage vers le modèle relationnel </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687992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Modèle conceptuel vs modèle relationnel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710212" y="1971819"/>
            <a:ext cx="10771573" cy="1384995"/>
          </a:xfrm>
          <a:prstGeom prst="rect">
            <a:avLst/>
          </a:prstGeom>
        </p:spPr>
        <p:txBody>
          <a:bodyPr wrap="square">
            <a:spAutoFit/>
          </a:bodyPr>
          <a:lstStyle/>
          <a:p>
            <a:pPr algn="just"/>
            <a:r>
              <a:rPr lang="fr-FR" sz="2800" dirty="0">
                <a:latin typeface="Candara" panose="020E0502030303020204" pitchFamily="34" charset="0"/>
              </a:rPr>
              <a:t>Présence d’un attribut à deux endroits</a:t>
            </a:r>
          </a:p>
          <a:p>
            <a:pPr marL="457200" indent="-457200" algn="just">
              <a:buFont typeface="Wingdings" panose="05000000000000000000" pitchFamily="2" charset="2"/>
              <a:buChar char="ü"/>
            </a:pPr>
            <a:r>
              <a:rPr lang="fr-FR" sz="2800" dirty="0">
                <a:latin typeface="Candara" panose="020E0502030303020204" pitchFamily="34" charset="0"/>
              </a:rPr>
              <a:t>Modèle relationnel</a:t>
            </a:r>
          </a:p>
          <a:p>
            <a:pPr marL="457200" indent="-457200" algn="just">
              <a:buFont typeface="Wingdings" panose="05000000000000000000" pitchFamily="2" charset="2"/>
              <a:buChar char="ü"/>
            </a:pPr>
            <a:r>
              <a:rPr lang="fr-FR" sz="2800" dirty="0">
                <a:latin typeface="Candara" panose="020E0502030303020204" pitchFamily="34" charset="0"/>
              </a:rPr>
              <a:t>Modèle conceptuel mal réalisé</a:t>
            </a:r>
          </a:p>
        </p:txBody>
      </p:sp>
      <p:sp>
        <p:nvSpPr>
          <p:cNvPr id="8" name="Rectangle 7">
            <a:extLst>
              <a:ext uri="{FF2B5EF4-FFF2-40B4-BE49-F238E27FC236}">
                <a16:creationId xmlns:a16="http://schemas.microsoft.com/office/drawing/2014/main" id="{F7C876F8-40B6-41EA-A700-8CC58EF4B445}"/>
              </a:ext>
            </a:extLst>
          </p:cNvPr>
          <p:cNvSpPr/>
          <p:nvPr/>
        </p:nvSpPr>
        <p:spPr>
          <a:xfrm>
            <a:off x="3814118" y="4335227"/>
            <a:ext cx="1458125"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F9ECA1E9-91C4-496E-AA02-E1F2CD1CECE2}"/>
              </a:ext>
            </a:extLst>
          </p:cNvPr>
          <p:cNvCxnSpPr>
            <a:cxnSpLocks/>
          </p:cNvCxnSpPr>
          <p:nvPr/>
        </p:nvCxnSpPr>
        <p:spPr>
          <a:xfrm>
            <a:off x="3814118" y="4947240"/>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B9B456F6-7492-4C56-8957-1935B9125075}"/>
              </a:ext>
            </a:extLst>
          </p:cNvPr>
          <p:cNvCxnSpPr>
            <a:cxnSpLocks/>
          </p:cNvCxnSpPr>
          <p:nvPr/>
        </p:nvCxnSpPr>
        <p:spPr>
          <a:xfrm>
            <a:off x="3814118" y="5888590"/>
            <a:ext cx="14581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1D2D26FA-EF96-4303-9A3B-929B79F8E780}"/>
              </a:ext>
            </a:extLst>
          </p:cNvPr>
          <p:cNvSpPr txBox="1"/>
          <p:nvPr/>
        </p:nvSpPr>
        <p:spPr>
          <a:xfrm>
            <a:off x="3885143" y="4458893"/>
            <a:ext cx="1318976" cy="369332"/>
          </a:xfrm>
          <a:prstGeom prst="rect">
            <a:avLst/>
          </a:prstGeom>
          <a:noFill/>
        </p:spPr>
        <p:txBody>
          <a:bodyPr wrap="square">
            <a:spAutoFit/>
          </a:bodyPr>
          <a:lstStyle/>
          <a:p>
            <a:pPr algn="ctr"/>
            <a:r>
              <a:rPr lang="fr-FR" sz="1800" dirty="0" err="1">
                <a:latin typeface="Candara" panose="020E0502030303020204" pitchFamily="34" charset="0"/>
              </a:rPr>
              <a:t>TableA</a:t>
            </a:r>
            <a:endParaRPr lang="fr-FR" dirty="0"/>
          </a:p>
        </p:txBody>
      </p:sp>
      <p:sp>
        <p:nvSpPr>
          <p:cNvPr id="12" name="ZoneTexte 11">
            <a:extLst>
              <a:ext uri="{FF2B5EF4-FFF2-40B4-BE49-F238E27FC236}">
                <a16:creationId xmlns:a16="http://schemas.microsoft.com/office/drawing/2014/main" id="{B355C62C-E783-4D3B-89C1-22E626D32290}"/>
              </a:ext>
            </a:extLst>
          </p:cNvPr>
          <p:cNvSpPr txBox="1"/>
          <p:nvPr/>
        </p:nvSpPr>
        <p:spPr>
          <a:xfrm>
            <a:off x="4072921" y="5173906"/>
            <a:ext cx="1060174" cy="369332"/>
          </a:xfrm>
          <a:prstGeom prst="rect">
            <a:avLst/>
          </a:prstGeom>
          <a:noFill/>
        </p:spPr>
        <p:txBody>
          <a:bodyPr wrap="square">
            <a:spAutoFit/>
          </a:bodyPr>
          <a:lstStyle/>
          <a:p>
            <a:r>
              <a:rPr lang="fr-FR" sz="1800" dirty="0" err="1">
                <a:latin typeface="Candara" panose="020E0502030303020204" pitchFamily="34" charset="0"/>
              </a:rPr>
              <a:t>IdA</a:t>
            </a:r>
            <a:r>
              <a:rPr lang="fr-FR" sz="1800" dirty="0">
                <a:latin typeface="Candara" panose="020E0502030303020204" pitchFamily="34" charset="0"/>
              </a:rPr>
              <a:t>…</a:t>
            </a:r>
            <a:endParaRPr lang="fr-FR" dirty="0">
              <a:latin typeface="Candara" panose="020E0502030303020204" pitchFamily="34" charset="0"/>
            </a:endParaRPr>
          </a:p>
        </p:txBody>
      </p:sp>
      <p:sp>
        <p:nvSpPr>
          <p:cNvPr id="13" name="Rectangle 12">
            <a:extLst>
              <a:ext uri="{FF2B5EF4-FFF2-40B4-BE49-F238E27FC236}">
                <a16:creationId xmlns:a16="http://schemas.microsoft.com/office/drawing/2014/main" id="{01709F86-9DE2-4CE4-AD21-69F74695D766}"/>
              </a:ext>
            </a:extLst>
          </p:cNvPr>
          <p:cNvSpPr/>
          <p:nvPr/>
        </p:nvSpPr>
        <p:spPr>
          <a:xfrm>
            <a:off x="6938318" y="4335227"/>
            <a:ext cx="1613837" cy="1951243"/>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4" name="Connecteur droit 13">
            <a:extLst>
              <a:ext uri="{FF2B5EF4-FFF2-40B4-BE49-F238E27FC236}">
                <a16:creationId xmlns:a16="http://schemas.microsoft.com/office/drawing/2014/main" id="{B542CB04-C645-4BC6-A78B-021CF5AFA3AE}"/>
              </a:ext>
            </a:extLst>
          </p:cNvPr>
          <p:cNvCxnSpPr>
            <a:cxnSpLocks/>
          </p:cNvCxnSpPr>
          <p:nvPr/>
        </p:nvCxnSpPr>
        <p:spPr>
          <a:xfrm>
            <a:off x="6938318" y="4947240"/>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6C1B627-9BC8-4387-8D41-8E9C2C03C44F}"/>
              </a:ext>
            </a:extLst>
          </p:cNvPr>
          <p:cNvCxnSpPr>
            <a:cxnSpLocks/>
          </p:cNvCxnSpPr>
          <p:nvPr/>
        </p:nvCxnSpPr>
        <p:spPr>
          <a:xfrm>
            <a:off x="6938318" y="5888590"/>
            <a:ext cx="161383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630D2F8C-9C34-409D-9F61-7EF15FCFD22B}"/>
              </a:ext>
            </a:extLst>
          </p:cNvPr>
          <p:cNvSpPr txBox="1"/>
          <p:nvPr/>
        </p:nvSpPr>
        <p:spPr>
          <a:xfrm>
            <a:off x="7197123" y="4458893"/>
            <a:ext cx="1139010" cy="369332"/>
          </a:xfrm>
          <a:prstGeom prst="rect">
            <a:avLst/>
          </a:prstGeom>
          <a:noFill/>
        </p:spPr>
        <p:txBody>
          <a:bodyPr wrap="square">
            <a:spAutoFit/>
          </a:bodyPr>
          <a:lstStyle/>
          <a:p>
            <a:pPr algn="ctr"/>
            <a:r>
              <a:rPr lang="fr-FR" sz="1800" dirty="0" err="1">
                <a:latin typeface="Candara" panose="020E0502030303020204" pitchFamily="34" charset="0"/>
              </a:rPr>
              <a:t>TableB</a:t>
            </a:r>
            <a:endParaRPr lang="fr-FR" dirty="0"/>
          </a:p>
        </p:txBody>
      </p:sp>
      <p:sp>
        <p:nvSpPr>
          <p:cNvPr id="17" name="ZoneTexte 16">
            <a:extLst>
              <a:ext uri="{FF2B5EF4-FFF2-40B4-BE49-F238E27FC236}">
                <a16:creationId xmlns:a16="http://schemas.microsoft.com/office/drawing/2014/main" id="{4C544971-029F-47A0-8541-BB6316A60696}"/>
              </a:ext>
            </a:extLst>
          </p:cNvPr>
          <p:cNvSpPr txBox="1"/>
          <p:nvPr/>
        </p:nvSpPr>
        <p:spPr>
          <a:xfrm>
            <a:off x="7197121" y="5173906"/>
            <a:ext cx="831574" cy="646331"/>
          </a:xfrm>
          <a:prstGeom prst="rect">
            <a:avLst/>
          </a:prstGeom>
          <a:noFill/>
        </p:spPr>
        <p:txBody>
          <a:bodyPr wrap="square">
            <a:spAutoFit/>
          </a:bodyPr>
          <a:lstStyle/>
          <a:p>
            <a:r>
              <a:rPr lang="fr-FR" dirty="0" err="1">
                <a:latin typeface="Candara" panose="020E0502030303020204" pitchFamily="34" charset="0"/>
              </a:rPr>
              <a:t>IdB</a:t>
            </a:r>
            <a:endParaRPr lang="fr-FR" dirty="0">
              <a:latin typeface="Candara" panose="020E0502030303020204" pitchFamily="34" charset="0"/>
            </a:endParaRPr>
          </a:p>
          <a:p>
            <a:r>
              <a:rPr lang="fr-FR" dirty="0" err="1">
                <a:latin typeface="Candara" panose="020E0502030303020204" pitchFamily="34" charset="0"/>
              </a:rPr>
              <a:t>IdA</a:t>
            </a:r>
            <a:r>
              <a:rPr lang="fr-FR" dirty="0">
                <a:latin typeface="Candara" panose="020E0502030303020204" pitchFamily="34" charset="0"/>
              </a:rPr>
              <a:t>…</a:t>
            </a:r>
          </a:p>
        </p:txBody>
      </p:sp>
      <p:cxnSp>
        <p:nvCxnSpPr>
          <p:cNvPr id="18" name="Connecteur droit 17">
            <a:extLst>
              <a:ext uri="{FF2B5EF4-FFF2-40B4-BE49-F238E27FC236}">
                <a16:creationId xmlns:a16="http://schemas.microsoft.com/office/drawing/2014/main" id="{2B6857D3-0E1C-4458-B65E-DC9B9B145237}"/>
              </a:ext>
            </a:extLst>
          </p:cNvPr>
          <p:cNvCxnSpPr>
            <a:cxnSpLocks/>
            <a:stCxn id="8" idx="3"/>
            <a:endCxn id="13" idx="1"/>
          </p:cNvCxnSpPr>
          <p:nvPr/>
        </p:nvCxnSpPr>
        <p:spPr>
          <a:xfrm>
            <a:off x="5272243" y="5310849"/>
            <a:ext cx="166607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C6104F96-C0D3-493E-B900-3FDFFA1383A1}"/>
              </a:ext>
            </a:extLst>
          </p:cNvPr>
          <p:cNvSpPr txBox="1"/>
          <p:nvPr/>
        </p:nvSpPr>
        <p:spPr>
          <a:xfrm>
            <a:off x="5391898" y="4857726"/>
            <a:ext cx="213677" cy="369332"/>
          </a:xfrm>
          <a:prstGeom prst="rect">
            <a:avLst/>
          </a:prstGeom>
          <a:noFill/>
        </p:spPr>
        <p:txBody>
          <a:bodyPr wrap="square">
            <a:spAutoFit/>
          </a:bodyPr>
          <a:lstStyle/>
          <a:p>
            <a:r>
              <a:rPr lang="fr-FR" dirty="0">
                <a:latin typeface="Candara" panose="020E0502030303020204" pitchFamily="34" charset="0"/>
              </a:rPr>
              <a:t>1</a:t>
            </a:r>
            <a:endParaRPr lang="fr-FR" dirty="0"/>
          </a:p>
        </p:txBody>
      </p:sp>
      <p:sp>
        <p:nvSpPr>
          <p:cNvPr id="20" name="ZoneTexte 19">
            <a:extLst>
              <a:ext uri="{FF2B5EF4-FFF2-40B4-BE49-F238E27FC236}">
                <a16:creationId xmlns:a16="http://schemas.microsoft.com/office/drawing/2014/main" id="{8EA5DA2F-E414-4FEF-9BAA-D61C28D34C55}"/>
              </a:ext>
            </a:extLst>
          </p:cNvPr>
          <p:cNvSpPr txBox="1"/>
          <p:nvPr/>
        </p:nvSpPr>
        <p:spPr>
          <a:xfrm>
            <a:off x="6604986" y="4857726"/>
            <a:ext cx="333332" cy="369332"/>
          </a:xfrm>
          <a:prstGeom prst="rect">
            <a:avLst/>
          </a:prstGeom>
          <a:noFill/>
        </p:spPr>
        <p:txBody>
          <a:bodyPr wrap="square">
            <a:spAutoFit/>
          </a:bodyPr>
          <a:lstStyle/>
          <a:p>
            <a:r>
              <a:rPr lang="fr-FR" dirty="0">
                <a:latin typeface="Candara" panose="020E0502030303020204" pitchFamily="34" charset="0"/>
              </a:rPr>
              <a:t>*</a:t>
            </a:r>
            <a:endParaRPr lang="fr-FR" dirty="0"/>
          </a:p>
        </p:txBody>
      </p:sp>
      <p:sp>
        <p:nvSpPr>
          <p:cNvPr id="21" name="ZoneTexte 20">
            <a:extLst>
              <a:ext uri="{FF2B5EF4-FFF2-40B4-BE49-F238E27FC236}">
                <a16:creationId xmlns:a16="http://schemas.microsoft.com/office/drawing/2014/main" id="{64924CA7-1830-4077-BE24-671193D07573}"/>
              </a:ext>
            </a:extLst>
          </p:cNvPr>
          <p:cNvSpPr txBox="1"/>
          <p:nvPr/>
        </p:nvSpPr>
        <p:spPr>
          <a:xfrm>
            <a:off x="5341045" y="5331262"/>
            <a:ext cx="1458125" cy="369332"/>
          </a:xfrm>
          <a:prstGeom prst="rect">
            <a:avLst/>
          </a:prstGeom>
          <a:noFill/>
        </p:spPr>
        <p:txBody>
          <a:bodyPr wrap="square">
            <a:spAutoFit/>
          </a:bodyPr>
          <a:lstStyle/>
          <a:p>
            <a:pPr algn="ctr"/>
            <a:r>
              <a:rPr lang="fr-FR" dirty="0">
                <a:latin typeface="Candara" panose="020E0502030303020204" pitchFamily="34" charset="0"/>
              </a:rPr>
              <a:t>rôle</a:t>
            </a:r>
            <a:endParaRPr lang="fr-FR" dirty="0"/>
          </a:p>
        </p:txBody>
      </p:sp>
    </p:spTree>
    <p:extLst>
      <p:ext uri="{BB962C8B-B14F-4D97-AF65-F5344CB8AC3E}">
        <p14:creationId xmlns:p14="http://schemas.microsoft.com/office/powerpoint/2010/main" val="34709843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 classes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3" name="Image 22">
            <a:extLst>
              <a:ext uri="{FF2B5EF4-FFF2-40B4-BE49-F238E27FC236}">
                <a16:creationId xmlns:a16="http://schemas.microsoft.com/office/drawing/2014/main" id="{C1B4C8AA-8EF7-4AE9-B774-B85EDD5D585E}"/>
              </a:ext>
            </a:extLst>
          </p:cNvPr>
          <p:cNvPicPr>
            <a:picLocks noChangeAspect="1"/>
          </p:cNvPicPr>
          <p:nvPr/>
        </p:nvPicPr>
        <p:blipFill>
          <a:blip r:embed="rId2"/>
          <a:stretch>
            <a:fillRect/>
          </a:stretch>
        </p:blipFill>
        <p:spPr>
          <a:xfrm>
            <a:off x="710213" y="4272283"/>
            <a:ext cx="3386156" cy="2078071"/>
          </a:xfrm>
          <a:prstGeom prst="rect">
            <a:avLst/>
          </a:prstGeom>
        </p:spPr>
      </p:pic>
      <p:pic>
        <p:nvPicPr>
          <p:cNvPr id="24" name="Image 23">
            <a:extLst>
              <a:ext uri="{FF2B5EF4-FFF2-40B4-BE49-F238E27FC236}">
                <a16:creationId xmlns:a16="http://schemas.microsoft.com/office/drawing/2014/main" id="{FCBBD06B-849E-4491-BC64-D77E81837535}"/>
              </a:ext>
            </a:extLst>
          </p:cNvPr>
          <p:cNvPicPr>
            <a:picLocks noChangeAspect="1"/>
          </p:cNvPicPr>
          <p:nvPr/>
        </p:nvPicPr>
        <p:blipFill>
          <a:blip r:embed="rId3"/>
          <a:stretch>
            <a:fillRect/>
          </a:stretch>
        </p:blipFill>
        <p:spPr>
          <a:xfrm>
            <a:off x="5302301" y="1796437"/>
            <a:ext cx="4081395" cy="2509142"/>
          </a:xfrm>
          <a:prstGeom prst="rect">
            <a:avLst/>
          </a:prstGeom>
        </p:spPr>
      </p:pic>
      <p:sp>
        <p:nvSpPr>
          <p:cNvPr id="25" name="Flèche : virage 24">
            <a:extLst>
              <a:ext uri="{FF2B5EF4-FFF2-40B4-BE49-F238E27FC236}">
                <a16:creationId xmlns:a16="http://schemas.microsoft.com/office/drawing/2014/main" id="{737B7B60-179C-4365-B306-82BD6B053B45}"/>
              </a:ext>
            </a:extLst>
          </p:cNvPr>
          <p:cNvSpPr/>
          <p:nvPr/>
        </p:nvSpPr>
        <p:spPr>
          <a:xfrm>
            <a:off x="2104009" y="2281562"/>
            <a:ext cx="3107184" cy="1713390"/>
          </a:xfrm>
          <a:prstGeom prst="ben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fr-FR">
              <a:solidFill>
                <a:schemeClr val="tx1"/>
              </a:solidFill>
            </a:endParaRPr>
          </a:p>
        </p:txBody>
      </p:sp>
      <p:sp>
        <p:nvSpPr>
          <p:cNvPr id="27" name="ZoneTexte 26">
            <a:extLst>
              <a:ext uri="{FF2B5EF4-FFF2-40B4-BE49-F238E27FC236}">
                <a16:creationId xmlns:a16="http://schemas.microsoft.com/office/drawing/2014/main" id="{D1D5CA11-B74C-43D5-8A57-A43B82BB3E76}"/>
              </a:ext>
            </a:extLst>
          </p:cNvPr>
          <p:cNvSpPr txBox="1"/>
          <p:nvPr/>
        </p:nvSpPr>
        <p:spPr>
          <a:xfrm>
            <a:off x="0" y="5311318"/>
            <a:ext cx="3386156" cy="369332"/>
          </a:xfrm>
          <a:prstGeom prst="rect">
            <a:avLst/>
          </a:prstGeom>
          <a:noFill/>
        </p:spPr>
        <p:txBody>
          <a:bodyPr wrap="square">
            <a:spAutoFit/>
          </a:bodyPr>
          <a:lstStyle/>
          <a:p>
            <a:pPr algn="ctr"/>
            <a:r>
              <a:rPr lang="fr-FR" sz="1800" dirty="0">
                <a:latin typeface="Candara" panose="020E0502030303020204" pitchFamily="34" charset="0"/>
              </a:rPr>
              <a:t>Monde conceptuel</a:t>
            </a:r>
            <a:endParaRPr lang="fr-FR" dirty="0"/>
          </a:p>
        </p:txBody>
      </p:sp>
      <p:sp>
        <p:nvSpPr>
          <p:cNvPr id="28" name="ZoneTexte 27">
            <a:extLst>
              <a:ext uri="{FF2B5EF4-FFF2-40B4-BE49-F238E27FC236}">
                <a16:creationId xmlns:a16="http://schemas.microsoft.com/office/drawing/2014/main" id="{B3159AD0-4E3C-47B4-AE79-8D8C8584C3DE}"/>
              </a:ext>
            </a:extLst>
          </p:cNvPr>
          <p:cNvSpPr txBox="1"/>
          <p:nvPr/>
        </p:nvSpPr>
        <p:spPr>
          <a:xfrm>
            <a:off x="4795421" y="3244334"/>
            <a:ext cx="3386156" cy="369332"/>
          </a:xfrm>
          <a:prstGeom prst="rect">
            <a:avLst/>
          </a:prstGeom>
          <a:noFill/>
        </p:spPr>
        <p:txBody>
          <a:bodyPr wrap="square">
            <a:spAutoFit/>
          </a:bodyPr>
          <a:lstStyle/>
          <a:p>
            <a:pPr algn="ctr"/>
            <a:r>
              <a:rPr lang="fr-FR" sz="1800" dirty="0">
                <a:latin typeface="Candara" panose="020E0502030303020204" pitchFamily="34" charset="0"/>
              </a:rPr>
              <a:t>Monde relationnel</a:t>
            </a:r>
            <a:endParaRPr lang="fr-FR" dirty="0"/>
          </a:p>
        </p:txBody>
      </p:sp>
      <p:sp>
        <p:nvSpPr>
          <p:cNvPr id="29" name="Organigramme : Disque magnétique 28">
            <a:extLst>
              <a:ext uri="{FF2B5EF4-FFF2-40B4-BE49-F238E27FC236}">
                <a16:creationId xmlns:a16="http://schemas.microsoft.com/office/drawing/2014/main" id="{1F86850A-80E8-4A15-A6F1-D52C98ABCC6A}"/>
              </a:ext>
            </a:extLst>
          </p:cNvPr>
          <p:cNvSpPr/>
          <p:nvPr/>
        </p:nvSpPr>
        <p:spPr>
          <a:xfrm>
            <a:off x="9303799" y="4881659"/>
            <a:ext cx="2112884" cy="1597981"/>
          </a:xfrm>
          <a:prstGeom prst="flowChartMagneticDisk">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r-FR" dirty="0"/>
              <a:t>Base de Données</a:t>
            </a:r>
          </a:p>
        </p:txBody>
      </p:sp>
      <p:sp>
        <p:nvSpPr>
          <p:cNvPr id="30" name="Flèche : virage 29">
            <a:extLst>
              <a:ext uri="{FF2B5EF4-FFF2-40B4-BE49-F238E27FC236}">
                <a16:creationId xmlns:a16="http://schemas.microsoft.com/office/drawing/2014/main" id="{77B3D13D-A544-49E4-8B27-509FC25FCF59}"/>
              </a:ext>
            </a:extLst>
          </p:cNvPr>
          <p:cNvSpPr/>
          <p:nvPr/>
        </p:nvSpPr>
        <p:spPr>
          <a:xfrm rot="10800000" flipH="1">
            <a:off x="6417125" y="3861785"/>
            <a:ext cx="2627742" cy="2306227"/>
          </a:xfrm>
          <a:prstGeom prst="bentArrow">
            <a:avLst>
              <a:gd name="adj1" fmla="val 25000"/>
              <a:gd name="adj2" fmla="val 23964"/>
              <a:gd name="adj3" fmla="val 25000"/>
              <a:gd name="adj4" fmla="val 43750"/>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fr-FR">
              <a:solidFill>
                <a:schemeClr val="tx1"/>
              </a:solidFill>
            </a:endParaRPr>
          </a:p>
        </p:txBody>
      </p:sp>
      <p:sp>
        <p:nvSpPr>
          <p:cNvPr id="31" name="ZoneTexte 30">
            <a:extLst>
              <a:ext uri="{FF2B5EF4-FFF2-40B4-BE49-F238E27FC236}">
                <a16:creationId xmlns:a16="http://schemas.microsoft.com/office/drawing/2014/main" id="{DD78A422-E44C-40F1-A6BF-EFA3076492F1}"/>
              </a:ext>
            </a:extLst>
          </p:cNvPr>
          <p:cNvSpPr txBox="1"/>
          <p:nvPr/>
        </p:nvSpPr>
        <p:spPr>
          <a:xfrm>
            <a:off x="871492" y="2928195"/>
            <a:ext cx="3386156" cy="369332"/>
          </a:xfrm>
          <a:prstGeom prst="rect">
            <a:avLst/>
          </a:prstGeom>
          <a:noFill/>
        </p:spPr>
        <p:txBody>
          <a:bodyPr wrap="square">
            <a:spAutoFit/>
          </a:bodyPr>
          <a:lstStyle/>
          <a:p>
            <a:pPr algn="ctr"/>
            <a:r>
              <a:rPr lang="fr-FR" dirty="0">
                <a:highlight>
                  <a:srgbClr val="FFFF00"/>
                </a:highlight>
                <a:latin typeface="Candara" panose="020E0502030303020204" pitchFamily="34" charset="0"/>
              </a:rPr>
              <a:t>Règles basées sur les cardinalités</a:t>
            </a:r>
            <a:endParaRPr lang="fr-FR" dirty="0">
              <a:highlight>
                <a:srgbClr val="FFFF00"/>
              </a:highlight>
            </a:endParaRPr>
          </a:p>
        </p:txBody>
      </p:sp>
      <p:sp>
        <p:nvSpPr>
          <p:cNvPr id="32" name="ZoneTexte 31">
            <a:extLst>
              <a:ext uri="{FF2B5EF4-FFF2-40B4-BE49-F238E27FC236}">
                <a16:creationId xmlns:a16="http://schemas.microsoft.com/office/drawing/2014/main" id="{8CE1F26B-63B2-4B07-85FD-1A8B33BAF9F7}"/>
              </a:ext>
            </a:extLst>
          </p:cNvPr>
          <p:cNvSpPr txBox="1"/>
          <p:nvPr/>
        </p:nvSpPr>
        <p:spPr>
          <a:xfrm>
            <a:off x="5125376" y="4800874"/>
            <a:ext cx="3386156" cy="369332"/>
          </a:xfrm>
          <a:prstGeom prst="rect">
            <a:avLst/>
          </a:prstGeom>
          <a:noFill/>
        </p:spPr>
        <p:txBody>
          <a:bodyPr wrap="square">
            <a:spAutoFit/>
          </a:bodyPr>
          <a:lstStyle/>
          <a:p>
            <a:pPr algn="ctr"/>
            <a:r>
              <a:rPr lang="fr-FR" dirty="0">
                <a:highlight>
                  <a:srgbClr val="FFFF00"/>
                </a:highlight>
                <a:latin typeface="Candara" panose="020E0502030303020204" pitchFamily="34" charset="0"/>
              </a:rPr>
              <a:t>Génération des scripts SQL</a:t>
            </a:r>
            <a:endParaRPr lang="fr-FR" dirty="0">
              <a:highlight>
                <a:srgbClr val="FFFF00"/>
              </a:highlight>
            </a:endParaRPr>
          </a:p>
        </p:txBody>
      </p:sp>
    </p:spTree>
    <p:extLst>
      <p:ext uri="{BB962C8B-B14F-4D97-AF65-F5344CB8AC3E}">
        <p14:creationId xmlns:p14="http://schemas.microsoft.com/office/powerpoint/2010/main" val="39712747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 classes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2" y="1971819"/>
            <a:ext cx="7235304" cy="4154984"/>
          </a:xfrm>
          <a:prstGeom prst="rect">
            <a:avLst/>
          </a:prstGeom>
        </p:spPr>
        <p:txBody>
          <a:bodyPr wrap="square">
            <a:spAutoFit/>
          </a:bodyPr>
          <a:lstStyle/>
          <a:p>
            <a:pPr algn="just"/>
            <a:r>
              <a:rPr lang="fr-FR" sz="2400" dirty="0">
                <a:latin typeface="Candara" panose="020E0502030303020204" pitchFamily="34" charset="0"/>
              </a:rPr>
              <a:t>Chaque classe doit se transformer en une relation (qui deviendra une table)</a:t>
            </a:r>
          </a:p>
          <a:p>
            <a:pPr algn="just"/>
            <a:endParaRPr lang="fr-FR" sz="24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L’identifiant de la classe devient la clé primaire de la table </a:t>
            </a:r>
          </a:p>
          <a:p>
            <a:pPr marL="342900" indent="-342900" algn="just">
              <a:buFont typeface="Wingdings" panose="05000000000000000000" pitchFamily="2" charset="2"/>
              <a:buChar char="ü"/>
            </a:pPr>
            <a:r>
              <a:rPr lang="fr-FR" sz="2400" dirty="0">
                <a:latin typeface="Candara" panose="020E0502030303020204" pitchFamily="34" charset="0"/>
              </a:rPr>
              <a:t>Attention, différencier identifiant technique (PK) et identifiant métier (AK)</a:t>
            </a:r>
          </a:p>
          <a:p>
            <a:pPr marL="342900" indent="-342900" algn="just">
              <a:buFont typeface="Wingdings" panose="05000000000000000000" pitchFamily="2" charset="2"/>
              <a:buChar char="ü"/>
            </a:pPr>
            <a:r>
              <a:rPr lang="fr-FR" sz="2400" dirty="0">
                <a:latin typeface="Candara" panose="020E0502030303020204" pitchFamily="34" charset="0"/>
              </a:rPr>
              <a:t>Penser au caractère obligatoire des autres attributs</a:t>
            </a:r>
          </a:p>
          <a:p>
            <a:pPr marL="342900" indent="-342900" algn="just">
              <a:buFont typeface="Wingdings" panose="05000000000000000000" pitchFamily="2" charset="2"/>
              <a:buChar char="ü"/>
            </a:pPr>
            <a:r>
              <a:rPr lang="fr-FR" sz="2400" dirty="0">
                <a:latin typeface="Candara" panose="020E0502030303020204" pitchFamily="34" charset="0"/>
              </a:rPr>
              <a:t>Bien choisir le type de chaque attribut</a:t>
            </a:r>
          </a:p>
          <a:p>
            <a:pPr algn="just"/>
            <a:endParaRPr lang="fr-FR" sz="2400" dirty="0">
              <a:latin typeface="Candara" panose="020E0502030303020204" pitchFamily="34" charset="0"/>
            </a:endParaRPr>
          </a:p>
          <a:p>
            <a:pPr algn="just"/>
            <a:r>
              <a:rPr lang="fr-FR" sz="2400" dirty="0">
                <a:latin typeface="Candara" panose="020E0502030303020204" pitchFamily="34" charset="0"/>
              </a:rPr>
              <a:t>Chaque outil est différent…</a:t>
            </a:r>
          </a:p>
        </p:txBody>
      </p:sp>
      <p:sp>
        <p:nvSpPr>
          <p:cNvPr id="15" name="Rectangle 14">
            <a:extLst>
              <a:ext uri="{FF2B5EF4-FFF2-40B4-BE49-F238E27FC236}">
                <a16:creationId xmlns:a16="http://schemas.microsoft.com/office/drawing/2014/main" id="{843F1BF2-8A24-45B0-93E8-2073232EEA1A}"/>
              </a:ext>
            </a:extLst>
          </p:cNvPr>
          <p:cNvSpPr/>
          <p:nvPr/>
        </p:nvSpPr>
        <p:spPr>
          <a:xfrm>
            <a:off x="8556751" y="1906343"/>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6" name="Connecteur droit 15">
            <a:extLst>
              <a:ext uri="{FF2B5EF4-FFF2-40B4-BE49-F238E27FC236}">
                <a16:creationId xmlns:a16="http://schemas.microsoft.com/office/drawing/2014/main" id="{42869597-C41B-40F9-A06A-201344382F05}"/>
              </a:ext>
            </a:extLst>
          </p:cNvPr>
          <p:cNvCxnSpPr>
            <a:cxnSpLocks/>
          </p:cNvCxnSpPr>
          <p:nvPr/>
        </p:nvCxnSpPr>
        <p:spPr>
          <a:xfrm>
            <a:off x="8556750" y="2299950"/>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8B796FFA-26BC-4E0F-ABAB-1DB79020AF03}"/>
              </a:ext>
            </a:extLst>
          </p:cNvPr>
          <p:cNvSpPr txBox="1"/>
          <p:nvPr/>
        </p:nvSpPr>
        <p:spPr>
          <a:xfrm>
            <a:off x="8556747" y="1900800"/>
            <a:ext cx="2716563" cy="338554"/>
          </a:xfrm>
          <a:prstGeom prst="rect">
            <a:avLst/>
          </a:prstGeom>
          <a:noFill/>
        </p:spPr>
        <p:txBody>
          <a:bodyPr wrap="square">
            <a:spAutoFit/>
          </a:bodyPr>
          <a:lstStyle/>
          <a:p>
            <a:pPr algn="ctr"/>
            <a:r>
              <a:rPr lang="fr-FR" sz="1600" dirty="0">
                <a:latin typeface="Candara" panose="020E0502030303020204" pitchFamily="34" charset="0"/>
              </a:rPr>
              <a:t>Entreprise</a:t>
            </a:r>
            <a:endParaRPr lang="fr-FR" sz="1600" dirty="0"/>
          </a:p>
        </p:txBody>
      </p:sp>
      <p:sp>
        <p:nvSpPr>
          <p:cNvPr id="18" name="ZoneTexte 17">
            <a:extLst>
              <a:ext uri="{FF2B5EF4-FFF2-40B4-BE49-F238E27FC236}">
                <a16:creationId xmlns:a16="http://schemas.microsoft.com/office/drawing/2014/main" id="{5A780EF2-F477-4504-86EB-96A65450E686}"/>
              </a:ext>
            </a:extLst>
          </p:cNvPr>
          <p:cNvSpPr txBox="1"/>
          <p:nvPr/>
        </p:nvSpPr>
        <p:spPr>
          <a:xfrm>
            <a:off x="8556747" y="2434682"/>
            <a:ext cx="2716567" cy="646331"/>
          </a:xfrm>
          <a:prstGeom prst="rect">
            <a:avLst/>
          </a:prstGeom>
          <a:noFill/>
        </p:spPr>
        <p:txBody>
          <a:bodyPr wrap="square">
            <a:spAutoFit/>
          </a:bodyPr>
          <a:lstStyle/>
          <a:p>
            <a:r>
              <a:rPr lang="fr-FR" sz="1800" u="sng" dirty="0" err="1">
                <a:latin typeface="Candara" panose="020E0502030303020204" pitchFamily="34" charset="0"/>
              </a:rPr>
              <a:t>IdEnt</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9" name="Connecteur droit 18">
            <a:extLst>
              <a:ext uri="{FF2B5EF4-FFF2-40B4-BE49-F238E27FC236}">
                <a16:creationId xmlns:a16="http://schemas.microsoft.com/office/drawing/2014/main" id="{EC50A15F-846A-4539-BF93-BA4E562A00C8}"/>
              </a:ext>
            </a:extLst>
          </p:cNvPr>
          <p:cNvCxnSpPr>
            <a:cxnSpLocks/>
          </p:cNvCxnSpPr>
          <p:nvPr/>
        </p:nvCxnSpPr>
        <p:spPr>
          <a:xfrm>
            <a:off x="8556747" y="3233400"/>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4C9DCF3-D847-48C3-B768-41EF4E061CD1}"/>
              </a:ext>
            </a:extLst>
          </p:cNvPr>
          <p:cNvSpPr/>
          <p:nvPr/>
        </p:nvSpPr>
        <p:spPr>
          <a:xfrm>
            <a:off x="8530118" y="5071993"/>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1" name="Connecteur droit 20">
            <a:extLst>
              <a:ext uri="{FF2B5EF4-FFF2-40B4-BE49-F238E27FC236}">
                <a16:creationId xmlns:a16="http://schemas.microsoft.com/office/drawing/2014/main" id="{C338E384-02B6-4FAB-9D84-42E27A75CE7B}"/>
              </a:ext>
            </a:extLst>
          </p:cNvPr>
          <p:cNvCxnSpPr>
            <a:cxnSpLocks/>
          </p:cNvCxnSpPr>
          <p:nvPr/>
        </p:nvCxnSpPr>
        <p:spPr>
          <a:xfrm>
            <a:off x="8530117" y="5465600"/>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8B9E4E6A-A51F-4454-AC84-437A651FD6C2}"/>
              </a:ext>
            </a:extLst>
          </p:cNvPr>
          <p:cNvSpPr txBox="1"/>
          <p:nvPr/>
        </p:nvSpPr>
        <p:spPr>
          <a:xfrm>
            <a:off x="8530114" y="5093084"/>
            <a:ext cx="2716563" cy="338554"/>
          </a:xfrm>
          <a:prstGeom prst="rect">
            <a:avLst/>
          </a:prstGeom>
          <a:noFill/>
        </p:spPr>
        <p:txBody>
          <a:bodyPr wrap="square">
            <a:spAutoFit/>
          </a:bodyPr>
          <a:lstStyle/>
          <a:p>
            <a:pPr algn="ctr"/>
            <a:r>
              <a:rPr lang="fr-FR" sz="1600" dirty="0">
                <a:latin typeface="Candara" panose="020E0502030303020204" pitchFamily="34" charset="0"/>
              </a:rPr>
              <a:t>Entreprise</a:t>
            </a:r>
            <a:endParaRPr lang="fr-FR" sz="1600" dirty="0"/>
          </a:p>
        </p:txBody>
      </p:sp>
      <p:sp>
        <p:nvSpPr>
          <p:cNvPr id="26" name="ZoneTexte 25">
            <a:extLst>
              <a:ext uri="{FF2B5EF4-FFF2-40B4-BE49-F238E27FC236}">
                <a16:creationId xmlns:a16="http://schemas.microsoft.com/office/drawing/2014/main" id="{4763117B-FC86-4091-8841-B96BC0D60700}"/>
              </a:ext>
            </a:extLst>
          </p:cNvPr>
          <p:cNvSpPr txBox="1"/>
          <p:nvPr/>
        </p:nvSpPr>
        <p:spPr>
          <a:xfrm>
            <a:off x="8530114" y="5600332"/>
            <a:ext cx="2716567" cy="646331"/>
          </a:xfrm>
          <a:prstGeom prst="rect">
            <a:avLst/>
          </a:prstGeom>
          <a:noFill/>
        </p:spPr>
        <p:txBody>
          <a:bodyPr wrap="square">
            <a:spAutoFit/>
          </a:bodyPr>
          <a:lstStyle/>
          <a:p>
            <a:r>
              <a:rPr lang="fr-FR" sz="1800" u="sng" dirty="0" err="1">
                <a:latin typeface="Candara" panose="020E0502030303020204" pitchFamily="34" charset="0"/>
              </a:rPr>
              <a:t>IdEnt</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sp>
        <p:nvSpPr>
          <p:cNvPr id="3" name="Flèche : droite 2">
            <a:extLst>
              <a:ext uri="{FF2B5EF4-FFF2-40B4-BE49-F238E27FC236}">
                <a16:creationId xmlns:a16="http://schemas.microsoft.com/office/drawing/2014/main" id="{A93254C1-7F33-47DA-B0A3-58A8BA250FF6}"/>
              </a:ext>
            </a:extLst>
          </p:cNvPr>
          <p:cNvSpPr/>
          <p:nvPr/>
        </p:nvSpPr>
        <p:spPr>
          <a:xfrm rot="5400000">
            <a:off x="9315015" y="4003062"/>
            <a:ext cx="1200024" cy="43274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54297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2" y="1971819"/>
            <a:ext cx="9978503" cy="4832092"/>
          </a:xfrm>
          <a:prstGeom prst="rect">
            <a:avLst/>
          </a:prstGeom>
        </p:spPr>
        <p:txBody>
          <a:bodyPr wrap="square">
            <a:spAutoFit/>
          </a:bodyPr>
          <a:lstStyle/>
          <a:p>
            <a:pPr algn="just"/>
            <a:r>
              <a:rPr lang="fr-FR" sz="2800" dirty="0">
                <a:latin typeface="Candara" panose="020E0502030303020204" pitchFamily="34" charset="0"/>
              </a:rPr>
              <a:t>Trois cas à traiter :</a:t>
            </a:r>
          </a:p>
          <a:p>
            <a:pPr marL="800100" lvl="1" indent="-342900" algn="just">
              <a:buFont typeface="Wingdings" panose="05000000000000000000" pitchFamily="2" charset="2"/>
              <a:buChar char="ü"/>
            </a:pPr>
            <a:r>
              <a:rPr lang="fr-FR" sz="2800" dirty="0">
                <a:latin typeface="Candara" panose="020E0502030303020204" pitchFamily="34" charset="0"/>
              </a:rPr>
              <a:t>Association de type « un à plusieurs »</a:t>
            </a:r>
          </a:p>
          <a:p>
            <a:pPr marL="800100" lvl="1" indent="-342900" algn="just">
              <a:buFont typeface="Wingdings" panose="05000000000000000000" pitchFamily="2" charset="2"/>
              <a:buChar char="ü"/>
            </a:pPr>
            <a:r>
              <a:rPr lang="fr-FR" sz="2800" dirty="0">
                <a:latin typeface="Candara" panose="020E0502030303020204" pitchFamily="34" charset="0"/>
              </a:rPr>
              <a:t>Association de type « plusieurs à plusieurs »</a:t>
            </a:r>
          </a:p>
          <a:p>
            <a:pPr marL="800100" lvl="1" indent="-342900" algn="just">
              <a:buFont typeface="Wingdings" panose="05000000000000000000" pitchFamily="2" charset="2"/>
              <a:buChar char="ü"/>
            </a:pPr>
            <a:r>
              <a:rPr lang="fr-FR" sz="2800" dirty="0">
                <a:latin typeface="Candara" panose="020E0502030303020204" pitchFamily="34" charset="0"/>
              </a:rPr>
              <a:t>Association de type « un à un »</a:t>
            </a:r>
          </a:p>
          <a:p>
            <a:pPr algn="just"/>
            <a:endParaRPr lang="fr-FR" sz="2800" dirty="0">
              <a:latin typeface="Candara" panose="020E0502030303020204" pitchFamily="34" charset="0"/>
            </a:endParaRPr>
          </a:p>
          <a:p>
            <a:pPr algn="just"/>
            <a:r>
              <a:rPr lang="fr-FR" sz="2800" dirty="0">
                <a:latin typeface="Candara" panose="020E0502030303020204" pitchFamily="34" charset="0"/>
              </a:rPr>
              <a:t>Création de clés étrangères :</a:t>
            </a:r>
          </a:p>
          <a:p>
            <a:pPr marL="800100" lvl="1" indent="-342900" algn="just">
              <a:buFont typeface="Wingdings" panose="05000000000000000000" pitchFamily="2" charset="2"/>
              <a:buChar char="ü"/>
            </a:pPr>
            <a:r>
              <a:rPr lang="fr-FR" sz="2800" dirty="0">
                <a:latin typeface="Candara" panose="020E0502030303020204" pitchFamily="34" charset="0"/>
              </a:rPr>
              <a:t>Identifiants de la classe « parent »</a:t>
            </a:r>
          </a:p>
          <a:p>
            <a:pPr algn="just"/>
            <a:endParaRPr lang="fr-FR" sz="2800" dirty="0">
              <a:latin typeface="Candara" panose="020E0502030303020204" pitchFamily="34" charset="0"/>
            </a:endParaRPr>
          </a:p>
          <a:p>
            <a:pPr algn="just"/>
            <a:r>
              <a:rPr lang="fr-FR" sz="2800" dirty="0">
                <a:latin typeface="Candara" panose="020E0502030303020204" pitchFamily="34" charset="0"/>
              </a:rPr>
              <a:t>Création d’une table supplémentaire :</a:t>
            </a:r>
          </a:p>
          <a:p>
            <a:pPr marL="800100" lvl="1" indent="-342900" algn="just">
              <a:buFont typeface="Wingdings" panose="05000000000000000000" pitchFamily="2" charset="2"/>
              <a:buChar char="ü"/>
            </a:pPr>
            <a:r>
              <a:rPr lang="fr-FR" sz="2800" dirty="0">
                <a:latin typeface="Candara" panose="020E0502030303020204" pitchFamily="34" charset="0"/>
              </a:rPr>
              <a:t>Association de type « plusieurs à plusieurs »</a:t>
            </a:r>
          </a:p>
          <a:p>
            <a:pPr marL="800100" lvl="1" indent="-342900" algn="just">
              <a:buFont typeface="Wingdings" panose="05000000000000000000" pitchFamily="2" charset="2"/>
              <a:buChar char="ü"/>
            </a:pPr>
            <a:r>
              <a:rPr lang="fr-FR" sz="2800" dirty="0">
                <a:latin typeface="Candara" panose="020E0502030303020204" pitchFamily="34" charset="0"/>
              </a:rPr>
              <a:t>Peut convenir aux autres cas</a:t>
            </a:r>
          </a:p>
        </p:txBody>
      </p:sp>
    </p:spTree>
    <p:extLst>
      <p:ext uri="{BB962C8B-B14F-4D97-AF65-F5344CB8AC3E}">
        <p14:creationId xmlns:p14="http://schemas.microsoft.com/office/powerpoint/2010/main" val="7248478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3" y="2184885"/>
            <a:ext cx="4286457" cy="3970318"/>
          </a:xfrm>
          <a:prstGeom prst="rect">
            <a:avLst/>
          </a:prstGeom>
        </p:spPr>
        <p:txBody>
          <a:bodyPr wrap="square">
            <a:spAutoFit/>
          </a:bodyPr>
          <a:lstStyle/>
          <a:p>
            <a:pPr algn="just"/>
            <a:r>
              <a:rPr lang="fr-FR" sz="2800" dirty="0">
                <a:latin typeface="Candara" panose="020E0502030303020204" pitchFamily="34" charset="0"/>
              </a:rPr>
              <a:t>Association de type « un à plusieurs »</a:t>
            </a:r>
          </a:p>
          <a:p>
            <a:pPr algn="just"/>
            <a:endParaRPr lang="fr-FR" sz="28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Création d’une clé étrangère (identifiant de la classe « parent »)</a:t>
            </a:r>
          </a:p>
          <a:p>
            <a:pPr marL="342900" indent="-342900" algn="just">
              <a:buFont typeface="Wingdings" panose="05000000000000000000" pitchFamily="2" charset="2"/>
              <a:buChar char="ü"/>
            </a:pPr>
            <a:r>
              <a:rPr lang="fr-FR" sz="2400" dirty="0">
                <a:latin typeface="Candara" panose="020E0502030303020204" pitchFamily="34" charset="0"/>
              </a:rPr>
              <a:t>Classe « parent » est du côté du 1..1</a:t>
            </a:r>
          </a:p>
          <a:p>
            <a:pPr marL="342900" indent="-342900" algn="just">
              <a:buFont typeface="Wingdings" panose="05000000000000000000" pitchFamily="2" charset="2"/>
              <a:buChar char="ü"/>
            </a:pPr>
            <a:r>
              <a:rPr lang="fr-FR" sz="2400" dirty="0">
                <a:latin typeface="Candara" panose="020E0502030303020204" pitchFamily="34" charset="0"/>
              </a:rPr>
              <a:t>Dans ce contexte, la clé étrangère est non nulle.</a:t>
            </a:r>
            <a:endParaRPr lang="fr-FR" sz="3200" dirty="0">
              <a:latin typeface="Candara" panose="020E0502030303020204" pitchFamily="34" charset="0"/>
            </a:endParaRPr>
          </a:p>
        </p:txBody>
      </p:sp>
      <p:sp>
        <p:nvSpPr>
          <p:cNvPr id="7" name="Rectangle 6">
            <a:extLst>
              <a:ext uri="{FF2B5EF4-FFF2-40B4-BE49-F238E27FC236}">
                <a16:creationId xmlns:a16="http://schemas.microsoft.com/office/drawing/2014/main" id="{FC498822-474B-4B4E-80E6-C3234299146B}"/>
              </a:ext>
            </a:extLst>
          </p:cNvPr>
          <p:cNvSpPr/>
          <p:nvPr/>
        </p:nvSpPr>
        <p:spPr>
          <a:xfrm>
            <a:off x="5264616"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2D32C79C-4E93-44BF-B828-50524286B428}"/>
              </a:ext>
            </a:extLst>
          </p:cNvPr>
          <p:cNvCxnSpPr>
            <a:cxnSpLocks/>
          </p:cNvCxnSpPr>
          <p:nvPr/>
        </p:nvCxnSpPr>
        <p:spPr>
          <a:xfrm>
            <a:off x="5264615"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A8ED3575-6127-449A-A711-063631D4A1D8}"/>
              </a:ext>
            </a:extLst>
          </p:cNvPr>
          <p:cNvSpPr txBox="1"/>
          <p:nvPr/>
        </p:nvSpPr>
        <p:spPr>
          <a:xfrm>
            <a:off x="5264612" y="2184885"/>
            <a:ext cx="2716563" cy="338554"/>
          </a:xfrm>
          <a:prstGeom prst="rect">
            <a:avLst/>
          </a:prstGeom>
          <a:noFill/>
        </p:spPr>
        <p:txBody>
          <a:bodyPr wrap="square">
            <a:spAutoFit/>
          </a:bodyPr>
          <a:lstStyle/>
          <a:p>
            <a:pPr algn="ctr"/>
            <a:r>
              <a:rPr lang="fr-FR" sz="1600" dirty="0">
                <a:latin typeface="Candara" panose="020E0502030303020204" pitchFamily="34" charset="0"/>
              </a:rPr>
              <a:t>Stagiaire</a:t>
            </a:r>
            <a:endParaRPr lang="fr-FR" sz="1600" dirty="0"/>
          </a:p>
        </p:txBody>
      </p:sp>
      <p:sp>
        <p:nvSpPr>
          <p:cNvPr id="10" name="ZoneTexte 9">
            <a:extLst>
              <a:ext uri="{FF2B5EF4-FFF2-40B4-BE49-F238E27FC236}">
                <a16:creationId xmlns:a16="http://schemas.microsoft.com/office/drawing/2014/main" id="{B018CB7F-811B-4636-AD06-851E7B607F98}"/>
              </a:ext>
            </a:extLst>
          </p:cNvPr>
          <p:cNvSpPr txBox="1"/>
          <p:nvPr/>
        </p:nvSpPr>
        <p:spPr>
          <a:xfrm>
            <a:off x="5264612" y="2718767"/>
            <a:ext cx="2716567" cy="646331"/>
          </a:xfrm>
          <a:prstGeom prst="rect">
            <a:avLst/>
          </a:prstGeom>
          <a:noFill/>
        </p:spPr>
        <p:txBody>
          <a:bodyPr wrap="square">
            <a:spAutoFit/>
          </a:bodyPr>
          <a:lstStyle/>
          <a:p>
            <a:r>
              <a:rPr lang="fr-FR" sz="1800" u="sng" dirty="0" err="1">
                <a:latin typeface="Candara" panose="020E0502030303020204" pitchFamily="34" charset="0"/>
              </a:rPr>
              <a:t>IdStg</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1" name="Connecteur droit 10">
            <a:extLst>
              <a:ext uri="{FF2B5EF4-FFF2-40B4-BE49-F238E27FC236}">
                <a16:creationId xmlns:a16="http://schemas.microsoft.com/office/drawing/2014/main" id="{3DD1C0B2-D336-4DCD-B0F8-B591B81D63E2}"/>
              </a:ext>
            </a:extLst>
          </p:cNvPr>
          <p:cNvCxnSpPr>
            <a:cxnSpLocks/>
          </p:cNvCxnSpPr>
          <p:nvPr/>
        </p:nvCxnSpPr>
        <p:spPr>
          <a:xfrm>
            <a:off x="5264612"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47BC820-B66F-4721-A96A-DA59A93632B5}"/>
              </a:ext>
            </a:extLst>
          </p:cNvPr>
          <p:cNvSpPr/>
          <p:nvPr/>
        </p:nvSpPr>
        <p:spPr>
          <a:xfrm>
            <a:off x="9207780"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1BF0792D-9CE8-4E96-A7AD-313F0F94886C}"/>
              </a:ext>
            </a:extLst>
          </p:cNvPr>
          <p:cNvCxnSpPr>
            <a:cxnSpLocks/>
          </p:cNvCxnSpPr>
          <p:nvPr/>
        </p:nvCxnSpPr>
        <p:spPr>
          <a:xfrm>
            <a:off x="9207779"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39B59AC3-05D2-45CC-A57E-5CC434000F28}"/>
              </a:ext>
            </a:extLst>
          </p:cNvPr>
          <p:cNvSpPr txBox="1"/>
          <p:nvPr/>
        </p:nvSpPr>
        <p:spPr>
          <a:xfrm>
            <a:off x="9207776" y="2184885"/>
            <a:ext cx="2716563" cy="338554"/>
          </a:xfrm>
          <a:prstGeom prst="rect">
            <a:avLst/>
          </a:prstGeom>
          <a:noFill/>
        </p:spPr>
        <p:txBody>
          <a:bodyPr wrap="square">
            <a:spAutoFit/>
          </a:bodyPr>
          <a:lstStyle/>
          <a:p>
            <a:pPr algn="ctr"/>
            <a:r>
              <a:rPr lang="fr-FR" sz="1600" dirty="0">
                <a:latin typeface="Candara" panose="020E0502030303020204" pitchFamily="34" charset="0"/>
              </a:rPr>
              <a:t>Référent</a:t>
            </a:r>
            <a:endParaRPr lang="fr-FR" sz="1600" dirty="0"/>
          </a:p>
        </p:txBody>
      </p:sp>
      <p:sp>
        <p:nvSpPr>
          <p:cNvPr id="16" name="ZoneTexte 15">
            <a:extLst>
              <a:ext uri="{FF2B5EF4-FFF2-40B4-BE49-F238E27FC236}">
                <a16:creationId xmlns:a16="http://schemas.microsoft.com/office/drawing/2014/main" id="{A31EC209-C7E2-43BA-A451-01D0F2C9B699}"/>
              </a:ext>
            </a:extLst>
          </p:cNvPr>
          <p:cNvSpPr txBox="1"/>
          <p:nvPr/>
        </p:nvSpPr>
        <p:spPr>
          <a:xfrm>
            <a:off x="9207776" y="2718767"/>
            <a:ext cx="2716567" cy="646331"/>
          </a:xfrm>
          <a:prstGeom prst="rect">
            <a:avLst/>
          </a:prstGeom>
          <a:noFill/>
        </p:spPr>
        <p:txBody>
          <a:bodyPr wrap="square">
            <a:spAutoFit/>
          </a:bodyPr>
          <a:lstStyle/>
          <a:p>
            <a:r>
              <a:rPr lang="fr-FR" sz="1800" u="sng" dirty="0" err="1">
                <a:latin typeface="Candara" panose="020E0502030303020204" pitchFamily="34" charset="0"/>
              </a:rPr>
              <a:t>IdRef</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7" name="Connecteur droit 16">
            <a:extLst>
              <a:ext uri="{FF2B5EF4-FFF2-40B4-BE49-F238E27FC236}">
                <a16:creationId xmlns:a16="http://schemas.microsoft.com/office/drawing/2014/main" id="{FF69156E-601F-494D-B616-6B18E14F3440}"/>
              </a:ext>
            </a:extLst>
          </p:cNvPr>
          <p:cNvCxnSpPr>
            <a:cxnSpLocks/>
          </p:cNvCxnSpPr>
          <p:nvPr/>
        </p:nvCxnSpPr>
        <p:spPr>
          <a:xfrm>
            <a:off x="9207776"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92A8A91-EF64-4DEB-8B91-5B1190AC7637}"/>
              </a:ext>
            </a:extLst>
          </p:cNvPr>
          <p:cNvCxnSpPr>
            <a:cxnSpLocks/>
            <a:stCxn id="10" idx="3"/>
            <a:endCxn id="16" idx="1"/>
          </p:cNvCxnSpPr>
          <p:nvPr/>
        </p:nvCxnSpPr>
        <p:spPr>
          <a:xfrm>
            <a:off x="7981179" y="3041933"/>
            <a:ext cx="122659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C4B8FA8D-FAF2-4F20-A06A-A26A280B77E6}"/>
              </a:ext>
            </a:extLst>
          </p:cNvPr>
          <p:cNvSpPr txBox="1"/>
          <p:nvPr/>
        </p:nvSpPr>
        <p:spPr>
          <a:xfrm>
            <a:off x="7931807" y="2675826"/>
            <a:ext cx="620409"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20" name="ZoneTexte 19">
            <a:extLst>
              <a:ext uri="{FF2B5EF4-FFF2-40B4-BE49-F238E27FC236}">
                <a16:creationId xmlns:a16="http://schemas.microsoft.com/office/drawing/2014/main" id="{6B8FB5C6-9AD1-40FA-862D-CDEF69BBD290}"/>
              </a:ext>
            </a:extLst>
          </p:cNvPr>
          <p:cNvSpPr txBox="1"/>
          <p:nvPr/>
        </p:nvSpPr>
        <p:spPr>
          <a:xfrm>
            <a:off x="8820158" y="2675826"/>
            <a:ext cx="502875"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21" name="Rectangle 20">
            <a:extLst>
              <a:ext uri="{FF2B5EF4-FFF2-40B4-BE49-F238E27FC236}">
                <a16:creationId xmlns:a16="http://schemas.microsoft.com/office/drawing/2014/main" id="{57674F55-C73A-4A07-937D-D0D065A59704}"/>
              </a:ext>
            </a:extLst>
          </p:cNvPr>
          <p:cNvSpPr/>
          <p:nvPr/>
        </p:nvSpPr>
        <p:spPr>
          <a:xfrm>
            <a:off x="5264616" y="4649475"/>
            <a:ext cx="2716563" cy="1994438"/>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2" name="Connecteur droit 21">
            <a:extLst>
              <a:ext uri="{FF2B5EF4-FFF2-40B4-BE49-F238E27FC236}">
                <a16:creationId xmlns:a16="http://schemas.microsoft.com/office/drawing/2014/main" id="{64FF7F5D-C4A4-46EB-9F4E-B19605F76E29}"/>
              </a:ext>
            </a:extLst>
          </p:cNvPr>
          <p:cNvCxnSpPr>
            <a:cxnSpLocks/>
          </p:cNvCxnSpPr>
          <p:nvPr/>
        </p:nvCxnSpPr>
        <p:spPr>
          <a:xfrm>
            <a:off x="5264615" y="504834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020567A2-7333-4E42-9A4D-12DA0EBAE82E}"/>
              </a:ext>
            </a:extLst>
          </p:cNvPr>
          <p:cNvSpPr txBox="1"/>
          <p:nvPr/>
        </p:nvSpPr>
        <p:spPr>
          <a:xfrm>
            <a:off x="5264612" y="4649201"/>
            <a:ext cx="2716563" cy="338554"/>
          </a:xfrm>
          <a:prstGeom prst="rect">
            <a:avLst/>
          </a:prstGeom>
          <a:noFill/>
        </p:spPr>
        <p:txBody>
          <a:bodyPr wrap="square">
            <a:spAutoFit/>
          </a:bodyPr>
          <a:lstStyle/>
          <a:p>
            <a:pPr algn="ctr"/>
            <a:r>
              <a:rPr lang="fr-FR" sz="1600" dirty="0">
                <a:latin typeface="Candara" panose="020E0502030303020204" pitchFamily="34" charset="0"/>
              </a:rPr>
              <a:t>Stagiaire</a:t>
            </a:r>
            <a:endParaRPr lang="fr-FR" sz="1600" dirty="0"/>
          </a:p>
        </p:txBody>
      </p:sp>
      <p:sp>
        <p:nvSpPr>
          <p:cNvPr id="24" name="ZoneTexte 23">
            <a:extLst>
              <a:ext uri="{FF2B5EF4-FFF2-40B4-BE49-F238E27FC236}">
                <a16:creationId xmlns:a16="http://schemas.microsoft.com/office/drawing/2014/main" id="{07623214-AF36-4715-AB31-81C5EEE9F229}"/>
              </a:ext>
            </a:extLst>
          </p:cNvPr>
          <p:cNvSpPr txBox="1"/>
          <p:nvPr/>
        </p:nvSpPr>
        <p:spPr>
          <a:xfrm>
            <a:off x="5264612" y="5156446"/>
            <a:ext cx="2716567" cy="923330"/>
          </a:xfrm>
          <a:prstGeom prst="rect">
            <a:avLst/>
          </a:prstGeom>
          <a:noFill/>
        </p:spPr>
        <p:txBody>
          <a:bodyPr wrap="square">
            <a:spAutoFit/>
          </a:bodyPr>
          <a:lstStyle/>
          <a:p>
            <a:r>
              <a:rPr lang="fr-FR" sz="1800" u="sng" dirty="0" err="1">
                <a:latin typeface="Candara" panose="020E0502030303020204" pitchFamily="34" charset="0"/>
              </a:rPr>
              <a:t>IdStg</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err="1">
                <a:latin typeface="Candara" panose="020E0502030303020204" pitchFamily="34" charset="0"/>
              </a:rPr>
              <a:t>IdRef</a:t>
            </a:r>
            <a:r>
              <a:rPr lang="fr-FR" dirty="0">
                <a:latin typeface="Candara" panose="020E0502030303020204" pitchFamily="34" charset="0"/>
              </a:rPr>
              <a:t>	</a:t>
            </a:r>
            <a:r>
              <a:rPr lang="fr-FR"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sp>
        <p:nvSpPr>
          <p:cNvPr id="25" name="Rectangle 24">
            <a:extLst>
              <a:ext uri="{FF2B5EF4-FFF2-40B4-BE49-F238E27FC236}">
                <a16:creationId xmlns:a16="http://schemas.microsoft.com/office/drawing/2014/main" id="{CFAF4ACF-A472-4411-A471-92543BC1347C}"/>
              </a:ext>
            </a:extLst>
          </p:cNvPr>
          <p:cNvSpPr/>
          <p:nvPr/>
        </p:nvSpPr>
        <p:spPr>
          <a:xfrm>
            <a:off x="9207780" y="4946783"/>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6" name="Connecteur droit 25">
            <a:extLst>
              <a:ext uri="{FF2B5EF4-FFF2-40B4-BE49-F238E27FC236}">
                <a16:creationId xmlns:a16="http://schemas.microsoft.com/office/drawing/2014/main" id="{D754B6A3-EE1B-4B88-A46F-4D19156CCB27}"/>
              </a:ext>
            </a:extLst>
          </p:cNvPr>
          <p:cNvCxnSpPr>
            <a:cxnSpLocks/>
          </p:cNvCxnSpPr>
          <p:nvPr/>
        </p:nvCxnSpPr>
        <p:spPr>
          <a:xfrm>
            <a:off x="9207779" y="5340390"/>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ZoneTexte 26">
            <a:extLst>
              <a:ext uri="{FF2B5EF4-FFF2-40B4-BE49-F238E27FC236}">
                <a16:creationId xmlns:a16="http://schemas.microsoft.com/office/drawing/2014/main" id="{B304BF6A-4EEF-46B7-A807-2F19591F7DC3}"/>
              </a:ext>
            </a:extLst>
          </p:cNvPr>
          <p:cNvSpPr txBox="1"/>
          <p:nvPr/>
        </p:nvSpPr>
        <p:spPr>
          <a:xfrm>
            <a:off x="9207776" y="4967874"/>
            <a:ext cx="2716563" cy="338554"/>
          </a:xfrm>
          <a:prstGeom prst="rect">
            <a:avLst/>
          </a:prstGeom>
          <a:noFill/>
        </p:spPr>
        <p:txBody>
          <a:bodyPr wrap="square">
            <a:spAutoFit/>
          </a:bodyPr>
          <a:lstStyle/>
          <a:p>
            <a:pPr algn="ctr"/>
            <a:r>
              <a:rPr lang="fr-FR" sz="1600" dirty="0">
                <a:latin typeface="Candara" panose="020E0502030303020204" pitchFamily="34" charset="0"/>
              </a:rPr>
              <a:t>Référent</a:t>
            </a:r>
            <a:endParaRPr lang="fr-FR" sz="1600" dirty="0"/>
          </a:p>
        </p:txBody>
      </p:sp>
      <p:sp>
        <p:nvSpPr>
          <p:cNvPr id="28" name="ZoneTexte 27">
            <a:extLst>
              <a:ext uri="{FF2B5EF4-FFF2-40B4-BE49-F238E27FC236}">
                <a16:creationId xmlns:a16="http://schemas.microsoft.com/office/drawing/2014/main" id="{2563D23D-BCCD-45BA-80F8-B115CF6DF3CB}"/>
              </a:ext>
            </a:extLst>
          </p:cNvPr>
          <p:cNvSpPr txBox="1"/>
          <p:nvPr/>
        </p:nvSpPr>
        <p:spPr>
          <a:xfrm>
            <a:off x="9207776" y="5475122"/>
            <a:ext cx="2716567" cy="646331"/>
          </a:xfrm>
          <a:prstGeom prst="rect">
            <a:avLst/>
          </a:prstGeom>
          <a:noFill/>
        </p:spPr>
        <p:txBody>
          <a:bodyPr wrap="square">
            <a:spAutoFit/>
          </a:bodyPr>
          <a:lstStyle/>
          <a:p>
            <a:r>
              <a:rPr lang="fr-FR" sz="1800" u="sng" dirty="0" err="1">
                <a:latin typeface="Candara" panose="020E0502030303020204" pitchFamily="34" charset="0"/>
              </a:rPr>
              <a:t>IdEnt</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cxnSp>
        <p:nvCxnSpPr>
          <p:cNvPr id="29" name="Connecteur droit avec flèche 28">
            <a:extLst>
              <a:ext uri="{FF2B5EF4-FFF2-40B4-BE49-F238E27FC236}">
                <a16:creationId xmlns:a16="http://schemas.microsoft.com/office/drawing/2014/main" id="{319CA2CB-1112-4EF8-98C7-728DE567430A}"/>
              </a:ext>
            </a:extLst>
          </p:cNvPr>
          <p:cNvCxnSpPr>
            <a:cxnSpLocks/>
          </p:cNvCxnSpPr>
          <p:nvPr/>
        </p:nvCxnSpPr>
        <p:spPr>
          <a:xfrm>
            <a:off x="6622893" y="5618111"/>
            <a:ext cx="2584883" cy="4184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9385785E-5EAE-4E41-A2BF-4BC208B0C915}"/>
              </a:ext>
            </a:extLst>
          </p:cNvPr>
          <p:cNvSpPr txBox="1"/>
          <p:nvPr/>
        </p:nvSpPr>
        <p:spPr>
          <a:xfrm>
            <a:off x="7532398" y="5298853"/>
            <a:ext cx="1419225" cy="369332"/>
          </a:xfrm>
          <a:prstGeom prst="rect">
            <a:avLst/>
          </a:prstGeom>
          <a:noFill/>
        </p:spPr>
        <p:txBody>
          <a:bodyPr wrap="square">
            <a:spAutoFit/>
          </a:bodyPr>
          <a:lstStyle/>
          <a:p>
            <a:r>
              <a:rPr lang="fr-FR" sz="1800" dirty="0" err="1">
                <a:latin typeface="Candara" panose="020E0502030303020204" pitchFamily="34" charset="0"/>
              </a:rPr>
              <a:t>FK_</a:t>
            </a:r>
            <a:r>
              <a:rPr lang="fr-FR" dirty="0" err="1">
                <a:latin typeface="Candara" panose="020E0502030303020204" pitchFamily="34" charset="0"/>
              </a:rPr>
              <a:t>Referent</a:t>
            </a:r>
            <a:endParaRPr lang="fr-FR" dirty="0"/>
          </a:p>
        </p:txBody>
      </p:sp>
    </p:spTree>
    <p:extLst>
      <p:ext uri="{BB962C8B-B14F-4D97-AF65-F5344CB8AC3E}">
        <p14:creationId xmlns:p14="http://schemas.microsoft.com/office/powerpoint/2010/main" val="18246144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3" y="2184885"/>
            <a:ext cx="4286457" cy="4462760"/>
          </a:xfrm>
          <a:prstGeom prst="rect">
            <a:avLst/>
          </a:prstGeom>
        </p:spPr>
        <p:txBody>
          <a:bodyPr wrap="square">
            <a:spAutoFit/>
          </a:bodyPr>
          <a:lstStyle/>
          <a:p>
            <a:pPr algn="just"/>
            <a:r>
              <a:rPr lang="fr-FR" sz="2800" dirty="0">
                <a:latin typeface="Candara" panose="020E0502030303020204" pitchFamily="34" charset="0"/>
              </a:rPr>
              <a:t>Association de type « plusieurs à plusieurs »</a:t>
            </a:r>
          </a:p>
          <a:p>
            <a:pPr algn="just"/>
            <a:endParaRPr lang="fr-FR" sz="28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L’association ou la classe association devient une table</a:t>
            </a:r>
          </a:p>
          <a:p>
            <a:pPr marL="342900" indent="-342900" algn="just">
              <a:buFont typeface="Wingdings" panose="05000000000000000000" pitchFamily="2" charset="2"/>
              <a:buChar char="ü"/>
            </a:pPr>
            <a:r>
              <a:rPr lang="fr-FR" sz="2400" dirty="0">
                <a:latin typeface="Candara" panose="020E0502030303020204" pitchFamily="34" charset="0"/>
              </a:rPr>
              <a:t>La clé primaire est un couple formé à partir des clés de deux autres tables</a:t>
            </a:r>
          </a:p>
          <a:p>
            <a:pPr marL="342900" indent="-342900" algn="just">
              <a:buFont typeface="Wingdings" panose="05000000000000000000" pitchFamily="2" charset="2"/>
              <a:buChar char="ü"/>
            </a:pPr>
            <a:r>
              <a:rPr lang="fr-FR" sz="2400" dirty="0">
                <a:latin typeface="Candara" panose="020E0502030303020204" pitchFamily="34" charset="0"/>
              </a:rPr>
              <a:t>Chaque élément du couple devient une clé étrangère</a:t>
            </a:r>
          </a:p>
          <a:p>
            <a:pPr marL="342900" indent="-342900" algn="just">
              <a:buFont typeface="Wingdings" panose="05000000000000000000" pitchFamily="2" charset="2"/>
              <a:buChar char="ü"/>
            </a:pPr>
            <a:r>
              <a:rPr lang="fr-FR" sz="2400" dirty="0">
                <a:latin typeface="Candara" panose="020E0502030303020204" pitchFamily="34" charset="0"/>
              </a:rPr>
              <a:t>Couple sans doublons</a:t>
            </a:r>
            <a:endParaRPr lang="fr-FR" sz="3200" dirty="0">
              <a:latin typeface="Candara" panose="020E0502030303020204" pitchFamily="34" charset="0"/>
            </a:endParaRPr>
          </a:p>
        </p:txBody>
      </p:sp>
      <p:sp>
        <p:nvSpPr>
          <p:cNvPr id="7" name="Rectangle 6">
            <a:extLst>
              <a:ext uri="{FF2B5EF4-FFF2-40B4-BE49-F238E27FC236}">
                <a16:creationId xmlns:a16="http://schemas.microsoft.com/office/drawing/2014/main" id="{FC498822-474B-4B4E-80E6-C3234299146B}"/>
              </a:ext>
            </a:extLst>
          </p:cNvPr>
          <p:cNvSpPr/>
          <p:nvPr/>
        </p:nvSpPr>
        <p:spPr>
          <a:xfrm>
            <a:off x="5264616"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2D32C79C-4E93-44BF-B828-50524286B428}"/>
              </a:ext>
            </a:extLst>
          </p:cNvPr>
          <p:cNvCxnSpPr>
            <a:cxnSpLocks/>
          </p:cNvCxnSpPr>
          <p:nvPr/>
        </p:nvCxnSpPr>
        <p:spPr>
          <a:xfrm>
            <a:off x="5264615"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A8ED3575-6127-449A-A711-063631D4A1D8}"/>
              </a:ext>
            </a:extLst>
          </p:cNvPr>
          <p:cNvSpPr txBox="1"/>
          <p:nvPr/>
        </p:nvSpPr>
        <p:spPr>
          <a:xfrm>
            <a:off x="5264612" y="2184885"/>
            <a:ext cx="2716563" cy="338554"/>
          </a:xfrm>
          <a:prstGeom prst="rect">
            <a:avLst/>
          </a:prstGeom>
          <a:noFill/>
        </p:spPr>
        <p:txBody>
          <a:bodyPr wrap="square">
            <a:spAutoFit/>
          </a:bodyPr>
          <a:lstStyle/>
          <a:p>
            <a:pPr algn="ctr"/>
            <a:r>
              <a:rPr lang="fr-FR" sz="1600" dirty="0">
                <a:latin typeface="Candara" panose="020E0502030303020204" pitchFamily="34" charset="0"/>
              </a:rPr>
              <a:t>Etudiant</a:t>
            </a:r>
            <a:endParaRPr lang="fr-FR" sz="1600" dirty="0"/>
          </a:p>
        </p:txBody>
      </p:sp>
      <p:sp>
        <p:nvSpPr>
          <p:cNvPr id="10" name="ZoneTexte 9">
            <a:extLst>
              <a:ext uri="{FF2B5EF4-FFF2-40B4-BE49-F238E27FC236}">
                <a16:creationId xmlns:a16="http://schemas.microsoft.com/office/drawing/2014/main" id="{B018CB7F-811B-4636-AD06-851E7B607F98}"/>
              </a:ext>
            </a:extLst>
          </p:cNvPr>
          <p:cNvSpPr txBox="1"/>
          <p:nvPr/>
        </p:nvSpPr>
        <p:spPr>
          <a:xfrm>
            <a:off x="5264612" y="2718767"/>
            <a:ext cx="2716567" cy="646331"/>
          </a:xfrm>
          <a:prstGeom prst="rect">
            <a:avLst/>
          </a:prstGeom>
          <a:noFill/>
        </p:spPr>
        <p:txBody>
          <a:bodyPr wrap="square">
            <a:spAutoFit/>
          </a:bodyPr>
          <a:lstStyle/>
          <a:p>
            <a:r>
              <a:rPr lang="fr-FR" sz="1800" u="sng" dirty="0" err="1">
                <a:latin typeface="Candara" panose="020E0502030303020204" pitchFamily="34" charset="0"/>
              </a:rPr>
              <a:t>IdStg</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1" name="Connecteur droit 10">
            <a:extLst>
              <a:ext uri="{FF2B5EF4-FFF2-40B4-BE49-F238E27FC236}">
                <a16:creationId xmlns:a16="http://schemas.microsoft.com/office/drawing/2014/main" id="{3DD1C0B2-D336-4DCD-B0F8-B591B81D63E2}"/>
              </a:ext>
            </a:extLst>
          </p:cNvPr>
          <p:cNvCxnSpPr>
            <a:cxnSpLocks/>
          </p:cNvCxnSpPr>
          <p:nvPr/>
        </p:nvCxnSpPr>
        <p:spPr>
          <a:xfrm>
            <a:off x="5264612"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47BC820-B66F-4721-A96A-DA59A93632B5}"/>
              </a:ext>
            </a:extLst>
          </p:cNvPr>
          <p:cNvSpPr/>
          <p:nvPr/>
        </p:nvSpPr>
        <p:spPr>
          <a:xfrm>
            <a:off x="9207780"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1BF0792D-9CE8-4E96-A7AD-313F0F94886C}"/>
              </a:ext>
            </a:extLst>
          </p:cNvPr>
          <p:cNvCxnSpPr>
            <a:cxnSpLocks/>
          </p:cNvCxnSpPr>
          <p:nvPr/>
        </p:nvCxnSpPr>
        <p:spPr>
          <a:xfrm>
            <a:off x="9207779"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39B59AC3-05D2-45CC-A57E-5CC434000F28}"/>
              </a:ext>
            </a:extLst>
          </p:cNvPr>
          <p:cNvSpPr txBox="1"/>
          <p:nvPr/>
        </p:nvSpPr>
        <p:spPr>
          <a:xfrm>
            <a:off x="9207776" y="2184885"/>
            <a:ext cx="2716563" cy="338554"/>
          </a:xfrm>
          <a:prstGeom prst="rect">
            <a:avLst/>
          </a:prstGeom>
          <a:noFill/>
        </p:spPr>
        <p:txBody>
          <a:bodyPr wrap="square">
            <a:spAutoFit/>
          </a:bodyPr>
          <a:lstStyle/>
          <a:p>
            <a:pPr algn="ctr"/>
            <a:r>
              <a:rPr lang="fr-FR" sz="1600" dirty="0">
                <a:latin typeface="Candara" panose="020E0502030303020204" pitchFamily="34" charset="0"/>
              </a:rPr>
              <a:t>Module</a:t>
            </a:r>
            <a:endParaRPr lang="fr-FR" sz="1600" dirty="0"/>
          </a:p>
        </p:txBody>
      </p:sp>
      <p:sp>
        <p:nvSpPr>
          <p:cNvPr id="16" name="ZoneTexte 15">
            <a:extLst>
              <a:ext uri="{FF2B5EF4-FFF2-40B4-BE49-F238E27FC236}">
                <a16:creationId xmlns:a16="http://schemas.microsoft.com/office/drawing/2014/main" id="{A31EC209-C7E2-43BA-A451-01D0F2C9B699}"/>
              </a:ext>
            </a:extLst>
          </p:cNvPr>
          <p:cNvSpPr txBox="1"/>
          <p:nvPr/>
        </p:nvSpPr>
        <p:spPr>
          <a:xfrm>
            <a:off x="9207776" y="2718767"/>
            <a:ext cx="2716567" cy="646331"/>
          </a:xfrm>
          <a:prstGeom prst="rect">
            <a:avLst/>
          </a:prstGeom>
          <a:noFill/>
        </p:spPr>
        <p:txBody>
          <a:bodyPr wrap="square">
            <a:spAutoFit/>
          </a:bodyPr>
          <a:lstStyle/>
          <a:p>
            <a:r>
              <a:rPr lang="fr-FR" sz="1800" u="sng" dirty="0" err="1">
                <a:latin typeface="Candara" panose="020E0502030303020204" pitchFamily="34" charset="0"/>
              </a:rPr>
              <a:t>IdRef</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7" name="Connecteur droit 16">
            <a:extLst>
              <a:ext uri="{FF2B5EF4-FFF2-40B4-BE49-F238E27FC236}">
                <a16:creationId xmlns:a16="http://schemas.microsoft.com/office/drawing/2014/main" id="{FF69156E-601F-494D-B616-6B18E14F3440}"/>
              </a:ext>
            </a:extLst>
          </p:cNvPr>
          <p:cNvCxnSpPr>
            <a:cxnSpLocks/>
          </p:cNvCxnSpPr>
          <p:nvPr/>
        </p:nvCxnSpPr>
        <p:spPr>
          <a:xfrm>
            <a:off x="9207776"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92A8A91-EF64-4DEB-8B91-5B1190AC7637}"/>
              </a:ext>
            </a:extLst>
          </p:cNvPr>
          <p:cNvCxnSpPr>
            <a:cxnSpLocks/>
            <a:stCxn id="10" idx="3"/>
            <a:endCxn id="16" idx="1"/>
          </p:cNvCxnSpPr>
          <p:nvPr/>
        </p:nvCxnSpPr>
        <p:spPr>
          <a:xfrm>
            <a:off x="7981179" y="3041933"/>
            <a:ext cx="122659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C4B8FA8D-FAF2-4F20-A06A-A26A280B77E6}"/>
              </a:ext>
            </a:extLst>
          </p:cNvPr>
          <p:cNvSpPr txBox="1"/>
          <p:nvPr/>
        </p:nvSpPr>
        <p:spPr>
          <a:xfrm>
            <a:off x="7931807" y="2675826"/>
            <a:ext cx="620409"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20" name="ZoneTexte 19">
            <a:extLst>
              <a:ext uri="{FF2B5EF4-FFF2-40B4-BE49-F238E27FC236}">
                <a16:creationId xmlns:a16="http://schemas.microsoft.com/office/drawing/2014/main" id="{6B8FB5C6-9AD1-40FA-862D-CDEF69BBD290}"/>
              </a:ext>
            </a:extLst>
          </p:cNvPr>
          <p:cNvSpPr txBox="1"/>
          <p:nvPr/>
        </p:nvSpPr>
        <p:spPr>
          <a:xfrm>
            <a:off x="8702624" y="2675826"/>
            <a:ext cx="620409" cy="369332"/>
          </a:xfrm>
          <a:prstGeom prst="rect">
            <a:avLst/>
          </a:prstGeom>
          <a:noFill/>
        </p:spPr>
        <p:txBody>
          <a:bodyPr wrap="square">
            <a:spAutoFit/>
          </a:bodyPr>
          <a:lstStyle/>
          <a:p>
            <a:r>
              <a:rPr lang="fr-FR" dirty="0">
                <a:latin typeface="Candara" panose="020E0502030303020204" pitchFamily="34" charset="0"/>
              </a:rPr>
              <a:t>0..*</a:t>
            </a:r>
            <a:endParaRPr lang="fr-FR" dirty="0"/>
          </a:p>
        </p:txBody>
      </p:sp>
      <p:sp>
        <p:nvSpPr>
          <p:cNvPr id="31" name="Rectangle 30">
            <a:extLst>
              <a:ext uri="{FF2B5EF4-FFF2-40B4-BE49-F238E27FC236}">
                <a16:creationId xmlns:a16="http://schemas.microsoft.com/office/drawing/2014/main" id="{0D4C8904-5E46-48E4-BF3F-F4994C265662}"/>
              </a:ext>
            </a:extLst>
          </p:cNvPr>
          <p:cNvSpPr/>
          <p:nvPr/>
        </p:nvSpPr>
        <p:spPr>
          <a:xfrm>
            <a:off x="5264617" y="4093811"/>
            <a:ext cx="2228138"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C8DAD6FA-CFF4-4D23-9D9D-E39B55895D59}"/>
              </a:ext>
            </a:extLst>
          </p:cNvPr>
          <p:cNvCxnSpPr>
            <a:cxnSpLocks/>
          </p:cNvCxnSpPr>
          <p:nvPr/>
        </p:nvCxnSpPr>
        <p:spPr>
          <a:xfrm>
            <a:off x="5264615" y="4487418"/>
            <a:ext cx="222813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C22DD10B-5646-4EDB-A9F4-02AEB7A1F115}"/>
              </a:ext>
            </a:extLst>
          </p:cNvPr>
          <p:cNvSpPr txBox="1"/>
          <p:nvPr/>
        </p:nvSpPr>
        <p:spPr>
          <a:xfrm>
            <a:off x="5264613" y="4114902"/>
            <a:ext cx="2228138" cy="338554"/>
          </a:xfrm>
          <a:prstGeom prst="rect">
            <a:avLst/>
          </a:prstGeom>
          <a:noFill/>
        </p:spPr>
        <p:txBody>
          <a:bodyPr wrap="square">
            <a:spAutoFit/>
          </a:bodyPr>
          <a:lstStyle/>
          <a:p>
            <a:pPr algn="ctr"/>
            <a:r>
              <a:rPr lang="fr-FR" sz="1600" dirty="0">
                <a:latin typeface="Candara" panose="020E0502030303020204" pitchFamily="34" charset="0"/>
              </a:rPr>
              <a:t>Etudiant</a:t>
            </a:r>
            <a:endParaRPr lang="fr-FR" sz="1600" dirty="0"/>
          </a:p>
        </p:txBody>
      </p:sp>
      <p:sp>
        <p:nvSpPr>
          <p:cNvPr id="34" name="ZoneTexte 33">
            <a:extLst>
              <a:ext uri="{FF2B5EF4-FFF2-40B4-BE49-F238E27FC236}">
                <a16:creationId xmlns:a16="http://schemas.microsoft.com/office/drawing/2014/main" id="{E8230380-13E9-4707-9DAA-F77A3BC1F57C}"/>
              </a:ext>
            </a:extLst>
          </p:cNvPr>
          <p:cNvSpPr txBox="1"/>
          <p:nvPr/>
        </p:nvSpPr>
        <p:spPr>
          <a:xfrm>
            <a:off x="5264612" y="4622150"/>
            <a:ext cx="2228141" cy="646331"/>
          </a:xfrm>
          <a:prstGeom prst="rect">
            <a:avLst/>
          </a:prstGeom>
          <a:noFill/>
        </p:spPr>
        <p:txBody>
          <a:bodyPr wrap="square">
            <a:spAutoFit/>
          </a:bodyPr>
          <a:lstStyle/>
          <a:p>
            <a:r>
              <a:rPr lang="fr-FR" sz="1800" u="sng" dirty="0" err="1">
                <a:latin typeface="Candara" panose="020E0502030303020204" pitchFamily="34" charset="0"/>
              </a:rPr>
              <a:t>IdEnt</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sp>
        <p:nvSpPr>
          <p:cNvPr id="35" name="Rectangle 34">
            <a:extLst>
              <a:ext uri="{FF2B5EF4-FFF2-40B4-BE49-F238E27FC236}">
                <a16:creationId xmlns:a16="http://schemas.microsoft.com/office/drawing/2014/main" id="{543000D7-C323-494B-8687-E9939C317FE3}"/>
              </a:ext>
            </a:extLst>
          </p:cNvPr>
          <p:cNvSpPr/>
          <p:nvPr/>
        </p:nvSpPr>
        <p:spPr>
          <a:xfrm>
            <a:off x="7914055" y="5247711"/>
            <a:ext cx="1556414"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6" name="Connecteur droit 35">
            <a:extLst>
              <a:ext uri="{FF2B5EF4-FFF2-40B4-BE49-F238E27FC236}">
                <a16:creationId xmlns:a16="http://schemas.microsoft.com/office/drawing/2014/main" id="{9051A1F5-2B3F-4ED2-89A0-445D881F920A}"/>
              </a:ext>
            </a:extLst>
          </p:cNvPr>
          <p:cNvCxnSpPr>
            <a:cxnSpLocks/>
          </p:cNvCxnSpPr>
          <p:nvPr/>
        </p:nvCxnSpPr>
        <p:spPr>
          <a:xfrm>
            <a:off x="7914053" y="5641318"/>
            <a:ext cx="155641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154241EA-3428-4DC4-A005-EEE99E104627}"/>
              </a:ext>
            </a:extLst>
          </p:cNvPr>
          <p:cNvSpPr txBox="1"/>
          <p:nvPr/>
        </p:nvSpPr>
        <p:spPr>
          <a:xfrm>
            <a:off x="7914051" y="5268802"/>
            <a:ext cx="1556414" cy="338554"/>
          </a:xfrm>
          <a:prstGeom prst="rect">
            <a:avLst/>
          </a:prstGeom>
          <a:noFill/>
        </p:spPr>
        <p:txBody>
          <a:bodyPr wrap="square">
            <a:spAutoFit/>
          </a:bodyPr>
          <a:lstStyle/>
          <a:p>
            <a:pPr algn="ctr"/>
            <a:r>
              <a:rPr lang="fr-FR" sz="1600" dirty="0" err="1">
                <a:latin typeface="Candara" panose="020E0502030303020204" pitchFamily="34" charset="0"/>
              </a:rPr>
              <a:t>NewCl</a:t>
            </a:r>
            <a:endParaRPr lang="fr-FR" sz="1600" dirty="0"/>
          </a:p>
        </p:txBody>
      </p:sp>
      <p:sp>
        <p:nvSpPr>
          <p:cNvPr id="38" name="ZoneTexte 37">
            <a:extLst>
              <a:ext uri="{FF2B5EF4-FFF2-40B4-BE49-F238E27FC236}">
                <a16:creationId xmlns:a16="http://schemas.microsoft.com/office/drawing/2014/main" id="{CB2FD915-FAC7-4ED1-AEA1-3C59E4AF09CC}"/>
              </a:ext>
            </a:extLst>
          </p:cNvPr>
          <p:cNvSpPr txBox="1"/>
          <p:nvPr/>
        </p:nvSpPr>
        <p:spPr>
          <a:xfrm>
            <a:off x="7914051" y="5776050"/>
            <a:ext cx="1556416" cy="646331"/>
          </a:xfrm>
          <a:prstGeom prst="rect">
            <a:avLst/>
          </a:prstGeom>
          <a:noFill/>
        </p:spPr>
        <p:txBody>
          <a:bodyPr wrap="square">
            <a:spAutoFit/>
          </a:bodyPr>
          <a:lstStyle/>
          <a:p>
            <a:r>
              <a:rPr lang="fr-FR" sz="1800" u="sng" dirty="0" err="1">
                <a:latin typeface="Candara" panose="020E0502030303020204" pitchFamily="34" charset="0"/>
              </a:rPr>
              <a:t>IdEnt</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err="1">
                <a:latin typeface="Candara" panose="020E0502030303020204" pitchFamily="34" charset="0"/>
              </a:rPr>
              <a:t>IdMod</a:t>
            </a:r>
            <a:r>
              <a:rPr lang="fr-FR" dirty="0">
                <a:latin typeface="Candara" panose="020E0502030303020204" pitchFamily="34" charset="0"/>
              </a:rPr>
              <a:t>	 </a:t>
            </a:r>
            <a:r>
              <a:rPr lang="fr-FR" dirty="0" err="1">
                <a:latin typeface="Candara" panose="020E0502030303020204" pitchFamily="34" charset="0"/>
              </a:rPr>
              <a:t>int</a:t>
            </a:r>
            <a:endParaRPr lang="fr-FR" sz="1800" dirty="0"/>
          </a:p>
        </p:txBody>
      </p:sp>
      <p:sp>
        <p:nvSpPr>
          <p:cNvPr id="39" name="Rectangle 38">
            <a:extLst>
              <a:ext uri="{FF2B5EF4-FFF2-40B4-BE49-F238E27FC236}">
                <a16:creationId xmlns:a16="http://schemas.microsoft.com/office/drawing/2014/main" id="{32D5A4C2-11DC-4317-8B70-B8F704F93638}"/>
              </a:ext>
            </a:extLst>
          </p:cNvPr>
          <p:cNvSpPr/>
          <p:nvPr/>
        </p:nvSpPr>
        <p:spPr>
          <a:xfrm>
            <a:off x="9821799" y="4116578"/>
            <a:ext cx="2228138"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40" name="Connecteur droit 39">
            <a:extLst>
              <a:ext uri="{FF2B5EF4-FFF2-40B4-BE49-F238E27FC236}">
                <a16:creationId xmlns:a16="http://schemas.microsoft.com/office/drawing/2014/main" id="{71979626-610E-407D-A9CA-E076BAA83AD4}"/>
              </a:ext>
            </a:extLst>
          </p:cNvPr>
          <p:cNvCxnSpPr>
            <a:cxnSpLocks/>
          </p:cNvCxnSpPr>
          <p:nvPr/>
        </p:nvCxnSpPr>
        <p:spPr>
          <a:xfrm>
            <a:off x="9821797" y="4510185"/>
            <a:ext cx="222813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1D62BAD5-3CC9-4CC1-AD58-B176AF692A07}"/>
              </a:ext>
            </a:extLst>
          </p:cNvPr>
          <p:cNvSpPr txBox="1"/>
          <p:nvPr/>
        </p:nvSpPr>
        <p:spPr>
          <a:xfrm>
            <a:off x="9821795" y="4137669"/>
            <a:ext cx="2228138" cy="338554"/>
          </a:xfrm>
          <a:prstGeom prst="rect">
            <a:avLst/>
          </a:prstGeom>
          <a:noFill/>
        </p:spPr>
        <p:txBody>
          <a:bodyPr wrap="square">
            <a:spAutoFit/>
          </a:bodyPr>
          <a:lstStyle/>
          <a:p>
            <a:pPr algn="ctr"/>
            <a:r>
              <a:rPr lang="fr-FR" sz="1600" dirty="0">
                <a:latin typeface="Candara" panose="020E0502030303020204" pitchFamily="34" charset="0"/>
              </a:rPr>
              <a:t>Module</a:t>
            </a:r>
            <a:endParaRPr lang="fr-FR" sz="1600" dirty="0"/>
          </a:p>
        </p:txBody>
      </p:sp>
      <p:sp>
        <p:nvSpPr>
          <p:cNvPr id="42" name="ZoneTexte 41">
            <a:extLst>
              <a:ext uri="{FF2B5EF4-FFF2-40B4-BE49-F238E27FC236}">
                <a16:creationId xmlns:a16="http://schemas.microsoft.com/office/drawing/2014/main" id="{FF6551E4-9149-4730-9719-2F07DD273D27}"/>
              </a:ext>
            </a:extLst>
          </p:cNvPr>
          <p:cNvSpPr txBox="1"/>
          <p:nvPr/>
        </p:nvSpPr>
        <p:spPr>
          <a:xfrm>
            <a:off x="9821794" y="4644917"/>
            <a:ext cx="2228141" cy="646331"/>
          </a:xfrm>
          <a:prstGeom prst="rect">
            <a:avLst/>
          </a:prstGeom>
          <a:noFill/>
        </p:spPr>
        <p:txBody>
          <a:bodyPr wrap="square">
            <a:spAutoFit/>
          </a:bodyPr>
          <a:lstStyle/>
          <a:p>
            <a:r>
              <a:rPr lang="fr-FR" sz="1800" u="sng" dirty="0" err="1">
                <a:latin typeface="Candara" panose="020E0502030303020204" pitchFamily="34" charset="0"/>
              </a:rPr>
              <a:t>IdMod</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cxnSp>
        <p:nvCxnSpPr>
          <p:cNvPr id="43" name="Connecteur droit avec flèche 42">
            <a:extLst>
              <a:ext uri="{FF2B5EF4-FFF2-40B4-BE49-F238E27FC236}">
                <a16:creationId xmlns:a16="http://schemas.microsoft.com/office/drawing/2014/main" id="{8BD935AA-0BB7-45B8-89D6-CE241F609412}"/>
              </a:ext>
            </a:extLst>
          </p:cNvPr>
          <p:cNvCxnSpPr>
            <a:cxnSpLocks/>
          </p:cNvCxnSpPr>
          <p:nvPr/>
        </p:nvCxnSpPr>
        <p:spPr>
          <a:xfrm flipH="1" flipV="1">
            <a:off x="6622893" y="5684939"/>
            <a:ext cx="1358282" cy="31225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43059C9C-F0AC-46B4-8720-C3BC0AD0A036}"/>
              </a:ext>
            </a:extLst>
          </p:cNvPr>
          <p:cNvCxnSpPr>
            <a:cxnSpLocks/>
          </p:cNvCxnSpPr>
          <p:nvPr/>
        </p:nvCxnSpPr>
        <p:spPr>
          <a:xfrm flipV="1">
            <a:off x="9323033" y="5684856"/>
            <a:ext cx="1243024" cy="52159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ZoneTexte 51">
            <a:extLst>
              <a:ext uri="{FF2B5EF4-FFF2-40B4-BE49-F238E27FC236}">
                <a16:creationId xmlns:a16="http://schemas.microsoft.com/office/drawing/2014/main" id="{5EE922F2-895D-4876-8BEE-CBF182F5ED31}"/>
              </a:ext>
            </a:extLst>
          </p:cNvPr>
          <p:cNvSpPr txBox="1"/>
          <p:nvPr/>
        </p:nvSpPr>
        <p:spPr>
          <a:xfrm>
            <a:off x="6284176" y="5821095"/>
            <a:ext cx="1419225" cy="369332"/>
          </a:xfrm>
          <a:prstGeom prst="rect">
            <a:avLst/>
          </a:prstGeom>
          <a:noFill/>
        </p:spPr>
        <p:txBody>
          <a:bodyPr wrap="square">
            <a:spAutoFit/>
          </a:bodyPr>
          <a:lstStyle/>
          <a:p>
            <a:r>
              <a:rPr lang="fr-FR" sz="1800" dirty="0" err="1">
                <a:latin typeface="Candara" panose="020E0502030303020204" pitchFamily="34" charset="0"/>
              </a:rPr>
              <a:t>FK_</a:t>
            </a:r>
            <a:r>
              <a:rPr lang="fr-FR" dirty="0" err="1">
                <a:latin typeface="Candara" panose="020E0502030303020204" pitchFamily="34" charset="0"/>
              </a:rPr>
              <a:t>Etudiant</a:t>
            </a:r>
            <a:endParaRPr lang="fr-FR" dirty="0"/>
          </a:p>
        </p:txBody>
      </p:sp>
      <p:sp>
        <p:nvSpPr>
          <p:cNvPr id="53" name="ZoneTexte 52">
            <a:extLst>
              <a:ext uri="{FF2B5EF4-FFF2-40B4-BE49-F238E27FC236}">
                <a16:creationId xmlns:a16="http://schemas.microsoft.com/office/drawing/2014/main" id="{C2E5C924-FB60-4721-9AE5-421F42BE1B7A}"/>
              </a:ext>
            </a:extLst>
          </p:cNvPr>
          <p:cNvSpPr txBox="1"/>
          <p:nvPr/>
        </p:nvSpPr>
        <p:spPr>
          <a:xfrm>
            <a:off x="9681117" y="5927969"/>
            <a:ext cx="1419225" cy="369332"/>
          </a:xfrm>
          <a:prstGeom prst="rect">
            <a:avLst/>
          </a:prstGeom>
          <a:noFill/>
        </p:spPr>
        <p:txBody>
          <a:bodyPr wrap="square">
            <a:spAutoFit/>
          </a:bodyPr>
          <a:lstStyle/>
          <a:p>
            <a:r>
              <a:rPr lang="fr-FR" sz="1800" dirty="0" err="1">
                <a:latin typeface="Candara" panose="020E0502030303020204" pitchFamily="34" charset="0"/>
              </a:rPr>
              <a:t>FK_Note</a:t>
            </a:r>
            <a:endParaRPr lang="fr-FR" dirty="0"/>
          </a:p>
        </p:txBody>
      </p:sp>
    </p:spTree>
    <p:extLst>
      <p:ext uri="{BB962C8B-B14F-4D97-AF65-F5344CB8AC3E}">
        <p14:creationId xmlns:p14="http://schemas.microsoft.com/office/powerpoint/2010/main" val="262332588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3" y="2184885"/>
            <a:ext cx="4286457" cy="3600986"/>
          </a:xfrm>
          <a:prstGeom prst="rect">
            <a:avLst/>
          </a:prstGeom>
        </p:spPr>
        <p:txBody>
          <a:bodyPr wrap="square">
            <a:spAutoFit/>
          </a:bodyPr>
          <a:lstStyle/>
          <a:p>
            <a:pPr algn="just"/>
            <a:r>
              <a:rPr lang="fr-FR" sz="2800" dirty="0">
                <a:latin typeface="Candara" panose="020E0502030303020204" pitchFamily="34" charset="0"/>
              </a:rPr>
              <a:t>Association de type « un à un »</a:t>
            </a:r>
          </a:p>
          <a:p>
            <a:pPr algn="just"/>
            <a:endParaRPr lang="fr-FR" sz="28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Peu fréquente</a:t>
            </a:r>
          </a:p>
          <a:p>
            <a:pPr marL="342900" indent="-342900" algn="just">
              <a:buFont typeface="Wingdings" panose="05000000000000000000" pitchFamily="2" charset="2"/>
              <a:buChar char="ü"/>
            </a:pPr>
            <a:r>
              <a:rPr lang="fr-FR" sz="2400" dirty="0">
                <a:latin typeface="Candara" panose="020E0502030303020204" pitchFamily="34" charset="0"/>
              </a:rPr>
              <a:t>Création d’une clé étrangère (identifiant de la classe 1..1 ou 1)</a:t>
            </a:r>
          </a:p>
          <a:p>
            <a:pPr marL="342900" indent="-342900" algn="just">
              <a:buFont typeface="Wingdings" panose="05000000000000000000" pitchFamily="2" charset="2"/>
              <a:buChar char="ü"/>
            </a:pPr>
            <a:r>
              <a:rPr lang="fr-FR" sz="2400" dirty="0">
                <a:latin typeface="Candara" panose="020E0502030303020204" pitchFamily="34" charset="0"/>
              </a:rPr>
              <a:t>La clé étrangère est non nulle dans ce contexte</a:t>
            </a:r>
            <a:endParaRPr lang="fr-FR" sz="3200" dirty="0">
              <a:latin typeface="Candara" panose="020E0502030303020204" pitchFamily="34" charset="0"/>
            </a:endParaRPr>
          </a:p>
        </p:txBody>
      </p:sp>
      <p:sp>
        <p:nvSpPr>
          <p:cNvPr id="7" name="Rectangle 6">
            <a:extLst>
              <a:ext uri="{FF2B5EF4-FFF2-40B4-BE49-F238E27FC236}">
                <a16:creationId xmlns:a16="http://schemas.microsoft.com/office/drawing/2014/main" id="{FC498822-474B-4B4E-80E6-C3234299146B}"/>
              </a:ext>
            </a:extLst>
          </p:cNvPr>
          <p:cNvSpPr/>
          <p:nvPr/>
        </p:nvSpPr>
        <p:spPr>
          <a:xfrm>
            <a:off x="5264616"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2D32C79C-4E93-44BF-B828-50524286B428}"/>
              </a:ext>
            </a:extLst>
          </p:cNvPr>
          <p:cNvCxnSpPr>
            <a:cxnSpLocks/>
          </p:cNvCxnSpPr>
          <p:nvPr/>
        </p:nvCxnSpPr>
        <p:spPr>
          <a:xfrm>
            <a:off x="5264615"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A8ED3575-6127-449A-A711-063631D4A1D8}"/>
              </a:ext>
            </a:extLst>
          </p:cNvPr>
          <p:cNvSpPr txBox="1"/>
          <p:nvPr/>
        </p:nvSpPr>
        <p:spPr>
          <a:xfrm>
            <a:off x="5264612" y="2184885"/>
            <a:ext cx="2716563" cy="338554"/>
          </a:xfrm>
          <a:prstGeom prst="rect">
            <a:avLst/>
          </a:prstGeom>
          <a:noFill/>
        </p:spPr>
        <p:txBody>
          <a:bodyPr wrap="square">
            <a:spAutoFit/>
          </a:bodyPr>
          <a:lstStyle/>
          <a:p>
            <a:pPr algn="ctr"/>
            <a:r>
              <a:rPr lang="fr-FR" sz="1600" dirty="0">
                <a:latin typeface="Candara" panose="020E0502030303020204" pitchFamily="34" charset="0"/>
              </a:rPr>
              <a:t>Client</a:t>
            </a:r>
            <a:endParaRPr lang="fr-FR" sz="1600" dirty="0"/>
          </a:p>
        </p:txBody>
      </p:sp>
      <p:sp>
        <p:nvSpPr>
          <p:cNvPr id="10" name="ZoneTexte 9">
            <a:extLst>
              <a:ext uri="{FF2B5EF4-FFF2-40B4-BE49-F238E27FC236}">
                <a16:creationId xmlns:a16="http://schemas.microsoft.com/office/drawing/2014/main" id="{B018CB7F-811B-4636-AD06-851E7B607F98}"/>
              </a:ext>
            </a:extLst>
          </p:cNvPr>
          <p:cNvSpPr txBox="1"/>
          <p:nvPr/>
        </p:nvSpPr>
        <p:spPr>
          <a:xfrm>
            <a:off x="5264612" y="2718767"/>
            <a:ext cx="2716567" cy="646331"/>
          </a:xfrm>
          <a:prstGeom prst="rect">
            <a:avLst/>
          </a:prstGeom>
          <a:noFill/>
        </p:spPr>
        <p:txBody>
          <a:bodyPr wrap="square">
            <a:spAutoFit/>
          </a:bodyPr>
          <a:lstStyle/>
          <a:p>
            <a:r>
              <a:rPr lang="fr-FR" sz="1800" u="sng" dirty="0" err="1">
                <a:latin typeface="Candara" panose="020E0502030303020204" pitchFamily="34" charset="0"/>
              </a:rPr>
              <a:t>IdCli</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1" name="Connecteur droit 10">
            <a:extLst>
              <a:ext uri="{FF2B5EF4-FFF2-40B4-BE49-F238E27FC236}">
                <a16:creationId xmlns:a16="http://schemas.microsoft.com/office/drawing/2014/main" id="{3DD1C0B2-D336-4DCD-B0F8-B591B81D63E2}"/>
              </a:ext>
            </a:extLst>
          </p:cNvPr>
          <p:cNvCxnSpPr>
            <a:cxnSpLocks/>
          </p:cNvCxnSpPr>
          <p:nvPr/>
        </p:nvCxnSpPr>
        <p:spPr>
          <a:xfrm>
            <a:off x="5264612"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47BC820-B66F-4721-A96A-DA59A93632B5}"/>
              </a:ext>
            </a:extLst>
          </p:cNvPr>
          <p:cNvSpPr/>
          <p:nvPr/>
        </p:nvSpPr>
        <p:spPr>
          <a:xfrm>
            <a:off x="9207780"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1BF0792D-9CE8-4E96-A7AD-313F0F94886C}"/>
              </a:ext>
            </a:extLst>
          </p:cNvPr>
          <p:cNvCxnSpPr>
            <a:cxnSpLocks/>
          </p:cNvCxnSpPr>
          <p:nvPr/>
        </p:nvCxnSpPr>
        <p:spPr>
          <a:xfrm>
            <a:off x="9207779"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39B59AC3-05D2-45CC-A57E-5CC434000F28}"/>
              </a:ext>
            </a:extLst>
          </p:cNvPr>
          <p:cNvSpPr txBox="1"/>
          <p:nvPr/>
        </p:nvSpPr>
        <p:spPr>
          <a:xfrm>
            <a:off x="9207776" y="2184885"/>
            <a:ext cx="2716563" cy="338554"/>
          </a:xfrm>
          <a:prstGeom prst="rect">
            <a:avLst/>
          </a:prstGeom>
          <a:noFill/>
        </p:spPr>
        <p:txBody>
          <a:bodyPr wrap="square">
            <a:spAutoFit/>
          </a:bodyPr>
          <a:lstStyle/>
          <a:p>
            <a:pPr algn="ctr"/>
            <a:r>
              <a:rPr lang="fr-FR" sz="1600" dirty="0">
                <a:latin typeface="Candara" panose="020E0502030303020204" pitchFamily="34" charset="0"/>
              </a:rPr>
              <a:t>Parrain</a:t>
            </a:r>
            <a:endParaRPr lang="fr-FR" sz="1600" dirty="0"/>
          </a:p>
        </p:txBody>
      </p:sp>
      <p:sp>
        <p:nvSpPr>
          <p:cNvPr id="16" name="ZoneTexte 15">
            <a:extLst>
              <a:ext uri="{FF2B5EF4-FFF2-40B4-BE49-F238E27FC236}">
                <a16:creationId xmlns:a16="http://schemas.microsoft.com/office/drawing/2014/main" id="{A31EC209-C7E2-43BA-A451-01D0F2C9B699}"/>
              </a:ext>
            </a:extLst>
          </p:cNvPr>
          <p:cNvSpPr txBox="1"/>
          <p:nvPr/>
        </p:nvSpPr>
        <p:spPr>
          <a:xfrm>
            <a:off x="9207776" y="2718767"/>
            <a:ext cx="2716567" cy="646331"/>
          </a:xfrm>
          <a:prstGeom prst="rect">
            <a:avLst/>
          </a:prstGeom>
          <a:noFill/>
        </p:spPr>
        <p:txBody>
          <a:bodyPr wrap="square">
            <a:spAutoFit/>
          </a:bodyPr>
          <a:lstStyle/>
          <a:p>
            <a:r>
              <a:rPr lang="fr-FR" sz="1800" u="sng" dirty="0" err="1">
                <a:latin typeface="Candara" panose="020E0502030303020204" pitchFamily="34" charset="0"/>
              </a:rPr>
              <a:t>IdPar</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7" name="Connecteur droit 16">
            <a:extLst>
              <a:ext uri="{FF2B5EF4-FFF2-40B4-BE49-F238E27FC236}">
                <a16:creationId xmlns:a16="http://schemas.microsoft.com/office/drawing/2014/main" id="{FF69156E-601F-494D-B616-6B18E14F3440}"/>
              </a:ext>
            </a:extLst>
          </p:cNvPr>
          <p:cNvCxnSpPr>
            <a:cxnSpLocks/>
          </p:cNvCxnSpPr>
          <p:nvPr/>
        </p:nvCxnSpPr>
        <p:spPr>
          <a:xfrm>
            <a:off x="9207776"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92A8A91-EF64-4DEB-8B91-5B1190AC7637}"/>
              </a:ext>
            </a:extLst>
          </p:cNvPr>
          <p:cNvCxnSpPr>
            <a:cxnSpLocks/>
            <a:stCxn id="10" idx="3"/>
            <a:endCxn id="16" idx="1"/>
          </p:cNvCxnSpPr>
          <p:nvPr/>
        </p:nvCxnSpPr>
        <p:spPr>
          <a:xfrm>
            <a:off x="7981179" y="3041933"/>
            <a:ext cx="122659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C4B8FA8D-FAF2-4F20-A06A-A26A280B77E6}"/>
              </a:ext>
            </a:extLst>
          </p:cNvPr>
          <p:cNvSpPr txBox="1"/>
          <p:nvPr/>
        </p:nvSpPr>
        <p:spPr>
          <a:xfrm>
            <a:off x="7931807" y="2675826"/>
            <a:ext cx="620409"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20" name="ZoneTexte 19">
            <a:extLst>
              <a:ext uri="{FF2B5EF4-FFF2-40B4-BE49-F238E27FC236}">
                <a16:creationId xmlns:a16="http://schemas.microsoft.com/office/drawing/2014/main" id="{6B8FB5C6-9AD1-40FA-862D-CDEF69BBD290}"/>
              </a:ext>
            </a:extLst>
          </p:cNvPr>
          <p:cNvSpPr txBox="1"/>
          <p:nvPr/>
        </p:nvSpPr>
        <p:spPr>
          <a:xfrm>
            <a:off x="8820158" y="2675826"/>
            <a:ext cx="502875"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21" name="Rectangle 20">
            <a:extLst>
              <a:ext uri="{FF2B5EF4-FFF2-40B4-BE49-F238E27FC236}">
                <a16:creationId xmlns:a16="http://schemas.microsoft.com/office/drawing/2014/main" id="{57674F55-C73A-4A07-937D-D0D065A59704}"/>
              </a:ext>
            </a:extLst>
          </p:cNvPr>
          <p:cNvSpPr/>
          <p:nvPr/>
        </p:nvSpPr>
        <p:spPr>
          <a:xfrm>
            <a:off x="5264616" y="4649475"/>
            <a:ext cx="2716563" cy="1994438"/>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2" name="Connecteur droit 21">
            <a:extLst>
              <a:ext uri="{FF2B5EF4-FFF2-40B4-BE49-F238E27FC236}">
                <a16:creationId xmlns:a16="http://schemas.microsoft.com/office/drawing/2014/main" id="{64FF7F5D-C4A4-46EB-9F4E-B19605F76E29}"/>
              </a:ext>
            </a:extLst>
          </p:cNvPr>
          <p:cNvCxnSpPr>
            <a:cxnSpLocks/>
          </p:cNvCxnSpPr>
          <p:nvPr/>
        </p:nvCxnSpPr>
        <p:spPr>
          <a:xfrm>
            <a:off x="5264615" y="504834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020567A2-7333-4E42-9A4D-12DA0EBAE82E}"/>
              </a:ext>
            </a:extLst>
          </p:cNvPr>
          <p:cNvSpPr txBox="1"/>
          <p:nvPr/>
        </p:nvSpPr>
        <p:spPr>
          <a:xfrm>
            <a:off x="5264612" y="4649201"/>
            <a:ext cx="2716563" cy="338554"/>
          </a:xfrm>
          <a:prstGeom prst="rect">
            <a:avLst/>
          </a:prstGeom>
          <a:noFill/>
        </p:spPr>
        <p:txBody>
          <a:bodyPr wrap="square">
            <a:spAutoFit/>
          </a:bodyPr>
          <a:lstStyle/>
          <a:p>
            <a:pPr algn="ctr"/>
            <a:r>
              <a:rPr lang="fr-FR" sz="1600" dirty="0">
                <a:latin typeface="Candara" panose="020E0502030303020204" pitchFamily="34" charset="0"/>
              </a:rPr>
              <a:t>Client</a:t>
            </a:r>
            <a:endParaRPr lang="fr-FR" sz="1600" dirty="0"/>
          </a:p>
        </p:txBody>
      </p:sp>
      <p:sp>
        <p:nvSpPr>
          <p:cNvPr id="24" name="ZoneTexte 23">
            <a:extLst>
              <a:ext uri="{FF2B5EF4-FFF2-40B4-BE49-F238E27FC236}">
                <a16:creationId xmlns:a16="http://schemas.microsoft.com/office/drawing/2014/main" id="{07623214-AF36-4715-AB31-81C5EEE9F229}"/>
              </a:ext>
            </a:extLst>
          </p:cNvPr>
          <p:cNvSpPr txBox="1"/>
          <p:nvPr/>
        </p:nvSpPr>
        <p:spPr>
          <a:xfrm>
            <a:off x="5264612" y="5156446"/>
            <a:ext cx="2716567" cy="923330"/>
          </a:xfrm>
          <a:prstGeom prst="rect">
            <a:avLst/>
          </a:prstGeom>
          <a:noFill/>
        </p:spPr>
        <p:txBody>
          <a:bodyPr wrap="square">
            <a:spAutoFit/>
          </a:bodyPr>
          <a:lstStyle/>
          <a:p>
            <a:r>
              <a:rPr lang="fr-FR" sz="1800" u="sng" dirty="0" err="1">
                <a:latin typeface="Candara" panose="020E0502030303020204" pitchFamily="34" charset="0"/>
              </a:rPr>
              <a:t>IdCli</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err="1">
                <a:latin typeface="Candara" panose="020E0502030303020204" pitchFamily="34" charset="0"/>
              </a:rPr>
              <a:t>IdPar</a:t>
            </a:r>
            <a:r>
              <a:rPr lang="fr-FR" dirty="0">
                <a:latin typeface="Candara" panose="020E0502030303020204" pitchFamily="34" charset="0"/>
              </a:rPr>
              <a:t>	</a:t>
            </a:r>
            <a:r>
              <a:rPr lang="fr-FR"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sp>
        <p:nvSpPr>
          <p:cNvPr id="25" name="Rectangle 24">
            <a:extLst>
              <a:ext uri="{FF2B5EF4-FFF2-40B4-BE49-F238E27FC236}">
                <a16:creationId xmlns:a16="http://schemas.microsoft.com/office/drawing/2014/main" id="{CFAF4ACF-A472-4411-A471-92543BC1347C}"/>
              </a:ext>
            </a:extLst>
          </p:cNvPr>
          <p:cNvSpPr/>
          <p:nvPr/>
        </p:nvSpPr>
        <p:spPr>
          <a:xfrm>
            <a:off x="9207780" y="4946783"/>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26" name="Connecteur droit 25">
            <a:extLst>
              <a:ext uri="{FF2B5EF4-FFF2-40B4-BE49-F238E27FC236}">
                <a16:creationId xmlns:a16="http://schemas.microsoft.com/office/drawing/2014/main" id="{D754B6A3-EE1B-4B88-A46F-4D19156CCB27}"/>
              </a:ext>
            </a:extLst>
          </p:cNvPr>
          <p:cNvCxnSpPr>
            <a:cxnSpLocks/>
          </p:cNvCxnSpPr>
          <p:nvPr/>
        </p:nvCxnSpPr>
        <p:spPr>
          <a:xfrm>
            <a:off x="9207779" y="5340390"/>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ZoneTexte 26">
            <a:extLst>
              <a:ext uri="{FF2B5EF4-FFF2-40B4-BE49-F238E27FC236}">
                <a16:creationId xmlns:a16="http://schemas.microsoft.com/office/drawing/2014/main" id="{B304BF6A-4EEF-46B7-A807-2F19591F7DC3}"/>
              </a:ext>
            </a:extLst>
          </p:cNvPr>
          <p:cNvSpPr txBox="1"/>
          <p:nvPr/>
        </p:nvSpPr>
        <p:spPr>
          <a:xfrm>
            <a:off x="9207776" y="4967874"/>
            <a:ext cx="2716563" cy="338554"/>
          </a:xfrm>
          <a:prstGeom prst="rect">
            <a:avLst/>
          </a:prstGeom>
          <a:noFill/>
        </p:spPr>
        <p:txBody>
          <a:bodyPr wrap="square">
            <a:spAutoFit/>
          </a:bodyPr>
          <a:lstStyle/>
          <a:p>
            <a:pPr algn="ctr"/>
            <a:r>
              <a:rPr lang="fr-FR" sz="1600" dirty="0">
                <a:latin typeface="Candara" panose="020E0502030303020204" pitchFamily="34" charset="0"/>
              </a:rPr>
              <a:t>Parrain</a:t>
            </a:r>
            <a:endParaRPr lang="fr-FR" sz="1600" dirty="0"/>
          </a:p>
        </p:txBody>
      </p:sp>
      <p:sp>
        <p:nvSpPr>
          <p:cNvPr id="28" name="ZoneTexte 27">
            <a:extLst>
              <a:ext uri="{FF2B5EF4-FFF2-40B4-BE49-F238E27FC236}">
                <a16:creationId xmlns:a16="http://schemas.microsoft.com/office/drawing/2014/main" id="{2563D23D-BCCD-45BA-80F8-B115CF6DF3CB}"/>
              </a:ext>
            </a:extLst>
          </p:cNvPr>
          <p:cNvSpPr txBox="1"/>
          <p:nvPr/>
        </p:nvSpPr>
        <p:spPr>
          <a:xfrm>
            <a:off x="9207776" y="5475122"/>
            <a:ext cx="2716567" cy="646331"/>
          </a:xfrm>
          <a:prstGeom prst="rect">
            <a:avLst/>
          </a:prstGeom>
          <a:noFill/>
        </p:spPr>
        <p:txBody>
          <a:bodyPr wrap="square">
            <a:spAutoFit/>
          </a:bodyPr>
          <a:lstStyle/>
          <a:p>
            <a:r>
              <a:rPr lang="fr-FR" sz="1800" u="sng" dirty="0" err="1">
                <a:latin typeface="Candara" panose="020E0502030303020204" pitchFamily="34" charset="0"/>
              </a:rPr>
              <a:t>IdCli</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cxnSp>
        <p:nvCxnSpPr>
          <p:cNvPr id="29" name="Connecteur droit avec flèche 28">
            <a:extLst>
              <a:ext uri="{FF2B5EF4-FFF2-40B4-BE49-F238E27FC236}">
                <a16:creationId xmlns:a16="http://schemas.microsoft.com/office/drawing/2014/main" id="{319CA2CB-1112-4EF8-98C7-728DE567430A}"/>
              </a:ext>
            </a:extLst>
          </p:cNvPr>
          <p:cNvCxnSpPr>
            <a:cxnSpLocks/>
          </p:cNvCxnSpPr>
          <p:nvPr/>
        </p:nvCxnSpPr>
        <p:spPr>
          <a:xfrm>
            <a:off x="6622893" y="5618111"/>
            <a:ext cx="2584883" cy="4184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9385785E-5EAE-4E41-A2BF-4BC208B0C915}"/>
              </a:ext>
            </a:extLst>
          </p:cNvPr>
          <p:cNvSpPr txBox="1"/>
          <p:nvPr/>
        </p:nvSpPr>
        <p:spPr>
          <a:xfrm>
            <a:off x="7532398" y="5298853"/>
            <a:ext cx="1419225" cy="369332"/>
          </a:xfrm>
          <a:prstGeom prst="rect">
            <a:avLst/>
          </a:prstGeom>
          <a:noFill/>
        </p:spPr>
        <p:txBody>
          <a:bodyPr wrap="square">
            <a:spAutoFit/>
          </a:bodyPr>
          <a:lstStyle/>
          <a:p>
            <a:r>
              <a:rPr lang="fr-FR" sz="1800" dirty="0" err="1">
                <a:latin typeface="Candara" panose="020E0502030303020204" pitchFamily="34" charset="0"/>
              </a:rPr>
              <a:t>FK_Parrain</a:t>
            </a:r>
            <a:endParaRPr lang="fr-FR" dirty="0"/>
          </a:p>
        </p:txBody>
      </p:sp>
    </p:spTree>
    <p:extLst>
      <p:ext uri="{BB962C8B-B14F-4D97-AF65-F5344CB8AC3E}">
        <p14:creationId xmlns:p14="http://schemas.microsoft.com/office/powerpoint/2010/main" val="210134379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3" y="2184885"/>
            <a:ext cx="4478375" cy="3600986"/>
          </a:xfrm>
          <a:prstGeom prst="rect">
            <a:avLst/>
          </a:prstGeom>
        </p:spPr>
        <p:txBody>
          <a:bodyPr wrap="square">
            <a:spAutoFit/>
          </a:bodyPr>
          <a:lstStyle/>
          <a:p>
            <a:pPr algn="just"/>
            <a:r>
              <a:rPr lang="fr-FR" sz="2800" dirty="0">
                <a:latin typeface="Candara" panose="020E0502030303020204" pitchFamily="34" charset="0"/>
              </a:rPr>
              <a:t>Association de type « un à un »</a:t>
            </a:r>
          </a:p>
          <a:p>
            <a:pPr algn="just"/>
            <a:endParaRPr lang="fr-FR" sz="28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Il est possible de créer une troisième classe également</a:t>
            </a:r>
          </a:p>
          <a:p>
            <a:pPr marL="342900" indent="-342900" algn="just">
              <a:buFont typeface="Wingdings" panose="05000000000000000000" pitchFamily="2" charset="2"/>
              <a:buChar char="ü"/>
            </a:pPr>
            <a:r>
              <a:rPr lang="fr-FR" sz="2400" dirty="0">
                <a:latin typeface="Candara" panose="020E0502030303020204" pitchFamily="34" charset="0"/>
              </a:rPr>
              <a:t>Cette solution a l’avantage d’adapter facilement le modèle au cas où ça venait à évoluer</a:t>
            </a:r>
            <a:endParaRPr lang="fr-FR" sz="3200" dirty="0">
              <a:latin typeface="Candara" panose="020E0502030303020204" pitchFamily="34" charset="0"/>
            </a:endParaRPr>
          </a:p>
        </p:txBody>
      </p:sp>
      <p:sp>
        <p:nvSpPr>
          <p:cNvPr id="7" name="Rectangle 6">
            <a:extLst>
              <a:ext uri="{FF2B5EF4-FFF2-40B4-BE49-F238E27FC236}">
                <a16:creationId xmlns:a16="http://schemas.microsoft.com/office/drawing/2014/main" id="{FC498822-474B-4B4E-80E6-C3234299146B}"/>
              </a:ext>
            </a:extLst>
          </p:cNvPr>
          <p:cNvSpPr/>
          <p:nvPr/>
        </p:nvSpPr>
        <p:spPr>
          <a:xfrm>
            <a:off x="5353392"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2D32C79C-4E93-44BF-B828-50524286B428}"/>
              </a:ext>
            </a:extLst>
          </p:cNvPr>
          <p:cNvCxnSpPr>
            <a:cxnSpLocks/>
          </p:cNvCxnSpPr>
          <p:nvPr/>
        </p:nvCxnSpPr>
        <p:spPr>
          <a:xfrm>
            <a:off x="5353391"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A8ED3575-6127-449A-A711-063631D4A1D8}"/>
              </a:ext>
            </a:extLst>
          </p:cNvPr>
          <p:cNvSpPr txBox="1"/>
          <p:nvPr/>
        </p:nvSpPr>
        <p:spPr>
          <a:xfrm>
            <a:off x="5353388" y="2184885"/>
            <a:ext cx="2716563" cy="338554"/>
          </a:xfrm>
          <a:prstGeom prst="rect">
            <a:avLst/>
          </a:prstGeom>
          <a:noFill/>
        </p:spPr>
        <p:txBody>
          <a:bodyPr wrap="square">
            <a:spAutoFit/>
          </a:bodyPr>
          <a:lstStyle/>
          <a:p>
            <a:pPr algn="ctr"/>
            <a:r>
              <a:rPr lang="fr-FR" sz="1600" dirty="0">
                <a:latin typeface="Candara" panose="020E0502030303020204" pitchFamily="34" charset="0"/>
              </a:rPr>
              <a:t>Client</a:t>
            </a:r>
            <a:endParaRPr lang="fr-FR" sz="1600" dirty="0"/>
          </a:p>
        </p:txBody>
      </p:sp>
      <p:sp>
        <p:nvSpPr>
          <p:cNvPr id="10" name="ZoneTexte 9">
            <a:extLst>
              <a:ext uri="{FF2B5EF4-FFF2-40B4-BE49-F238E27FC236}">
                <a16:creationId xmlns:a16="http://schemas.microsoft.com/office/drawing/2014/main" id="{B018CB7F-811B-4636-AD06-851E7B607F98}"/>
              </a:ext>
            </a:extLst>
          </p:cNvPr>
          <p:cNvSpPr txBox="1"/>
          <p:nvPr/>
        </p:nvSpPr>
        <p:spPr>
          <a:xfrm>
            <a:off x="5353388" y="2718767"/>
            <a:ext cx="2716567" cy="646331"/>
          </a:xfrm>
          <a:prstGeom prst="rect">
            <a:avLst/>
          </a:prstGeom>
          <a:noFill/>
        </p:spPr>
        <p:txBody>
          <a:bodyPr wrap="square">
            <a:spAutoFit/>
          </a:bodyPr>
          <a:lstStyle/>
          <a:p>
            <a:r>
              <a:rPr lang="fr-FR" sz="1800" u="sng" dirty="0" err="1">
                <a:latin typeface="Candara" panose="020E0502030303020204" pitchFamily="34" charset="0"/>
              </a:rPr>
              <a:t>IdCli</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1" name="Connecteur droit 10">
            <a:extLst>
              <a:ext uri="{FF2B5EF4-FFF2-40B4-BE49-F238E27FC236}">
                <a16:creationId xmlns:a16="http://schemas.microsoft.com/office/drawing/2014/main" id="{3DD1C0B2-D336-4DCD-B0F8-B591B81D63E2}"/>
              </a:ext>
            </a:extLst>
          </p:cNvPr>
          <p:cNvCxnSpPr>
            <a:cxnSpLocks/>
          </p:cNvCxnSpPr>
          <p:nvPr/>
        </p:nvCxnSpPr>
        <p:spPr>
          <a:xfrm>
            <a:off x="5353388"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47BC820-B66F-4721-A96A-DA59A93632B5}"/>
              </a:ext>
            </a:extLst>
          </p:cNvPr>
          <p:cNvSpPr/>
          <p:nvPr/>
        </p:nvSpPr>
        <p:spPr>
          <a:xfrm>
            <a:off x="9296556"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1BF0792D-9CE8-4E96-A7AD-313F0F94886C}"/>
              </a:ext>
            </a:extLst>
          </p:cNvPr>
          <p:cNvCxnSpPr>
            <a:cxnSpLocks/>
          </p:cNvCxnSpPr>
          <p:nvPr/>
        </p:nvCxnSpPr>
        <p:spPr>
          <a:xfrm>
            <a:off x="9296555"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39B59AC3-05D2-45CC-A57E-5CC434000F28}"/>
              </a:ext>
            </a:extLst>
          </p:cNvPr>
          <p:cNvSpPr txBox="1"/>
          <p:nvPr/>
        </p:nvSpPr>
        <p:spPr>
          <a:xfrm>
            <a:off x="9296552" y="2184885"/>
            <a:ext cx="2716563" cy="338554"/>
          </a:xfrm>
          <a:prstGeom prst="rect">
            <a:avLst/>
          </a:prstGeom>
          <a:noFill/>
        </p:spPr>
        <p:txBody>
          <a:bodyPr wrap="square">
            <a:spAutoFit/>
          </a:bodyPr>
          <a:lstStyle/>
          <a:p>
            <a:pPr algn="ctr"/>
            <a:r>
              <a:rPr lang="fr-FR" sz="1600" dirty="0">
                <a:latin typeface="Candara" panose="020E0502030303020204" pitchFamily="34" charset="0"/>
              </a:rPr>
              <a:t>Parrain</a:t>
            </a:r>
            <a:endParaRPr lang="fr-FR" sz="1600" dirty="0"/>
          </a:p>
        </p:txBody>
      </p:sp>
      <p:sp>
        <p:nvSpPr>
          <p:cNvPr id="16" name="ZoneTexte 15">
            <a:extLst>
              <a:ext uri="{FF2B5EF4-FFF2-40B4-BE49-F238E27FC236}">
                <a16:creationId xmlns:a16="http://schemas.microsoft.com/office/drawing/2014/main" id="{A31EC209-C7E2-43BA-A451-01D0F2C9B699}"/>
              </a:ext>
            </a:extLst>
          </p:cNvPr>
          <p:cNvSpPr txBox="1"/>
          <p:nvPr/>
        </p:nvSpPr>
        <p:spPr>
          <a:xfrm>
            <a:off x="9296552" y="2718767"/>
            <a:ext cx="2716567" cy="646331"/>
          </a:xfrm>
          <a:prstGeom prst="rect">
            <a:avLst/>
          </a:prstGeom>
          <a:noFill/>
        </p:spPr>
        <p:txBody>
          <a:bodyPr wrap="square">
            <a:spAutoFit/>
          </a:bodyPr>
          <a:lstStyle/>
          <a:p>
            <a:r>
              <a:rPr lang="fr-FR" sz="1800" u="sng" dirty="0" err="1">
                <a:latin typeface="Candara" panose="020E0502030303020204" pitchFamily="34" charset="0"/>
              </a:rPr>
              <a:t>IdPar</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7" name="Connecteur droit 16">
            <a:extLst>
              <a:ext uri="{FF2B5EF4-FFF2-40B4-BE49-F238E27FC236}">
                <a16:creationId xmlns:a16="http://schemas.microsoft.com/office/drawing/2014/main" id="{FF69156E-601F-494D-B616-6B18E14F3440}"/>
              </a:ext>
            </a:extLst>
          </p:cNvPr>
          <p:cNvCxnSpPr>
            <a:cxnSpLocks/>
          </p:cNvCxnSpPr>
          <p:nvPr/>
        </p:nvCxnSpPr>
        <p:spPr>
          <a:xfrm>
            <a:off x="9296552"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92A8A91-EF64-4DEB-8B91-5B1190AC7637}"/>
              </a:ext>
            </a:extLst>
          </p:cNvPr>
          <p:cNvCxnSpPr>
            <a:cxnSpLocks/>
            <a:stCxn id="10" idx="3"/>
            <a:endCxn id="16" idx="1"/>
          </p:cNvCxnSpPr>
          <p:nvPr/>
        </p:nvCxnSpPr>
        <p:spPr>
          <a:xfrm>
            <a:off x="8069955" y="3041933"/>
            <a:ext cx="122659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C4B8FA8D-FAF2-4F20-A06A-A26A280B77E6}"/>
              </a:ext>
            </a:extLst>
          </p:cNvPr>
          <p:cNvSpPr txBox="1"/>
          <p:nvPr/>
        </p:nvSpPr>
        <p:spPr>
          <a:xfrm>
            <a:off x="8020583" y="2675826"/>
            <a:ext cx="620409"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20" name="ZoneTexte 19">
            <a:extLst>
              <a:ext uri="{FF2B5EF4-FFF2-40B4-BE49-F238E27FC236}">
                <a16:creationId xmlns:a16="http://schemas.microsoft.com/office/drawing/2014/main" id="{6B8FB5C6-9AD1-40FA-862D-CDEF69BBD290}"/>
              </a:ext>
            </a:extLst>
          </p:cNvPr>
          <p:cNvSpPr txBox="1"/>
          <p:nvPr/>
        </p:nvSpPr>
        <p:spPr>
          <a:xfrm>
            <a:off x="8908934" y="2675826"/>
            <a:ext cx="502875"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31" name="Rectangle 30">
            <a:extLst>
              <a:ext uri="{FF2B5EF4-FFF2-40B4-BE49-F238E27FC236}">
                <a16:creationId xmlns:a16="http://schemas.microsoft.com/office/drawing/2014/main" id="{066906BE-EBC9-49A0-A935-A1C0AC639595}"/>
              </a:ext>
            </a:extLst>
          </p:cNvPr>
          <p:cNvSpPr/>
          <p:nvPr/>
        </p:nvSpPr>
        <p:spPr>
          <a:xfrm>
            <a:off x="5353393" y="4093811"/>
            <a:ext cx="2228138"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428C88C5-9DF8-423C-9B66-8BF987CDFC79}"/>
              </a:ext>
            </a:extLst>
          </p:cNvPr>
          <p:cNvCxnSpPr>
            <a:cxnSpLocks/>
          </p:cNvCxnSpPr>
          <p:nvPr/>
        </p:nvCxnSpPr>
        <p:spPr>
          <a:xfrm>
            <a:off x="5353391" y="4487418"/>
            <a:ext cx="222813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CA9B699F-1F6E-4EC2-91C0-C743EEE3A64C}"/>
              </a:ext>
            </a:extLst>
          </p:cNvPr>
          <p:cNvSpPr txBox="1"/>
          <p:nvPr/>
        </p:nvSpPr>
        <p:spPr>
          <a:xfrm>
            <a:off x="5353389" y="4114902"/>
            <a:ext cx="2228138" cy="338554"/>
          </a:xfrm>
          <a:prstGeom prst="rect">
            <a:avLst/>
          </a:prstGeom>
          <a:noFill/>
        </p:spPr>
        <p:txBody>
          <a:bodyPr wrap="square">
            <a:spAutoFit/>
          </a:bodyPr>
          <a:lstStyle/>
          <a:p>
            <a:pPr algn="ctr"/>
            <a:r>
              <a:rPr lang="fr-FR" sz="1600" dirty="0">
                <a:latin typeface="Candara" panose="020E0502030303020204" pitchFamily="34" charset="0"/>
              </a:rPr>
              <a:t>Client</a:t>
            </a:r>
            <a:endParaRPr lang="fr-FR" sz="1600" dirty="0"/>
          </a:p>
        </p:txBody>
      </p:sp>
      <p:sp>
        <p:nvSpPr>
          <p:cNvPr id="34" name="ZoneTexte 33">
            <a:extLst>
              <a:ext uri="{FF2B5EF4-FFF2-40B4-BE49-F238E27FC236}">
                <a16:creationId xmlns:a16="http://schemas.microsoft.com/office/drawing/2014/main" id="{1A3FFB41-F56C-48AC-86BE-F5B90FC14AF1}"/>
              </a:ext>
            </a:extLst>
          </p:cNvPr>
          <p:cNvSpPr txBox="1"/>
          <p:nvPr/>
        </p:nvSpPr>
        <p:spPr>
          <a:xfrm>
            <a:off x="5353388" y="4622150"/>
            <a:ext cx="2228141" cy="646331"/>
          </a:xfrm>
          <a:prstGeom prst="rect">
            <a:avLst/>
          </a:prstGeom>
          <a:noFill/>
        </p:spPr>
        <p:txBody>
          <a:bodyPr wrap="square">
            <a:spAutoFit/>
          </a:bodyPr>
          <a:lstStyle/>
          <a:p>
            <a:r>
              <a:rPr lang="fr-FR" sz="1800" u="sng" dirty="0" err="1">
                <a:latin typeface="Candara" panose="020E0502030303020204" pitchFamily="34" charset="0"/>
              </a:rPr>
              <a:t>IdCli</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sp>
        <p:nvSpPr>
          <p:cNvPr id="35" name="Rectangle 34">
            <a:extLst>
              <a:ext uri="{FF2B5EF4-FFF2-40B4-BE49-F238E27FC236}">
                <a16:creationId xmlns:a16="http://schemas.microsoft.com/office/drawing/2014/main" id="{B97CE18F-736B-45A0-B6B5-1701CFB4C500}"/>
              </a:ext>
            </a:extLst>
          </p:cNvPr>
          <p:cNvSpPr/>
          <p:nvPr/>
        </p:nvSpPr>
        <p:spPr>
          <a:xfrm>
            <a:off x="8002831" y="5247711"/>
            <a:ext cx="1556414"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6" name="Connecteur droit 35">
            <a:extLst>
              <a:ext uri="{FF2B5EF4-FFF2-40B4-BE49-F238E27FC236}">
                <a16:creationId xmlns:a16="http://schemas.microsoft.com/office/drawing/2014/main" id="{02CFE8F1-F6AD-4798-9F2F-A0114A0EFCAB}"/>
              </a:ext>
            </a:extLst>
          </p:cNvPr>
          <p:cNvCxnSpPr>
            <a:cxnSpLocks/>
          </p:cNvCxnSpPr>
          <p:nvPr/>
        </p:nvCxnSpPr>
        <p:spPr>
          <a:xfrm>
            <a:off x="8002829" y="5641318"/>
            <a:ext cx="155641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46D366B6-D113-4E29-84B4-3CDB5D0135F9}"/>
              </a:ext>
            </a:extLst>
          </p:cNvPr>
          <p:cNvSpPr txBox="1"/>
          <p:nvPr/>
        </p:nvSpPr>
        <p:spPr>
          <a:xfrm>
            <a:off x="8002827" y="5268802"/>
            <a:ext cx="1556414" cy="338554"/>
          </a:xfrm>
          <a:prstGeom prst="rect">
            <a:avLst/>
          </a:prstGeom>
          <a:noFill/>
        </p:spPr>
        <p:txBody>
          <a:bodyPr wrap="square">
            <a:spAutoFit/>
          </a:bodyPr>
          <a:lstStyle/>
          <a:p>
            <a:pPr algn="ctr"/>
            <a:r>
              <a:rPr lang="fr-FR" sz="1600" dirty="0" err="1">
                <a:latin typeface="Candara" panose="020E0502030303020204" pitchFamily="34" charset="0"/>
              </a:rPr>
              <a:t>NewCl</a:t>
            </a:r>
            <a:endParaRPr lang="fr-FR" sz="1600" dirty="0"/>
          </a:p>
        </p:txBody>
      </p:sp>
      <p:sp>
        <p:nvSpPr>
          <p:cNvPr id="38" name="ZoneTexte 37">
            <a:extLst>
              <a:ext uri="{FF2B5EF4-FFF2-40B4-BE49-F238E27FC236}">
                <a16:creationId xmlns:a16="http://schemas.microsoft.com/office/drawing/2014/main" id="{CCCA7091-2B8C-4E9C-80B5-DE872BD58904}"/>
              </a:ext>
            </a:extLst>
          </p:cNvPr>
          <p:cNvSpPr txBox="1"/>
          <p:nvPr/>
        </p:nvSpPr>
        <p:spPr>
          <a:xfrm>
            <a:off x="8002827" y="5776050"/>
            <a:ext cx="1556416" cy="646331"/>
          </a:xfrm>
          <a:prstGeom prst="rect">
            <a:avLst/>
          </a:prstGeom>
          <a:noFill/>
        </p:spPr>
        <p:txBody>
          <a:bodyPr wrap="square">
            <a:spAutoFit/>
          </a:bodyPr>
          <a:lstStyle/>
          <a:p>
            <a:r>
              <a:rPr lang="fr-FR" sz="1800" u="sng" dirty="0" err="1">
                <a:latin typeface="Candara" panose="020E0502030303020204" pitchFamily="34" charset="0"/>
              </a:rPr>
              <a:t>IdCli</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err="1">
                <a:latin typeface="Candara" panose="020E0502030303020204" pitchFamily="34" charset="0"/>
              </a:rPr>
              <a:t>IdPar</a:t>
            </a:r>
            <a:r>
              <a:rPr lang="fr-FR" dirty="0">
                <a:latin typeface="Candara" panose="020E0502030303020204" pitchFamily="34" charset="0"/>
              </a:rPr>
              <a:t>	 </a:t>
            </a:r>
            <a:r>
              <a:rPr lang="fr-FR" dirty="0" err="1">
                <a:latin typeface="Candara" panose="020E0502030303020204" pitchFamily="34" charset="0"/>
              </a:rPr>
              <a:t>int</a:t>
            </a:r>
            <a:endParaRPr lang="fr-FR" sz="1800" dirty="0"/>
          </a:p>
        </p:txBody>
      </p:sp>
      <p:sp>
        <p:nvSpPr>
          <p:cNvPr id="39" name="Rectangle 38">
            <a:extLst>
              <a:ext uri="{FF2B5EF4-FFF2-40B4-BE49-F238E27FC236}">
                <a16:creationId xmlns:a16="http://schemas.microsoft.com/office/drawing/2014/main" id="{10CDE051-F463-44A9-B76A-CC862FFD2892}"/>
              </a:ext>
            </a:extLst>
          </p:cNvPr>
          <p:cNvSpPr/>
          <p:nvPr/>
        </p:nvSpPr>
        <p:spPr>
          <a:xfrm>
            <a:off x="9910575" y="4116578"/>
            <a:ext cx="2228138"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40" name="Connecteur droit 39">
            <a:extLst>
              <a:ext uri="{FF2B5EF4-FFF2-40B4-BE49-F238E27FC236}">
                <a16:creationId xmlns:a16="http://schemas.microsoft.com/office/drawing/2014/main" id="{08A3C40D-61E7-4B0C-96E8-F926EC8E8C1D}"/>
              </a:ext>
            </a:extLst>
          </p:cNvPr>
          <p:cNvCxnSpPr>
            <a:cxnSpLocks/>
          </p:cNvCxnSpPr>
          <p:nvPr/>
        </p:nvCxnSpPr>
        <p:spPr>
          <a:xfrm>
            <a:off x="9910573" y="4510185"/>
            <a:ext cx="222813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C9061D52-F51B-4C34-ACF8-260D3112F17B}"/>
              </a:ext>
            </a:extLst>
          </p:cNvPr>
          <p:cNvSpPr txBox="1"/>
          <p:nvPr/>
        </p:nvSpPr>
        <p:spPr>
          <a:xfrm>
            <a:off x="9910571" y="4137669"/>
            <a:ext cx="2228138" cy="338554"/>
          </a:xfrm>
          <a:prstGeom prst="rect">
            <a:avLst/>
          </a:prstGeom>
          <a:noFill/>
        </p:spPr>
        <p:txBody>
          <a:bodyPr wrap="square">
            <a:spAutoFit/>
          </a:bodyPr>
          <a:lstStyle/>
          <a:p>
            <a:pPr algn="ctr"/>
            <a:r>
              <a:rPr lang="fr-FR" sz="1600" dirty="0">
                <a:latin typeface="Candara" panose="020E0502030303020204" pitchFamily="34" charset="0"/>
              </a:rPr>
              <a:t>Parrain</a:t>
            </a:r>
            <a:endParaRPr lang="fr-FR" sz="1600" dirty="0"/>
          </a:p>
        </p:txBody>
      </p:sp>
      <p:sp>
        <p:nvSpPr>
          <p:cNvPr id="42" name="ZoneTexte 41">
            <a:extLst>
              <a:ext uri="{FF2B5EF4-FFF2-40B4-BE49-F238E27FC236}">
                <a16:creationId xmlns:a16="http://schemas.microsoft.com/office/drawing/2014/main" id="{189C1D5E-87DB-4756-A4F5-8962669AD791}"/>
              </a:ext>
            </a:extLst>
          </p:cNvPr>
          <p:cNvSpPr txBox="1"/>
          <p:nvPr/>
        </p:nvSpPr>
        <p:spPr>
          <a:xfrm>
            <a:off x="9910570" y="4644917"/>
            <a:ext cx="2228141" cy="646331"/>
          </a:xfrm>
          <a:prstGeom prst="rect">
            <a:avLst/>
          </a:prstGeom>
          <a:noFill/>
        </p:spPr>
        <p:txBody>
          <a:bodyPr wrap="square">
            <a:spAutoFit/>
          </a:bodyPr>
          <a:lstStyle/>
          <a:p>
            <a:r>
              <a:rPr lang="fr-FR" sz="1800" u="sng" dirty="0" err="1">
                <a:latin typeface="Candara" panose="020E0502030303020204" pitchFamily="34" charset="0"/>
              </a:rPr>
              <a:t>IdPar</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cxnSp>
        <p:nvCxnSpPr>
          <p:cNvPr id="43" name="Connecteur droit avec flèche 42">
            <a:extLst>
              <a:ext uri="{FF2B5EF4-FFF2-40B4-BE49-F238E27FC236}">
                <a16:creationId xmlns:a16="http://schemas.microsoft.com/office/drawing/2014/main" id="{ADB90542-9403-4661-949F-618F8D74F98F}"/>
              </a:ext>
            </a:extLst>
          </p:cNvPr>
          <p:cNvCxnSpPr>
            <a:cxnSpLocks/>
          </p:cNvCxnSpPr>
          <p:nvPr/>
        </p:nvCxnSpPr>
        <p:spPr>
          <a:xfrm flipH="1" flipV="1">
            <a:off x="6711669" y="5684939"/>
            <a:ext cx="1358282" cy="31225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0E89916A-672C-4E9E-8434-777290CA422A}"/>
              </a:ext>
            </a:extLst>
          </p:cNvPr>
          <p:cNvCxnSpPr>
            <a:cxnSpLocks/>
          </p:cNvCxnSpPr>
          <p:nvPr/>
        </p:nvCxnSpPr>
        <p:spPr>
          <a:xfrm flipV="1">
            <a:off x="9411809" y="5684856"/>
            <a:ext cx="1243024" cy="52159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2B177E09-1932-4C4B-9ACB-093DAFFF4196}"/>
              </a:ext>
            </a:extLst>
          </p:cNvPr>
          <p:cNvSpPr txBox="1"/>
          <p:nvPr/>
        </p:nvSpPr>
        <p:spPr>
          <a:xfrm>
            <a:off x="6372952" y="5821095"/>
            <a:ext cx="1419225" cy="369332"/>
          </a:xfrm>
          <a:prstGeom prst="rect">
            <a:avLst/>
          </a:prstGeom>
          <a:noFill/>
        </p:spPr>
        <p:txBody>
          <a:bodyPr wrap="square">
            <a:spAutoFit/>
          </a:bodyPr>
          <a:lstStyle/>
          <a:p>
            <a:r>
              <a:rPr lang="fr-FR" sz="1800" dirty="0" err="1">
                <a:latin typeface="Candara" panose="020E0502030303020204" pitchFamily="34" charset="0"/>
              </a:rPr>
              <a:t>FK_</a:t>
            </a:r>
            <a:r>
              <a:rPr lang="fr-FR" dirty="0" err="1">
                <a:latin typeface="Candara" panose="020E0502030303020204" pitchFamily="34" charset="0"/>
              </a:rPr>
              <a:t>Etudiant</a:t>
            </a:r>
            <a:endParaRPr lang="fr-FR" dirty="0"/>
          </a:p>
        </p:txBody>
      </p:sp>
      <p:sp>
        <p:nvSpPr>
          <p:cNvPr id="46" name="ZoneTexte 45">
            <a:extLst>
              <a:ext uri="{FF2B5EF4-FFF2-40B4-BE49-F238E27FC236}">
                <a16:creationId xmlns:a16="http://schemas.microsoft.com/office/drawing/2014/main" id="{3B6386CB-4E32-47F3-BF37-A6D7802B4DA0}"/>
              </a:ext>
            </a:extLst>
          </p:cNvPr>
          <p:cNvSpPr txBox="1"/>
          <p:nvPr/>
        </p:nvSpPr>
        <p:spPr>
          <a:xfrm>
            <a:off x="9769893" y="5927969"/>
            <a:ext cx="1419225" cy="369332"/>
          </a:xfrm>
          <a:prstGeom prst="rect">
            <a:avLst/>
          </a:prstGeom>
          <a:noFill/>
        </p:spPr>
        <p:txBody>
          <a:bodyPr wrap="square">
            <a:spAutoFit/>
          </a:bodyPr>
          <a:lstStyle/>
          <a:p>
            <a:r>
              <a:rPr lang="fr-FR" sz="1800" dirty="0" err="1">
                <a:latin typeface="Candara" panose="020E0502030303020204" pitchFamily="34" charset="0"/>
              </a:rPr>
              <a:t>FK_Note</a:t>
            </a:r>
            <a:endParaRPr lang="fr-FR" dirty="0"/>
          </a:p>
        </p:txBody>
      </p:sp>
    </p:spTree>
    <p:extLst>
      <p:ext uri="{BB962C8B-B14F-4D97-AF65-F5344CB8AC3E}">
        <p14:creationId xmlns:p14="http://schemas.microsoft.com/office/powerpoint/2010/main" val="260194769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3" y="2184885"/>
            <a:ext cx="4478375" cy="3231654"/>
          </a:xfrm>
          <a:prstGeom prst="rect">
            <a:avLst/>
          </a:prstGeom>
        </p:spPr>
        <p:txBody>
          <a:bodyPr wrap="square">
            <a:spAutoFit/>
          </a:bodyPr>
          <a:lstStyle/>
          <a:p>
            <a:pPr algn="just"/>
            <a:r>
              <a:rPr lang="fr-FR" sz="2800" dirty="0">
                <a:latin typeface="Candara" panose="020E0502030303020204" pitchFamily="34" charset="0"/>
              </a:rPr>
              <a:t>Association de type « un à un »</a:t>
            </a:r>
          </a:p>
          <a:p>
            <a:pPr algn="just"/>
            <a:endParaRPr lang="fr-FR" sz="28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Bien respecter les colonnes « </a:t>
            </a:r>
            <a:r>
              <a:rPr lang="fr-FR" sz="2400" dirty="0" err="1">
                <a:latin typeface="Candara" panose="020E0502030303020204" pitchFamily="34" charset="0"/>
              </a:rPr>
              <a:t>nullables</a:t>
            </a:r>
            <a:r>
              <a:rPr lang="fr-FR" sz="2400" dirty="0">
                <a:latin typeface="Candara" panose="020E0502030303020204" pitchFamily="34" charset="0"/>
              </a:rPr>
              <a:t> » dans ce contexte et gérer les contraintes</a:t>
            </a:r>
          </a:p>
          <a:p>
            <a:pPr marL="342900" indent="-342900" algn="just">
              <a:buFont typeface="Wingdings" panose="05000000000000000000" pitchFamily="2" charset="2"/>
              <a:buChar char="ü"/>
            </a:pPr>
            <a:r>
              <a:rPr lang="fr-FR" sz="2400" dirty="0">
                <a:latin typeface="Candara" panose="020E0502030303020204" pitchFamily="34" charset="0"/>
              </a:rPr>
              <a:t>Très peu d’outils permettent de le faire</a:t>
            </a:r>
            <a:endParaRPr lang="fr-FR" sz="3200" dirty="0">
              <a:latin typeface="Candara" panose="020E0502030303020204" pitchFamily="34" charset="0"/>
            </a:endParaRPr>
          </a:p>
        </p:txBody>
      </p:sp>
      <p:sp>
        <p:nvSpPr>
          <p:cNvPr id="7" name="Rectangle 6">
            <a:extLst>
              <a:ext uri="{FF2B5EF4-FFF2-40B4-BE49-F238E27FC236}">
                <a16:creationId xmlns:a16="http://schemas.microsoft.com/office/drawing/2014/main" id="{FC498822-474B-4B4E-80E6-C3234299146B}"/>
              </a:ext>
            </a:extLst>
          </p:cNvPr>
          <p:cNvSpPr/>
          <p:nvPr/>
        </p:nvSpPr>
        <p:spPr>
          <a:xfrm>
            <a:off x="5353392"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2D32C79C-4E93-44BF-B828-50524286B428}"/>
              </a:ext>
            </a:extLst>
          </p:cNvPr>
          <p:cNvCxnSpPr>
            <a:cxnSpLocks/>
          </p:cNvCxnSpPr>
          <p:nvPr/>
        </p:nvCxnSpPr>
        <p:spPr>
          <a:xfrm>
            <a:off x="5353391"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A8ED3575-6127-449A-A711-063631D4A1D8}"/>
              </a:ext>
            </a:extLst>
          </p:cNvPr>
          <p:cNvSpPr txBox="1"/>
          <p:nvPr/>
        </p:nvSpPr>
        <p:spPr>
          <a:xfrm>
            <a:off x="5353388" y="2184885"/>
            <a:ext cx="2716563" cy="338554"/>
          </a:xfrm>
          <a:prstGeom prst="rect">
            <a:avLst/>
          </a:prstGeom>
          <a:noFill/>
        </p:spPr>
        <p:txBody>
          <a:bodyPr wrap="square">
            <a:spAutoFit/>
          </a:bodyPr>
          <a:lstStyle/>
          <a:p>
            <a:pPr algn="ctr"/>
            <a:r>
              <a:rPr lang="fr-FR" sz="1600" dirty="0">
                <a:latin typeface="Candara" panose="020E0502030303020204" pitchFamily="34" charset="0"/>
              </a:rPr>
              <a:t>Client</a:t>
            </a:r>
            <a:endParaRPr lang="fr-FR" sz="1600" dirty="0"/>
          </a:p>
        </p:txBody>
      </p:sp>
      <p:sp>
        <p:nvSpPr>
          <p:cNvPr id="10" name="ZoneTexte 9">
            <a:extLst>
              <a:ext uri="{FF2B5EF4-FFF2-40B4-BE49-F238E27FC236}">
                <a16:creationId xmlns:a16="http://schemas.microsoft.com/office/drawing/2014/main" id="{B018CB7F-811B-4636-AD06-851E7B607F98}"/>
              </a:ext>
            </a:extLst>
          </p:cNvPr>
          <p:cNvSpPr txBox="1"/>
          <p:nvPr/>
        </p:nvSpPr>
        <p:spPr>
          <a:xfrm>
            <a:off x="5353388" y="2718767"/>
            <a:ext cx="2716567" cy="646331"/>
          </a:xfrm>
          <a:prstGeom prst="rect">
            <a:avLst/>
          </a:prstGeom>
          <a:noFill/>
        </p:spPr>
        <p:txBody>
          <a:bodyPr wrap="square">
            <a:spAutoFit/>
          </a:bodyPr>
          <a:lstStyle/>
          <a:p>
            <a:r>
              <a:rPr lang="fr-FR" sz="1800" u="sng" dirty="0" err="1">
                <a:latin typeface="Candara" panose="020E0502030303020204" pitchFamily="34" charset="0"/>
              </a:rPr>
              <a:t>IdCli</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1" name="Connecteur droit 10">
            <a:extLst>
              <a:ext uri="{FF2B5EF4-FFF2-40B4-BE49-F238E27FC236}">
                <a16:creationId xmlns:a16="http://schemas.microsoft.com/office/drawing/2014/main" id="{3DD1C0B2-D336-4DCD-B0F8-B591B81D63E2}"/>
              </a:ext>
            </a:extLst>
          </p:cNvPr>
          <p:cNvCxnSpPr>
            <a:cxnSpLocks/>
          </p:cNvCxnSpPr>
          <p:nvPr/>
        </p:nvCxnSpPr>
        <p:spPr>
          <a:xfrm>
            <a:off x="5353388"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47BC820-B66F-4721-A96A-DA59A93632B5}"/>
              </a:ext>
            </a:extLst>
          </p:cNvPr>
          <p:cNvSpPr/>
          <p:nvPr/>
        </p:nvSpPr>
        <p:spPr>
          <a:xfrm>
            <a:off x="9296556" y="2190428"/>
            <a:ext cx="2716563"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3" name="Connecteur droit 12">
            <a:extLst>
              <a:ext uri="{FF2B5EF4-FFF2-40B4-BE49-F238E27FC236}">
                <a16:creationId xmlns:a16="http://schemas.microsoft.com/office/drawing/2014/main" id="{1BF0792D-9CE8-4E96-A7AD-313F0F94886C}"/>
              </a:ext>
            </a:extLst>
          </p:cNvPr>
          <p:cNvCxnSpPr>
            <a:cxnSpLocks/>
          </p:cNvCxnSpPr>
          <p:nvPr/>
        </p:nvCxnSpPr>
        <p:spPr>
          <a:xfrm>
            <a:off x="9296555" y="258403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39B59AC3-05D2-45CC-A57E-5CC434000F28}"/>
              </a:ext>
            </a:extLst>
          </p:cNvPr>
          <p:cNvSpPr txBox="1"/>
          <p:nvPr/>
        </p:nvSpPr>
        <p:spPr>
          <a:xfrm>
            <a:off x="9296552" y="2184885"/>
            <a:ext cx="2716563" cy="338554"/>
          </a:xfrm>
          <a:prstGeom prst="rect">
            <a:avLst/>
          </a:prstGeom>
          <a:noFill/>
        </p:spPr>
        <p:txBody>
          <a:bodyPr wrap="square">
            <a:spAutoFit/>
          </a:bodyPr>
          <a:lstStyle/>
          <a:p>
            <a:pPr algn="ctr"/>
            <a:r>
              <a:rPr lang="fr-FR" sz="1600" dirty="0">
                <a:latin typeface="Candara" panose="020E0502030303020204" pitchFamily="34" charset="0"/>
              </a:rPr>
              <a:t>Parrain</a:t>
            </a:r>
            <a:endParaRPr lang="fr-FR" sz="1600" dirty="0"/>
          </a:p>
        </p:txBody>
      </p:sp>
      <p:sp>
        <p:nvSpPr>
          <p:cNvPr id="16" name="ZoneTexte 15">
            <a:extLst>
              <a:ext uri="{FF2B5EF4-FFF2-40B4-BE49-F238E27FC236}">
                <a16:creationId xmlns:a16="http://schemas.microsoft.com/office/drawing/2014/main" id="{A31EC209-C7E2-43BA-A451-01D0F2C9B699}"/>
              </a:ext>
            </a:extLst>
          </p:cNvPr>
          <p:cNvSpPr txBox="1"/>
          <p:nvPr/>
        </p:nvSpPr>
        <p:spPr>
          <a:xfrm>
            <a:off x="9296552" y="2718767"/>
            <a:ext cx="2716567" cy="646331"/>
          </a:xfrm>
          <a:prstGeom prst="rect">
            <a:avLst/>
          </a:prstGeom>
          <a:noFill/>
        </p:spPr>
        <p:txBody>
          <a:bodyPr wrap="square">
            <a:spAutoFit/>
          </a:bodyPr>
          <a:lstStyle/>
          <a:p>
            <a:r>
              <a:rPr lang="fr-FR" sz="1800" u="sng" dirty="0" err="1">
                <a:latin typeface="Candara" panose="020E0502030303020204" pitchFamily="34" charset="0"/>
              </a:rPr>
              <a:t>IdPar</a:t>
            </a:r>
            <a:r>
              <a:rPr lang="fr-FR" dirty="0">
                <a:latin typeface="Candara" panose="020E0502030303020204" pitchFamily="34" charset="0"/>
              </a:rPr>
              <a:t> : entier</a:t>
            </a:r>
          </a:p>
          <a:p>
            <a:r>
              <a:rPr lang="fr-FR" dirty="0">
                <a:latin typeface="Candara" panose="020E0502030303020204" pitchFamily="34" charset="0"/>
              </a:rPr>
              <a:t>Nom : chaine de caractère</a:t>
            </a:r>
            <a:endParaRPr lang="fr-FR" sz="1800" dirty="0"/>
          </a:p>
        </p:txBody>
      </p:sp>
      <p:cxnSp>
        <p:nvCxnSpPr>
          <p:cNvPr id="17" name="Connecteur droit 16">
            <a:extLst>
              <a:ext uri="{FF2B5EF4-FFF2-40B4-BE49-F238E27FC236}">
                <a16:creationId xmlns:a16="http://schemas.microsoft.com/office/drawing/2014/main" id="{FF69156E-601F-494D-B616-6B18E14F3440}"/>
              </a:ext>
            </a:extLst>
          </p:cNvPr>
          <p:cNvCxnSpPr>
            <a:cxnSpLocks/>
          </p:cNvCxnSpPr>
          <p:nvPr/>
        </p:nvCxnSpPr>
        <p:spPr>
          <a:xfrm>
            <a:off x="9296552" y="3517485"/>
            <a:ext cx="271656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92A8A91-EF64-4DEB-8B91-5B1190AC7637}"/>
              </a:ext>
            </a:extLst>
          </p:cNvPr>
          <p:cNvCxnSpPr>
            <a:cxnSpLocks/>
            <a:stCxn id="10" idx="3"/>
            <a:endCxn id="16" idx="1"/>
          </p:cNvCxnSpPr>
          <p:nvPr/>
        </p:nvCxnSpPr>
        <p:spPr>
          <a:xfrm>
            <a:off x="8069955" y="3041933"/>
            <a:ext cx="122659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C4B8FA8D-FAF2-4F20-A06A-A26A280B77E6}"/>
              </a:ext>
            </a:extLst>
          </p:cNvPr>
          <p:cNvSpPr txBox="1"/>
          <p:nvPr/>
        </p:nvSpPr>
        <p:spPr>
          <a:xfrm>
            <a:off x="8020583" y="2675826"/>
            <a:ext cx="620409" cy="369332"/>
          </a:xfrm>
          <a:prstGeom prst="rect">
            <a:avLst/>
          </a:prstGeom>
          <a:noFill/>
        </p:spPr>
        <p:txBody>
          <a:bodyPr wrap="square">
            <a:spAutoFit/>
          </a:bodyPr>
          <a:lstStyle/>
          <a:p>
            <a:r>
              <a:rPr lang="fr-FR" dirty="0">
                <a:latin typeface="Candara" panose="020E0502030303020204" pitchFamily="34" charset="0"/>
              </a:rPr>
              <a:t>0..1</a:t>
            </a:r>
            <a:endParaRPr lang="fr-FR" dirty="0"/>
          </a:p>
        </p:txBody>
      </p:sp>
      <p:sp>
        <p:nvSpPr>
          <p:cNvPr id="20" name="ZoneTexte 19">
            <a:extLst>
              <a:ext uri="{FF2B5EF4-FFF2-40B4-BE49-F238E27FC236}">
                <a16:creationId xmlns:a16="http://schemas.microsoft.com/office/drawing/2014/main" id="{6B8FB5C6-9AD1-40FA-862D-CDEF69BBD290}"/>
              </a:ext>
            </a:extLst>
          </p:cNvPr>
          <p:cNvSpPr txBox="1"/>
          <p:nvPr/>
        </p:nvSpPr>
        <p:spPr>
          <a:xfrm>
            <a:off x="8908934" y="2675826"/>
            <a:ext cx="502875" cy="369332"/>
          </a:xfrm>
          <a:prstGeom prst="rect">
            <a:avLst/>
          </a:prstGeom>
          <a:noFill/>
        </p:spPr>
        <p:txBody>
          <a:bodyPr wrap="square">
            <a:spAutoFit/>
          </a:bodyPr>
          <a:lstStyle/>
          <a:p>
            <a:r>
              <a:rPr lang="fr-FR" dirty="0">
                <a:latin typeface="Candara" panose="020E0502030303020204" pitchFamily="34" charset="0"/>
              </a:rPr>
              <a:t>1..1</a:t>
            </a:r>
            <a:endParaRPr lang="fr-FR" dirty="0"/>
          </a:p>
        </p:txBody>
      </p:sp>
      <p:sp>
        <p:nvSpPr>
          <p:cNvPr id="31" name="Rectangle 30">
            <a:extLst>
              <a:ext uri="{FF2B5EF4-FFF2-40B4-BE49-F238E27FC236}">
                <a16:creationId xmlns:a16="http://schemas.microsoft.com/office/drawing/2014/main" id="{066906BE-EBC9-49A0-A935-A1C0AC639595}"/>
              </a:ext>
            </a:extLst>
          </p:cNvPr>
          <p:cNvSpPr/>
          <p:nvPr/>
        </p:nvSpPr>
        <p:spPr>
          <a:xfrm>
            <a:off x="5353393" y="4093811"/>
            <a:ext cx="2228138"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428C88C5-9DF8-423C-9B66-8BF987CDFC79}"/>
              </a:ext>
            </a:extLst>
          </p:cNvPr>
          <p:cNvCxnSpPr>
            <a:cxnSpLocks/>
          </p:cNvCxnSpPr>
          <p:nvPr/>
        </p:nvCxnSpPr>
        <p:spPr>
          <a:xfrm>
            <a:off x="5353391" y="4487418"/>
            <a:ext cx="222813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CA9B699F-1F6E-4EC2-91C0-C743EEE3A64C}"/>
              </a:ext>
            </a:extLst>
          </p:cNvPr>
          <p:cNvSpPr txBox="1"/>
          <p:nvPr/>
        </p:nvSpPr>
        <p:spPr>
          <a:xfrm>
            <a:off x="5353389" y="4114902"/>
            <a:ext cx="2228138" cy="338554"/>
          </a:xfrm>
          <a:prstGeom prst="rect">
            <a:avLst/>
          </a:prstGeom>
          <a:noFill/>
        </p:spPr>
        <p:txBody>
          <a:bodyPr wrap="square">
            <a:spAutoFit/>
          </a:bodyPr>
          <a:lstStyle/>
          <a:p>
            <a:pPr algn="ctr"/>
            <a:r>
              <a:rPr lang="fr-FR" sz="1600" dirty="0">
                <a:latin typeface="Candara" panose="020E0502030303020204" pitchFamily="34" charset="0"/>
              </a:rPr>
              <a:t>Client</a:t>
            </a:r>
            <a:endParaRPr lang="fr-FR" sz="1600" dirty="0"/>
          </a:p>
        </p:txBody>
      </p:sp>
      <p:sp>
        <p:nvSpPr>
          <p:cNvPr id="34" name="ZoneTexte 33">
            <a:extLst>
              <a:ext uri="{FF2B5EF4-FFF2-40B4-BE49-F238E27FC236}">
                <a16:creationId xmlns:a16="http://schemas.microsoft.com/office/drawing/2014/main" id="{1A3FFB41-F56C-48AC-86BE-F5B90FC14AF1}"/>
              </a:ext>
            </a:extLst>
          </p:cNvPr>
          <p:cNvSpPr txBox="1"/>
          <p:nvPr/>
        </p:nvSpPr>
        <p:spPr>
          <a:xfrm>
            <a:off x="5353388" y="4622150"/>
            <a:ext cx="2228141" cy="646331"/>
          </a:xfrm>
          <a:prstGeom prst="rect">
            <a:avLst/>
          </a:prstGeom>
          <a:noFill/>
        </p:spPr>
        <p:txBody>
          <a:bodyPr wrap="square">
            <a:spAutoFit/>
          </a:bodyPr>
          <a:lstStyle/>
          <a:p>
            <a:r>
              <a:rPr lang="fr-FR" sz="1800" u="sng" dirty="0" err="1">
                <a:latin typeface="Candara" panose="020E0502030303020204" pitchFamily="34" charset="0"/>
              </a:rPr>
              <a:t>IdCli</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sp>
        <p:nvSpPr>
          <p:cNvPr id="35" name="Rectangle 34">
            <a:extLst>
              <a:ext uri="{FF2B5EF4-FFF2-40B4-BE49-F238E27FC236}">
                <a16:creationId xmlns:a16="http://schemas.microsoft.com/office/drawing/2014/main" id="{B97CE18F-736B-45A0-B6B5-1701CFB4C500}"/>
              </a:ext>
            </a:extLst>
          </p:cNvPr>
          <p:cNvSpPr/>
          <p:nvPr/>
        </p:nvSpPr>
        <p:spPr>
          <a:xfrm>
            <a:off x="8002831" y="5247711"/>
            <a:ext cx="1556414"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36" name="Connecteur droit 35">
            <a:extLst>
              <a:ext uri="{FF2B5EF4-FFF2-40B4-BE49-F238E27FC236}">
                <a16:creationId xmlns:a16="http://schemas.microsoft.com/office/drawing/2014/main" id="{02CFE8F1-F6AD-4798-9F2F-A0114A0EFCAB}"/>
              </a:ext>
            </a:extLst>
          </p:cNvPr>
          <p:cNvCxnSpPr>
            <a:cxnSpLocks/>
          </p:cNvCxnSpPr>
          <p:nvPr/>
        </p:nvCxnSpPr>
        <p:spPr>
          <a:xfrm>
            <a:off x="8002829" y="5641318"/>
            <a:ext cx="155641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46D366B6-D113-4E29-84B4-3CDB5D0135F9}"/>
              </a:ext>
            </a:extLst>
          </p:cNvPr>
          <p:cNvSpPr txBox="1"/>
          <p:nvPr/>
        </p:nvSpPr>
        <p:spPr>
          <a:xfrm>
            <a:off x="8002827" y="5268802"/>
            <a:ext cx="1556414" cy="338554"/>
          </a:xfrm>
          <a:prstGeom prst="rect">
            <a:avLst/>
          </a:prstGeom>
          <a:noFill/>
        </p:spPr>
        <p:txBody>
          <a:bodyPr wrap="square">
            <a:spAutoFit/>
          </a:bodyPr>
          <a:lstStyle/>
          <a:p>
            <a:pPr algn="ctr"/>
            <a:r>
              <a:rPr lang="fr-FR" sz="1600" dirty="0" err="1">
                <a:latin typeface="Candara" panose="020E0502030303020204" pitchFamily="34" charset="0"/>
              </a:rPr>
              <a:t>NewCl</a:t>
            </a:r>
            <a:endParaRPr lang="fr-FR" sz="1600" dirty="0"/>
          </a:p>
        </p:txBody>
      </p:sp>
      <p:sp>
        <p:nvSpPr>
          <p:cNvPr id="38" name="ZoneTexte 37">
            <a:extLst>
              <a:ext uri="{FF2B5EF4-FFF2-40B4-BE49-F238E27FC236}">
                <a16:creationId xmlns:a16="http://schemas.microsoft.com/office/drawing/2014/main" id="{CCCA7091-2B8C-4E9C-80B5-DE872BD58904}"/>
              </a:ext>
            </a:extLst>
          </p:cNvPr>
          <p:cNvSpPr txBox="1"/>
          <p:nvPr/>
        </p:nvSpPr>
        <p:spPr>
          <a:xfrm>
            <a:off x="8002827" y="5776050"/>
            <a:ext cx="1556416" cy="646331"/>
          </a:xfrm>
          <a:prstGeom prst="rect">
            <a:avLst/>
          </a:prstGeom>
          <a:noFill/>
        </p:spPr>
        <p:txBody>
          <a:bodyPr wrap="square">
            <a:spAutoFit/>
          </a:bodyPr>
          <a:lstStyle/>
          <a:p>
            <a:r>
              <a:rPr lang="fr-FR" sz="1800" u="sng" dirty="0" err="1">
                <a:latin typeface="Candara" panose="020E0502030303020204" pitchFamily="34" charset="0"/>
              </a:rPr>
              <a:t>IdCli</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err="1">
                <a:latin typeface="Candara" panose="020E0502030303020204" pitchFamily="34" charset="0"/>
              </a:rPr>
              <a:t>IdPar</a:t>
            </a:r>
            <a:r>
              <a:rPr lang="fr-FR" dirty="0">
                <a:latin typeface="Candara" panose="020E0502030303020204" pitchFamily="34" charset="0"/>
              </a:rPr>
              <a:t>	 </a:t>
            </a:r>
            <a:r>
              <a:rPr lang="fr-FR" dirty="0" err="1">
                <a:latin typeface="Candara" panose="020E0502030303020204" pitchFamily="34" charset="0"/>
              </a:rPr>
              <a:t>int</a:t>
            </a:r>
            <a:endParaRPr lang="fr-FR" sz="1800" dirty="0"/>
          </a:p>
        </p:txBody>
      </p:sp>
      <p:sp>
        <p:nvSpPr>
          <p:cNvPr id="39" name="Rectangle 38">
            <a:extLst>
              <a:ext uri="{FF2B5EF4-FFF2-40B4-BE49-F238E27FC236}">
                <a16:creationId xmlns:a16="http://schemas.microsoft.com/office/drawing/2014/main" id="{10CDE051-F463-44A9-B76A-CC862FFD2892}"/>
              </a:ext>
            </a:extLst>
          </p:cNvPr>
          <p:cNvSpPr/>
          <p:nvPr/>
        </p:nvSpPr>
        <p:spPr>
          <a:xfrm>
            <a:off x="9910575" y="4116578"/>
            <a:ext cx="2228138" cy="1509776"/>
          </a:xfrm>
          <a:prstGeom prst="rect">
            <a:avLst/>
          </a:prstGeom>
          <a:ln w="508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40" name="Connecteur droit 39">
            <a:extLst>
              <a:ext uri="{FF2B5EF4-FFF2-40B4-BE49-F238E27FC236}">
                <a16:creationId xmlns:a16="http://schemas.microsoft.com/office/drawing/2014/main" id="{08A3C40D-61E7-4B0C-96E8-F926EC8E8C1D}"/>
              </a:ext>
            </a:extLst>
          </p:cNvPr>
          <p:cNvCxnSpPr>
            <a:cxnSpLocks/>
          </p:cNvCxnSpPr>
          <p:nvPr/>
        </p:nvCxnSpPr>
        <p:spPr>
          <a:xfrm>
            <a:off x="9910573" y="4510185"/>
            <a:ext cx="222813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C9061D52-F51B-4C34-ACF8-260D3112F17B}"/>
              </a:ext>
            </a:extLst>
          </p:cNvPr>
          <p:cNvSpPr txBox="1"/>
          <p:nvPr/>
        </p:nvSpPr>
        <p:spPr>
          <a:xfrm>
            <a:off x="9910571" y="4137669"/>
            <a:ext cx="2228138" cy="338554"/>
          </a:xfrm>
          <a:prstGeom prst="rect">
            <a:avLst/>
          </a:prstGeom>
          <a:noFill/>
        </p:spPr>
        <p:txBody>
          <a:bodyPr wrap="square">
            <a:spAutoFit/>
          </a:bodyPr>
          <a:lstStyle/>
          <a:p>
            <a:pPr algn="ctr"/>
            <a:r>
              <a:rPr lang="fr-FR" sz="1600" dirty="0">
                <a:latin typeface="Candara" panose="020E0502030303020204" pitchFamily="34" charset="0"/>
              </a:rPr>
              <a:t>Parrain</a:t>
            </a:r>
            <a:endParaRPr lang="fr-FR" sz="1600" dirty="0"/>
          </a:p>
        </p:txBody>
      </p:sp>
      <p:sp>
        <p:nvSpPr>
          <p:cNvPr id="42" name="ZoneTexte 41">
            <a:extLst>
              <a:ext uri="{FF2B5EF4-FFF2-40B4-BE49-F238E27FC236}">
                <a16:creationId xmlns:a16="http://schemas.microsoft.com/office/drawing/2014/main" id="{189C1D5E-87DB-4756-A4F5-8962669AD791}"/>
              </a:ext>
            </a:extLst>
          </p:cNvPr>
          <p:cNvSpPr txBox="1"/>
          <p:nvPr/>
        </p:nvSpPr>
        <p:spPr>
          <a:xfrm>
            <a:off x="9910570" y="4644917"/>
            <a:ext cx="2228141" cy="646331"/>
          </a:xfrm>
          <a:prstGeom prst="rect">
            <a:avLst/>
          </a:prstGeom>
          <a:noFill/>
        </p:spPr>
        <p:txBody>
          <a:bodyPr wrap="square">
            <a:spAutoFit/>
          </a:bodyPr>
          <a:lstStyle/>
          <a:p>
            <a:r>
              <a:rPr lang="fr-FR" sz="1800" u="sng" dirty="0" err="1">
                <a:latin typeface="Candara" panose="020E0502030303020204" pitchFamily="34" charset="0"/>
              </a:rPr>
              <a:t>IdPar</a:t>
            </a:r>
            <a:r>
              <a:rPr lang="fr-FR" sz="1800" dirty="0">
                <a:latin typeface="Candara" panose="020E0502030303020204" pitchFamily="34" charset="0"/>
              </a:rPr>
              <a:t>	</a:t>
            </a:r>
            <a:r>
              <a:rPr lang="fr-FR" sz="1800" dirty="0" err="1">
                <a:latin typeface="Candara" panose="020E0502030303020204" pitchFamily="34" charset="0"/>
              </a:rPr>
              <a:t>int</a:t>
            </a:r>
            <a:endParaRPr lang="fr-FR" sz="1800" dirty="0">
              <a:latin typeface="Candara" panose="020E0502030303020204" pitchFamily="34" charset="0"/>
            </a:endParaRPr>
          </a:p>
          <a:p>
            <a:r>
              <a:rPr lang="fr-FR" dirty="0">
                <a:latin typeface="Candara" panose="020E0502030303020204" pitchFamily="34" charset="0"/>
              </a:rPr>
              <a:t>Nom	varchar(32)</a:t>
            </a:r>
            <a:endParaRPr lang="fr-FR" sz="1800" dirty="0"/>
          </a:p>
        </p:txBody>
      </p:sp>
      <p:cxnSp>
        <p:nvCxnSpPr>
          <p:cNvPr id="43" name="Connecteur droit avec flèche 42">
            <a:extLst>
              <a:ext uri="{FF2B5EF4-FFF2-40B4-BE49-F238E27FC236}">
                <a16:creationId xmlns:a16="http://schemas.microsoft.com/office/drawing/2014/main" id="{ADB90542-9403-4661-949F-618F8D74F98F}"/>
              </a:ext>
            </a:extLst>
          </p:cNvPr>
          <p:cNvCxnSpPr>
            <a:cxnSpLocks/>
          </p:cNvCxnSpPr>
          <p:nvPr/>
        </p:nvCxnSpPr>
        <p:spPr>
          <a:xfrm flipH="1" flipV="1">
            <a:off x="6711669" y="5684939"/>
            <a:ext cx="1358282" cy="31225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0E89916A-672C-4E9E-8434-777290CA422A}"/>
              </a:ext>
            </a:extLst>
          </p:cNvPr>
          <p:cNvCxnSpPr>
            <a:cxnSpLocks/>
          </p:cNvCxnSpPr>
          <p:nvPr/>
        </p:nvCxnSpPr>
        <p:spPr>
          <a:xfrm flipV="1">
            <a:off x="9411809" y="5684856"/>
            <a:ext cx="1243024" cy="52159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2B177E09-1932-4C4B-9ACB-093DAFFF4196}"/>
              </a:ext>
            </a:extLst>
          </p:cNvPr>
          <p:cNvSpPr txBox="1"/>
          <p:nvPr/>
        </p:nvSpPr>
        <p:spPr>
          <a:xfrm>
            <a:off x="6372952" y="5821095"/>
            <a:ext cx="1419225" cy="369332"/>
          </a:xfrm>
          <a:prstGeom prst="rect">
            <a:avLst/>
          </a:prstGeom>
          <a:noFill/>
        </p:spPr>
        <p:txBody>
          <a:bodyPr wrap="square">
            <a:spAutoFit/>
          </a:bodyPr>
          <a:lstStyle/>
          <a:p>
            <a:r>
              <a:rPr lang="fr-FR" sz="1800" dirty="0" err="1">
                <a:latin typeface="Candara" panose="020E0502030303020204" pitchFamily="34" charset="0"/>
              </a:rPr>
              <a:t>FK_</a:t>
            </a:r>
            <a:r>
              <a:rPr lang="fr-FR" dirty="0" err="1">
                <a:latin typeface="Candara" panose="020E0502030303020204" pitchFamily="34" charset="0"/>
              </a:rPr>
              <a:t>Etudiant</a:t>
            </a:r>
            <a:endParaRPr lang="fr-FR" dirty="0"/>
          </a:p>
        </p:txBody>
      </p:sp>
      <p:sp>
        <p:nvSpPr>
          <p:cNvPr id="46" name="ZoneTexte 45">
            <a:extLst>
              <a:ext uri="{FF2B5EF4-FFF2-40B4-BE49-F238E27FC236}">
                <a16:creationId xmlns:a16="http://schemas.microsoft.com/office/drawing/2014/main" id="{3B6386CB-4E32-47F3-BF37-A6D7802B4DA0}"/>
              </a:ext>
            </a:extLst>
          </p:cNvPr>
          <p:cNvSpPr txBox="1"/>
          <p:nvPr/>
        </p:nvSpPr>
        <p:spPr>
          <a:xfrm>
            <a:off x="9769893" y="5927969"/>
            <a:ext cx="1419225" cy="369332"/>
          </a:xfrm>
          <a:prstGeom prst="rect">
            <a:avLst/>
          </a:prstGeom>
          <a:noFill/>
        </p:spPr>
        <p:txBody>
          <a:bodyPr wrap="square">
            <a:spAutoFit/>
          </a:bodyPr>
          <a:lstStyle/>
          <a:p>
            <a:r>
              <a:rPr lang="fr-FR" sz="1800" dirty="0" err="1">
                <a:latin typeface="Candara" panose="020E0502030303020204" pitchFamily="34" charset="0"/>
              </a:rPr>
              <a:t>FK_Note</a:t>
            </a:r>
            <a:endParaRPr lang="fr-FR" dirty="0"/>
          </a:p>
        </p:txBody>
      </p:sp>
    </p:spTree>
    <p:extLst>
      <p:ext uri="{BB962C8B-B14F-4D97-AF65-F5344CB8AC3E}">
        <p14:creationId xmlns:p14="http://schemas.microsoft.com/office/powerpoint/2010/main" val="15377312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4" name="Rectangle 3">
            <a:extLst>
              <a:ext uri="{FF2B5EF4-FFF2-40B4-BE49-F238E27FC236}">
                <a16:creationId xmlns:a16="http://schemas.microsoft.com/office/drawing/2014/main" id="{E9E07D0F-F35B-4208-BFBD-B42411881582}"/>
              </a:ext>
            </a:extLst>
          </p:cNvPr>
          <p:cNvSpPr/>
          <p:nvPr/>
        </p:nvSpPr>
        <p:spPr>
          <a:xfrm>
            <a:off x="710213" y="1040745"/>
            <a:ext cx="10771573" cy="646331"/>
          </a:xfrm>
          <a:prstGeom prst="rect">
            <a:avLst/>
          </a:prstGeom>
        </p:spPr>
        <p:txBody>
          <a:bodyPr wrap="square">
            <a:spAutoFit/>
          </a:bodyPr>
          <a:lstStyle/>
          <a:p>
            <a:pPr algn="just"/>
            <a:r>
              <a:rPr lang="fr-FR" sz="3600" b="1" dirty="0">
                <a:latin typeface="Candara" panose="020E0502030303020204" pitchFamily="34" charset="0"/>
              </a:rPr>
              <a:t>Définir le mapping des associations</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0079CD8-68B0-4042-94BF-F8F73D68905E}"/>
              </a:ext>
            </a:extLst>
          </p:cNvPr>
          <p:cNvSpPr/>
          <p:nvPr/>
        </p:nvSpPr>
        <p:spPr>
          <a:xfrm>
            <a:off x="710213" y="1796437"/>
            <a:ext cx="11026067" cy="5016758"/>
          </a:xfrm>
          <a:prstGeom prst="rect">
            <a:avLst/>
          </a:prstGeom>
        </p:spPr>
        <p:txBody>
          <a:bodyPr wrap="square">
            <a:spAutoFit/>
          </a:bodyPr>
          <a:lstStyle/>
          <a:p>
            <a:pPr algn="just"/>
            <a:r>
              <a:rPr lang="fr-FR" sz="2800" dirty="0">
                <a:latin typeface="Candara" panose="020E0502030303020204" pitchFamily="34" charset="0"/>
              </a:rPr>
              <a:t>Gestion de l’héritage</a:t>
            </a:r>
          </a:p>
          <a:p>
            <a:pPr algn="just"/>
            <a:endParaRPr lang="fr-FR" sz="28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Distinction : Autant de classes que de tables</a:t>
            </a:r>
          </a:p>
          <a:p>
            <a:pPr marL="800100" lvl="1" indent="-342900" algn="just">
              <a:buFont typeface="Wingdings" panose="05000000000000000000" pitchFamily="2" charset="2"/>
              <a:buChar char="ü"/>
            </a:pPr>
            <a:r>
              <a:rPr lang="fr-FR" sz="2400" dirty="0">
                <a:latin typeface="Candara" panose="020E0502030303020204" pitchFamily="34" charset="0"/>
              </a:rPr>
              <a:t>Solution généralement utilisée</a:t>
            </a:r>
          </a:p>
          <a:p>
            <a:pPr marL="800100" lvl="1" indent="-342900" algn="just">
              <a:buFont typeface="Wingdings" panose="05000000000000000000" pitchFamily="2" charset="2"/>
              <a:buChar char="ü"/>
            </a:pPr>
            <a:r>
              <a:rPr lang="fr-FR" sz="2400" dirty="0">
                <a:latin typeface="Candara" panose="020E0502030303020204" pitchFamily="34" charset="0"/>
              </a:rPr>
              <a:t>L’identifiant de la table principale migre vers les tables filles en clé étrangère</a:t>
            </a:r>
          </a:p>
          <a:p>
            <a:pPr algn="just"/>
            <a:endParaRPr lang="fr-FR" sz="24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Push-Down : migration des colonnes dans les sous-classes</a:t>
            </a:r>
          </a:p>
          <a:p>
            <a:pPr marL="800100" lvl="1" indent="-342900" algn="just">
              <a:buFont typeface="Wingdings" panose="05000000000000000000" pitchFamily="2" charset="2"/>
              <a:buChar char="ü"/>
            </a:pPr>
            <a:r>
              <a:rPr lang="fr-FR" sz="2400" dirty="0">
                <a:latin typeface="Candara" panose="020E0502030303020204" pitchFamily="34" charset="0"/>
              </a:rPr>
              <a:t>Autant de table que des filles</a:t>
            </a:r>
          </a:p>
          <a:p>
            <a:pPr marL="800100" lvl="1" indent="-342900" algn="just">
              <a:buFont typeface="Wingdings" panose="05000000000000000000" pitchFamily="2" charset="2"/>
              <a:buChar char="ü"/>
            </a:pPr>
            <a:r>
              <a:rPr lang="fr-FR" sz="2400" dirty="0">
                <a:latin typeface="Candara" panose="020E0502030303020204" pitchFamily="34" charset="0"/>
              </a:rPr>
              <a:t>La clé primaire est prise vient de la classe principale</a:t>
            </a:r>
          </a:p>
          <a:p>
            <a:pPr algn="just"/>
            <a:endParaRPr lang="fr-FR" sz="2400" dirty="0">
              <a:latin typeface="Candara" panose="020E0502030303020204" pitchFamily="34" charset="0"/>
            </a:endParaRPr>
          </a:p>
          <a:p>
            <a:pPr marL="342900" indent="-342900" algn="just">
              <a:buFont typeface="Wingdings" panose="05000000000000000000" pitchFamily="2" charset="2"/>
              <a:buChar char="ü"/>
            </a:pPr>
            <a:r>
              <a:rPr lang="fr-FR" sz="2400" dirty="0">
                <a:latin typeface="Candara" panose="020E0502030303020204" pitchFamily="34" charset="0"/>
              </a:rPr>
              <a:t>Push-Up : migration des colonnes dans la </a:t>
            </a:r>
            <a:r>
              <a:rPr lang="fr-FR" sz="2400" dirty="0" err="1">
                <a:latin typeface="Candara" panose="020E0502030303020204" pitchFamily="34" charset="0"/>
              </a:rPr>
              <a:t>sur-classe</a:t>
            </a:r>
            <a:endParaRPr lang="fr-FR" sz="2400" dirty="0">
              <a:latin typeface="Candara" panose="020E0502030303020204" pitchFamily="34" charset="0"/>
            </a:endParaRPr>
          </a:p>
          <a:p>
            <a:pPr marL="800100" lvl="1" indent="-342900" algn="just">
              <a:buFont typeface="Wingdings" panose="05000000000000000000" pitchFamily="2" charset="2"/>
              <a:buChar char="ü"/>
            </a:pPr>
            <a:r>
              <a:rPr lang="fr-FR" sz="2400" dirty="0">
                <a:latin typeface="Candara" panose="020E0502030303020204" pitchFamily="34" charset="0"/>
              </a:rPr>
              <a:t>Une seule table est générée </a:t>
            </a:r>
          </a:p>
          <a:p>
            <a:pPr marL="800100" lvl="1" indent="-342900" algn="just">
              <a:buFont typeface="Wingdings" panose="05000000000000000000" pitchFamily="2" charset="2"/>
              <a:buChar char="ü"/>
            </a:pPr>
            <a:r>
              <a:rPr lang="fr-FR" sz="2400" dirty="0">
                <a:latin typeface="Candara" panose="020E0502030303020204" pitchFamily="34" charset="0"/>
              </a:rPr>
              <a:t>Plusieurs colonnes « </a:t>
            </a:r>
            <a:r>
              <a:rPr lang="fr-FR" sz="2400" dirty="0" err="1">
                <a:latin typeface="Candara" panose="020E0502030303020204" pitchFamily="34" charset="0"/>
              </a:rPr>
              <a:t>nullables</a:t>
            </a:r>
            <a:r>
              <a:rPr lang="fr-FR" sz="2400" dirty="0">
                <a:latin typeface="Candara" panose="020E0502030303020204" pitchFamily="34" charset="0"/>
              </a:rPr>
              <a:t> » (index pas efficace, stockage problématiques)</a:t>
            </a:r>
          </a:p>
        </p:txBody>
      </p:sp>
    </p:spTree>
    <p:extLst>
      <p:ext uri="{BB962C8B-B14F-4D97-AF65-F5344CB8AC3E}">
        <p14:creationId xmlns:p14="http://schemas.microsoft.com/office/powerpoint/2010/main" val="404330778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5A65625A-7567-40AF-BDCE-7DEAD5DF03B6}"/>
              </a:ext>
            </a:extLst>
          </p:cNvPr>
          <p:cNvPicPr>
            <a:picLocks noChangeAspect="1"/>
          </p:cNvPicPr>
          <p:nvPr/>
        </p:nvPicPr>
        <p:blipFill>
          <a:blip r:embed="rId2"/>
          <a:stretch>
            <a:fillRect/>
          </a:stretch>
        </p:blipFill>
        <p:spPr>
          <a:xfrm>
            <a:off x="3333750" y="1114424"/>
            <a:ext cx="5524500" cy="5743575"/>
          </a:xfrm>
          <a:prstGeom prst="rect">
            <a:avLst/>
          </a:prstGeom>
        </p:spPr>
      </p:pic>
    </p:spTree>
    <p:extLst>
      <p:ext uri="{BB962C8B-B14F-4D97-AF65-F5344CB8AC3E}">
        <p14:creationId xmlns:p14="http://schemas.microsoft.com/office/powerpoint/2010/main" val="33690864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CB9F41C-9DA7-4039-A0D4-FF1B1413CE06}"/>
              </a:ext>
            </a:extLst>
          </p:cNvPr>
          <p:cNvSpPr/>
          <p:nvPr/>
        </p:nvSpPr>
        <p:spPr>
          <a:xfrm>
            <a:off x="171450" y="1353701"/>
            <a:ext cx="11877675" cy="5047536"/>
          </a:xfrm>
          <a:prstGeom prst="rect">
            <a:avLst/>
          </a:prstGeom>
        </p:spPr>
        <p:txBody>
          <a:bodyPr wrap="square">
            <a:spAutoFit/>
          </a:bodyPr>
          <a:lstStyle/>
          <a:p>
            <a:pPr algn="just"/>
            <a:r>
              <a:rPr lang="fr-FR" sz="2300" dirty="0">
                <a:latin typeface="Candara" panose="020E0502030303020204" pitchFamily="34" charset="0"/>
              </a:rPr>
              <a:t>Pour chaque livre, on doit connaître le titre, l'année de parution, un résumé et le type (roman, poésie, science fiction, ...).</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livre peut être rédigé par aucun (dans le cas d'une œuvre anonyme), un ou plusieurs auteurs dont on connaît le nom, le prénom, la date de naissance et le pays d'origine.</a:t>
            </a:r>
          </a:p>
          <a:p>
            <a:pPr algn="just"/>
            <a:endParaRPr lang="fr-FR" sz="2300" dirty="0">
              <a:latin typeface="Candara" panose="020E0502030303020204" pitchFamily="34" charset="0"/>
            </a:endParaRPr>
          </a:p>
          <a:p>
            <a:pPr algn="just"/>
            <a:r>
              <a:rPr lang="fr-FR" sz="2300" dirty="0">
                <a:latin typeface="Candara" panose="020E0502030303020204" pitchFamily="34" charset="0"/>
              </a:rPr>
              <a:t>Chaque exemplaire d'un livre est identifié par une référence composée de lettres et de chiffres et ne peut être paru que dans une et une seule édition.</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inscrit est identifié par un numéro et on doit mémoriser son nom, prénom, adresse, téléphone et adresse e-mail.</a:t>
            </a:r>
          </a:p>
          <a:p>
            <a:pPr algn="just"/>
            <a:endParaRPr lang="fr-FR" sz="2300" dirty="0">
              <a:latin typeface="Candara" panose="020E0502030303020204" pitchFamily="34" charset="0"/>
            </a:endParaRPr>
          </a:p>
          <a:p>
            <a:pPr algn="just"/>
            <a:r>
              <a:rPr lang="fr-FR" sz="2300" dirty="0">
                <a:latin typeface="Candara" panose="020E0502030303020204" pitchFamily="34" charset="0"/>
              </a:rPr>
              <a:t>Un inscrit peut faire zéro, un ou plusieurs emprunts qui concernent chacun un et un seul exemplaire. Pour chaque emprunt, on connaît la date et le délai accordé (en nombre de jours).</a:t>
            </a:r>
          </a:p>
        </p:txBody>
      </p:sp>
    </p:spTree>
    <p:extLst>
      <p:ext uri="{BB962C8B-B14F-4D97-AF65-F5344CB8AC3E}">
        <p14:creationId xmlns:p14="http://schemas.microsoft.com/office/powerpoint/2010/main" val="368023837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43E952-F457-46AD-B40A-9F2FC39237CC}"/>
              </a:ext>
            </a:extLst>
          </p:cNvPr>
          <p:cNvSpPr>
            <a:spLocks noGrp="1"/>
          </p:cNvSpPr>
          <p:nvPr>
            <p:ph type="title"/>
          </p:nvPr>
        </p:nvSpPr>
        <p:spPr>
          <a:xfrm>
            <a:off x="346229" y="1"/>
            <a:ext cx="11505460" cy="914402"/>
          </a:xfrm>
        </p:spPr>
        <p:txBody>
          <a:bodyPr>
            <a:noAutofit/>
          </a:bodyPr>
          <a:lstStyle/>
          <a:p>
            <a:r>
              <a:rPr lang="fr-FR" sz="6000" b="1" dirty="0">
                <a:latin typeface="Candara" panose="020E0502030303020204" pitchFamily="34" charset="0"/>
              </a:rPr>
              <a:t>Passage vers le modèle relationnel</a:t>
            </a:r>
          </a:p>
        </p:txBody>
      </p:sp>
      <p:sp>
        <p:nvSpPr>
          <p:cNvPr id="6" name="Rectangle : coins arrondis 5">
            <a:extLst>
              <a:ext uri="{FF2B5EF4-FFF2-40B4-BE49-F238E27FC236}">
                <a16:creationId xmlns:a16="http://schemas.microsoft.com/office/drawing/2014/main" id="{4891AB6B-1286-46AD-B0F7-B0E435FDE1E1}"/>
              </a:ext>
            </a:extLst>
          </p:cNvPr>
          <p:cNvSpPr/>
          <p:nvPr/>
        </p:nvSpPr>
        <p:spPr>
          <a:xfrm>
            <a:off x="346229" y="855401"/>
            <a:ext cx="11499542" cy="8563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F951E453-00FD-4F7F-B334-42FD8086A816}"/>
              </a:ext>
            </a:extLst>
          </p:cNvPr>
          <p:cNvPicPr>
            <a:picLocks noChangeAspect="1"/>
          </p:cNvPicPr>
          <p:nvPr/>
        </p:nvPicPr>
        <p:blipFill>
          <a:blip r:embed="rId2"/>
          <a:stretch>
            <a:fillRect/>
          </a:stretch>
        </p:blipFill>
        <p:spPr>
          <a:xfrm>
            <a:off x="1648287" y="1400726"/>
            <a:ext cx="8895426" cy="4825769"/>
          </a:xfrm>
          <a:prstGeom prst="rect">
            <a:avLst/>
          </a:prstGeom>
        </p:spPr>
      </p:pic>
    </p:spTree>
    <p:extLst>
      <p:ext uri="{BB962C8B-B14F-4D97-AF65-F5344CB8AC3E}">
        <p14:creationId xmlns:p14="http://schemas.microsoft.com/office/powerpoint/2010/main" val="151167865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3441</TotalTime>
  <Words>6390</Words>
  <Application>Microsoft Office PowerPoint</Application>
  <PresentationFormat>Grand écran</PresentationFormat>
  <Paragraphs>1076</Paragraphs>
  <Slides>123</Slides>
  <Notes>4</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123</vt:i4>
      </vt:variant>
    </vt:vector>
  </HeadingPairs>
  <TitlesOfParts>
    <vt:vector size="132" baseType="lpstr">
      <vt:lpstr>Aptos</vt:lpstr>
      <vt:lpstr>Arial</vt:lpstr>
      <vt:lpstr>Calibri</vt:lpstr>
      <vt:lpstr>Calibri Light</vt:lpstr>
      <vt:lpstr>Candara</vt:lpstr>
      <vt:lpstr>Symbol</vt:lpstr>
      <vt:lpstr>Wingdings</vt:lpstr>
      <vt:lpstr>Thème Office</vt:lpstr>
      <vt:lpstr>Worksheet</vt:lpstr>
      <vt:lpstr>Présentation PowerPoint</vt:lpstr>
      <vt:lpstr>Présentation PowerPoint</vt:lpstr>
      <vt:lpstr>Présentation PowerPoint</vt:lpstr>
      <vt:lpstr>Présentation PowerPoint</vt:lpstr>
      <vt:lpstr>Présentation PowerPoint</vt:lpstr>
      <vt:lpstr>Le programme de nos rencontres</vt:lpstr>
      <vt:lpstr>Le programme de nos rencontres</vt:lpstr>
      <vt:lpstr>Le programme de nos rencontres</vt:lpstr>
      <vt:lpstr>Le programme de nos rencontres</vt:lpstr>
      <vt:lpstr>Le programme de nos rencontres</vt:lpstr>
      <vt:lpstr>Introduction </vt:lpstr>
      <vt:lpstr>Introduction </vt:lpstr>
      <vt:lpstr>Introduction </vt:lpstr>
      <vt:lpstr>Introduction </vt:lpstr>
      <vt:lpstr>Introduction </vt:lpstr>
      <vt:lpstr>Introduction </vt:lpstr>
      <vt:lpstr>Introduction </vt:lpstr>
      <vt:lpstr>Introduction </vt:lpstr>
      <vt:lpstr>Introduction </vt:lpstr>
      <vt:lpstr>Introduction </vt:lpstr>
      <vt:lpstr>Introduction</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Diagramme de cas d’utilisation </vt:lpstr>
      <vt:lpstr>Point sur les outils Use Case</vt:lpstr>
      <vt:lpstr>Diagramme de cas d’utilisation </vt:lpstr>
      <vt:lpstr>Pourquoi modéliser ?</vt:lpstr>
      <vt:lpstr>Pourquoi modéliser ?</vt:lpstr>
      <vt:lpstr>Pourquoi modéliser ?</vt:lpstr>
      <vt:lpstr>Pourquoi modéliser ?</vt:lpstr>
      <vt:lpstr>Pourquoi modéliser ?</vt:lpstr>
      <vt:lpstr>Pourquoi modéliser ?</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Présentation PowerPoint</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Diagramme de classe</vt:lpstr>
      <vt:lpstr>Now!</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lpstr>Passage vers le modèle relationnel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Dan MALEKA</dc:creator>
  <cp:lastModifiedBy>MALEKA Dan</cp:lastModifiedBy>
  <cp:revision>90</cp:revision>
  <dcterms:created xsi:type="dcterms:W3CDTF">2022-01-11T12:26:21Z</dcterms:created>
  <dcterms:modified xsi:type="dcterms:W3CDTF">2025-03-06T14:32:14Z</dcterms:modified>
</cp:coreProperties>
</file>